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handoutMasterIdLst>
    <p:handoutMasterId r:id="rId59"/>
  </p:handoutMasterIdLst>
  <p:sldIdLst>
    <p:sldId id="257" r:id="rId2"/>
    <p:sldId id="258" r:id="rId3"/>
    <p:sldId id="292" r:id="rId4"/>
    <p:sldId id="259" r:id="rId5"/>
    <p:sldId id="293" r:id="rId6"/>
    <p:sldId id="260" r:id="rId7"/>
    <p:sldId id="295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2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2" r:id="rId52"/>
    <p:sldId id="343" r:id="rId53"/>
    <p:sldId id="345" r:id="rId54"/>
    <p:sldId id="294" r:id="rId55"/>
    <p:sldId id="296" r:id="rId56"/>
    <p:sldId id="297" r:id="rId5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954D6-0CB4-4A30-A6CD-484A4D3B4FA3}" v="36" dt="2026-09-06T15:22:32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64840" autoAdjust="0"/>
  </p:normalViewPr>
  <p:slideViewPr>
    <p:cSldViewPr snapToGrid="0">
      <p:cViewPr varScale="1">
        <p:scale>
          <a:sx n="76" d="100"/>
          <a:sy n="76" d="100"/>
        </p:scale>
        <p:origin x="191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76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son Rocha de Araújo" userId="a2c6238e923675da" providerId="LiveId" clId="{6B507253-E232-478F-AB49-711AD90A2C31}"/>
    <pc:docChg chg="undo custSel addSld delSld modSld sldOrd modMainMaster modNotesMaster">
      <pc:chgData name="Robson Rocha de Araújo" userId="a2c6238e923675da" providerId="LiveId" clId="{6B507253-E232-478F-AB49-711AD90A2C31}" dt="2026-09-09T17:05:18.547" v="653" actId="47"/>
      <pc:docMkLst>
        <pc:docMk/>
      </pc:docMkLst>
      <pc:sldChg chg="modSp mod modNotes">
        <pc:chgData name="Robson Rocha de Araújo" userId="a2c6238e923675da" providerId="LiveId" clId="{6B507253-E232-478F-AB49-711AD90A2C31}" dt="2026-09-06T13:02:07.934" v="336" actId="26606"/>
        <pc:sldMkLst>
          <pc:docMk/>
          <pc:sldMk cId="1519702832" sldId="257"/>
        </pc:sldMkLst>
        <pc:spChg chg="mod">
          <ac:chgData name="Robson Rocha de Araújo" userId="a2c6238e923675da" providerId="LiveId" clId="{6B507253-E232-478F-AB49-711AD90A2C31}" dt="2026-09-06T11:54:49.775" v="4" actId="27636"/>
          <ac:spMkLst>
            <pc:docMk/>
            <pc:sldMk cId="1519702832" sldId="257"/>
            <ac:spMk id="2" creationId="{EDAF9CAA-476F-B9C4-0D9A-C492A563830B}"/>
          </ac:spMkLst>
        </pc:spChg>
      </pc:sldChg>
      <pc:sldChg chg="addSp delSp modSp mod modNotes">
        <pc:chgData name="Robson Rocha de Araújo" userId="a2c6238e923675da" providerId="LiveId" clId="{6B507253-E232-478F-AB49-711AD90A2C31}" dt="2026-09-09T17:05:13.193" v="652" actId="2165"/>
        <pc:sldMkLst>
          <pc:docMk/>
          <pc:sldMk cId="3188337367" sldId="258"/>
        </pc:sldMkLst>
        <pc:graphicFrameChg chg="mod modGraphic">
          <ac:chgData name="Robson Rocha de Araújo" userId="a2c6238e923675da" providerId="LiveId" clId="{6B507253-E232-478F-AB49-711AD90A2C31}" dt="2026-09-09T17:05:13.193" v="652" actId="2165"/>
          <ac:graphicFrameMkLst>
            <pc:docMk/>
            <pc:sldMk cId="3188337367" sldId="258"/>
            <ac:graphicFrameMk id="6" creationId="{4A91ED72-D8FB-A284-2BC8-B613531611B4}"/>
          </ac:graphicFrameMkLst>
        </pc:graphicFrameChg>
      </pc:sldChg>
      <pc:sldChg chg="addSp delSp modSp mod modTransition modShow modNotes modNotesTx">
        <pc:chgData name="Robson Rocha de Araújo" userId="a2c6238e923675da" providerId="LiveId" clId="{6B507253-E232-478F-AB49-711AD90A2C31}" dt="2026-09-06T13:04:51.357" v="347" actId="242"/>
        <pc:sldMkLst>
          <pc:docMk/>
          <pc:sldMk cId="772120614" sldId="259"/>
        </pc:sldMkLst>
        <pc:spChg chg="mod">
          <ac:chgData name="Robson Rocha de Araújo" userId="a2c6238e923675da" providerId="LiveId" clId="{6B507253-E232-478F-AB49-711AD90A2C31}" dt="2026-09-06T13:02:07.934" v="336" actId="26606"/>
          <ac:spMkLst>
            <pc:docMk/>
            <pc:sldMk cId="772120614" sldId="259"/>
            <ac:spMk id="2" creationId="{338FEEB8-0C36-73FD-39C5-BCDBB19B0D17}"/>
          </ac:spMkLst>
        </pc:spChg>
        <pc:spChg chg="mod">
          <ac:chgData name="Robson Rocha de Araújo" userId="a2c6238e923675da" providerId="LiveId" clId="{6B507253-E232-478F-AB49-711AD90A2C31}" dt="2026-09-06T13:02:07.934" v="336" actId="26606"/>
          <ac:spMkLst>
            <pc:docMk/>
            <pc:sldMk cId="772120614" sldId="259"/>
            <ac:spMk id="4" creationId="{FA51ABE5-E122-C475-D85E-982F0D34794C}"/>
          </ac:spMkLst>
        </pc:spChg>
        <pc:graphicFrameChg chg="add modGraphic">
          <ac:chgData name="Robson Rocha de Araújo" userId="a2c6238e923675da" providerId="LiveId" clId="{6B507253-E232-478F-AB49-711AD90A2C31}" dt="2026-09-06T13:04:51.357" v="347" actId="242"/>
          <ac:graphicFrameMkLst>
            <pc:docMk/>
            <pc:sldMk cId="772120614" sldId="259"/>
            <ac:graphicFrameMk id="5" creationId="{00000000-0000-0000-0000-000000000000}"/>
          </ac:graphicFrameMkLst>
        </pc:graphicFrameChg>
      </pc:sldChg>
      <pc:sldChg chg="addSp delSp modSp mod modTransition modShow modNotes modNotesTx">
        <pc:chgData name="Robson Rocha de Araújo" userId="a2c6238e923675da" providerId="LiveId" clId="{6B507253-E232-478F-AB49-711AD90A2C31}" dt="2026-09-06T13:15:10.601" v="375" actId="478"/>
        <pc:sldMkLst>
          <pc:docMk/>
          <pc:sldMk cId="1270472377" sldId="260"/>
        </pc:sldMkLst>
        <pc:spChg chg="mod">
          <ac:chgData name="Robson Rocha de Araújo" userId="a2c6238e923675da" providerId="LiveId" clId="{6B507253-E232-478F-AB49-711AD90A2C31}" dt="2026-09-06T13:02:07.934" v="336" actId="26606"/>
          <ac:spMkLst>
            <pc:docMk/>
            <pc:sldMk cId="1270472377" sldId="260"/>
            <ac:spMk id="2" creationId="{51882DBB-6B0A-23CF-CA26-C2FE74FC446E}"/>
          </ac:spMkLst>
        </pc:spChg>
        <pc:spChg chg="mod">
          <ac:chgData name="Robson Rocha de Araújo" userId="a2c6238e923675da" providerId="LiveId" clId="{6B507253-E232-478F-AB49-711AD90A2C31}" dt="2026-09-06T13:02:07.934" v="336" actId="26606"/>
          <ac:spMkLst>
            <pc:docMk/>
            <pc:sldMk cId="1270472377" sldId="260"/>
            <ac:spMk id="3" creationId="{2C62110B-FB2E-CD74-E49C-51273DEE8183}"/>
          </ac:spMkLst>
        </pc:spChg>
        <pc:spChg chg="mod">
          <ac:chgData name="Robson Rocha de Araújo" userId="a2c6238e923675da" providerId="LiveId" clId="{6B507253-E232-478F-AB49-711AD90A2C31}" dt="2026-09-06T13:02:07.934" v="336" actId="26606"/>
          <ac:spMkLst>
            <pc:docMk/>
            <pc:sldMk cId="1270472377" sldId="260"/>
            <ac:spMk id="4" creationId="{2247BFF8-018E-2713-8C15-1455629B158E}"/>
          </ac:spMkLst>
        </pc:spChg>
        <pc:picChg chg="add mod">
          <ac:chgData name="Robson Rocha de Araújo" userId="a2c6238e923675da" providerId="LiveId" clId="{6B507253-E232-478F-AB49-711AD90A2C31}" dt="2026-09-06T13:15:08.701" v="374" actId="1076"/>
          <ac:picMkLst>
            <pc:docMk/>
            <pc:sldMk cId="1270472377" sldId="260"/>
            <ac:picMk id="10" creationId="{3B67849E-4424-26A8-FB17-2122551CD61B}"/>
          </ac:picMkLst>
        </pc:picChg>
      </pc:sldChg>
      <pc:sldChg chg="addSp delSp modSp new mod ord modTransition modShow modNotes modNotesTx">
        <pc:chgData name="Robson Rocha de Araújo" userId="a2c6238e923675da" providerId="LiveId" clId="{6B507253-E232-478F-AB49-711AD90A2C31}" dt="2026-09-06T15:22:48.494" v="623" actId="20577"/>
        <pc:sldMkLst>
          <pc:docMk/>
          <pc:sldMk cId="3904480195" sldId="292"/>
        </pc:sldMkLst>
        <pc:spChg chg="add mod">
          <ac:chgData name="Robson Rocha de Araújo" userId="a2c6238e923675da" providerId="LiveId" clId="{6B507253-E232-478F-AB49-711AD90A2C31}" dt="2026-09-06T15:22:48.494" v="623" actId="20577"/>
          <ac:spMkLst>
            <pc:docMk/>
            <pc:sldMk cId="3904480195" sldId="292"/>
            <ac:spMk id="5" creationId="{122E57D2-8207-CF07-F028-83591D185661}"/>
          </ac:spMkLst>
        </pc:spChg>
      </pc:sldChg>
      <pc:sldChg chg="addSp delSp modSp add mod">
        <pc:chgData name="Robson Rocha de Araújo" userId="a2c6238e923675da" providerId="LiveId" clId="{6B507253-E232-478F-AB49-711AD90A2C31}" dt="2026-09-06T15:22:21.477" v="598" actId="478"/>
        <pc:sldMkLst>
          <pc:docMk/>
          <pc:sldMk cId="0" sldId="293"/>
        </pc:sldMkLst>
        <pc:spChg chg="add mod">
          <ac:chgData name="Robson Rocha de Araújo" userId="a2c6238e923675da" providerId="LiveId" clId="{6B507253-E232-478F-AB49-711AD90A2C31}" dt="2026-09-06T15:22:09.952" v="594" actId="20577"/>
          <ac:spMkLst>
            <pc:docMk/>
            <pc:sldMk cId="0" sldId="293"/>
            <ac:spMk id="3" creationId="{AD87CC86-A43B-A7D6-7E60-BE1504530634}"/>
          </ac:spMkLst>
        </pc:spChg>
      </pc:sldChg>
      <pc:sldChg chg="add">
        <pc:chgData name="Robson Rocha de Araújo" userId="a2c6238e923675da" providerId="LiveId" clId="{6B507253-E232-478F-AB49-711AD90A2C31}" dt="2026-09-06T13:02:07.934" v="336" actId="26606"/>
        <pc:sldMkLst>
          <pc:docMk/>
          <pc:sldMk cId="0" sldId="294"/>
        </pc:sldMkLst>
      </pc:sldChg>
      <pc:sldChg chg="modSp add mod">
        <pc:chgData name="Robson Rocha de Araújo" userId="a2c6238e923675da" providerId="LiveId" clId="{6B507253-E232-478F-AB49-711AD90A2C31}" dt="2026-09-06T13:05:56.658" v="362" actId="1036"/>
        <pc:sldMkLst>
          <pc:docMk/>
          <pc:sldMk cId="0" sldId="295"/>
        </pc:sldMkLst>
        <pc:spChg chg="mod">
          <ac:chgData name="Robson Rocha de Araújo" userId="a2c6238e923675da" providerId="LiveId" clId="{6B507253-E232-478F-AB49-711AD90A2C31}" dt="2026-09-06T13:05:56.658" v="362" actId="1036"/>
          <ac:spMkLst>
            <pc:docMk/>
            <pc:sldMk cId="0" sldId="295"/>
            <ac:spMk id="2" creationId="{338FEEB8-0C36-73FD-39C5-BCDBB19B0D17}"/>
          </ac:spMkLst>
        </pc:spChg>
        <pc:spChg chg="mod">
          <ac:chgData name="Robson Rocha de Araújo" userId="a2c6238e923675da" providerId="LiveId" clId="{6B507253-E232-478F-AB49-711AD90A2C31}" dt="2026-09-06T13:05:47.611" v="359" actId="1076"/>
          <ac:spMkLst>
            <pc:docMk/>
            <pc:sldMk cId="0" sldId="295"/>
            <ac:spMk id="4" creationId="{FA51ABE5-E122-C475-D85E-982F0D34794C}"/>
          </ac:spMkLst>
        </pc:spChg>
        <pc:graphicFrameChg chg="mod modGraphic">
          <ac:chgData name="Robson Rocha de Araújo" userId="a2c6238e923675da" providerId="LiveId" clId="{6B507253-E232-478F-AB49-711AD90A2C31}" dt="2026-09-06T13:04:40.969" v="346" actId="242"/>
          <ac:graphicFrameMkLst>
            <pc:docMk/>
            <pc:sldMk cId="0" sldId="295"/>
            <ac:graphicFrameMk id="5" creationId="{00000000-0000-0000-0000-000000000000}"/>
          </ac:graphicFrameMkLst>
        </pc:graphicFrameChg>
      </pc:sldChg>
      <pc:sldChg chg="modSp add mod">
        <pc:chgData name="Robson Rocha de Araújo" userId="a2c6238e923675da" providerId="LiveId" clId="{6B507253-E232-478F-AB49-711AD90A2C31}" dt="2026-09-06T13:23:58.524" v="383" actId="26606"/>
        <pc:sldMkLst>
          <pc:docMk/>
          <pc:sldMk cId="0" sldId="296"/>
        </pc:sldMkLst>
        <pc:spChg chg="mod">
          <ac:chgData name="Robson Rocha de Araújo" userId="a2c6238e923675da" providerId="LiveId" clId="{6B507253-E232-478F-AB49-711AD90A2C31}" dt="2026-09-06T13:23:58.524" v="383" actId="26606"/>
          <ac:spMkLst>
            <pc:docMk/>
            <pc:sldMk cId="0" sldId="296"/>
            <ac:spMk id="4" creationId="{FA51ABE5-E122-C475-D85E-982F0D34794C}"/>
          </ac:spMkLst>
        </pc:spChg>
      </pc:sldChg>
      <pc:sldChg chg="modSp add mod">
        <pc:chgData name="Robson Rocha de Araújo" userId="a2c6238e923675da" providerId="LiveId" clId="{6B507253-E232-478F-AB49-711AD90A2C31}" dt="2026-09-06T13:23:58.524" v="383" actId="26606"/>
        <pc:sldMkLst>
          <pc:docMk/>
          <pc:sldMk cId="0" sldId="297"/>
        </pc:sldMkLst>
        <pc:spChg chg="mod">
          <ac:chgData name="Robson Rocha de Araújo" userId="a2c6238e923675da" providerId="LiveId" clId="{6B507253-E232-478F-AB49-711AD90A2C31}" dt="2026-09-06T13:23:58.524" v="383" actId="26606"/>
          <ac:spMkLst>
            <pc:docMk/>
            <pc:sldMk cId="0" sldId="297"/>
            <ac:spMk id="4" creationId="{2247BFF8-018E-2713-8C15-1455629B158E}"/>
          </ac:spMkLst>
        </pc:spChg>
      </pc:sldChg>
      <pc:sldChg chg="add">
        <pc:chgData name="Robson Rocha de Araújo" userId="a2c6238e923675da" providerId="LiveId" clId="{6B507253-E232-478F-AB49-711AD90A2C31}" dt="2026-09-06T13:14:55.436" v="373" actId="26606"/>
        <pc:sldMkLst>
          <pc:docMk/>
          <pc:sldMk cId="0" sldId="298"/>
        </pc:sldMkLst>
      </pc:sldChg>
      <pc:sldChg chg="addSp modSp add mod">
        <pc:chgData name="Robson Rocha de Araújo" userId="a2c6238e923675da" providerId="LiveId" clId="{6B507253-E232-478F-AB49-711AD90A2C31}" dt="2026-09-06T15:11:53.592" v="543" actId="121"/>
        <pc:sldMkLst>
          <pc:docMk/>
          <pc:sldMk cId="0" sldId="299"/>
        </pc:sldMkLst>
        <pc:spChg chg="mod">
          <ac:chgData name="Robson Rocha de Araújo" userId="a2c6238e923675da" providerId="LiveId" clId="{6B507253-E232-478F-AB49-711AD90A2C31}" dt="2026-09-06T15:11:53.592" v="543" actId="121"/>
          <ac:spMkLst>
            <pc:docMk/>
            <pc:sldMk cId="0" sldId="299"/>
            <ac:spMk id="3" creationId="{A620470B-3487-F980-CBFA-1906691D3DEE}"/>
          </ac:spMkLst>
        </pc:spChg>
        <pc:picChg chg="add mod">
          <ac:chgData name="Robson Rocha de Araújo" userId="a2c6238e923675da" providerId="LiveId" clId="{6B507253-E232-478F-AB49-711AD90A2C31}" dt="2026-09-06T15:11:40.118" v="540" actId="1076"/>
          <ac:picMkLst>
            <pc:docMk/>
            <pc:sldMk cId="0" sldId="299"/>
            <ac:picMk id="6" creationId="{D9F4F5E4-67A3-F83E-C20B-B253DBD685B3}"/>
          </ac:picMkLst>
        </pc:picChg>
      </pc:sldChg>
      <pc:sldChg chg="add">
        <pc:chgData name="Robson Rocha de Araújo" userId="a2c6238e923675da" providerId="LiveId" clId="{6B507253-E232-478F-AB49-711AD90A2C31}" dt="2026-09-06T13:14:55.436" v="373" actId="26606"/>
        <pc:sldMkLst>
          <pc:docMk/>
          <pc:sldMk cId="0" sldId="300"/>
        </pc:sldMkLst>
      </pc:sldChg>
      <pc:sldChg chg="addSp modSp add mod">
        <pc:chgData name="Robson Rocha de Araújo" userId="a2c6238e923675da" providerId="LiveId" clId="{6B507253-E232-478F-AB49-711AD90A2C31}" dt="2026-09-06T15:12:52.451" v="547" actId="14100"/>
        <pc:sldMkLst>
          <pc:docMk/>
          <pc:sldMk cId="0" sldId="301"/>
        </pc:sldMkLst>
        <pc:picChg chg="add mod">
          <ac:chgData name="Robson Rocha de Araújo" userId="a2c6238e923675da" providerId="LiveId" clId="{6B507253-E232-478F-AB49-711AD90A2C31}" dt="2026-09-06T15:12:52.451" v="547" actId="14100"/>
          <ac:picMkLst>
            <pc:docMk/>
            <pc:sldMk cId="0" sldId="301"/>
            <ac:picMk id="6" creationId="{012AA10F-5E94-77D5-1723-F43D97A5DC10}"/>
          </ac:picMkLst>
        </pc:picChg>
      </pc:sldChg>
      <pc:sldChg chg="add">
        <pc:chgData name="Robson Rocha de Araújo" userId="a2c6238e923675da" providerId="LiveId" clId="{6B507253-E232-478F-AB49-711AD90A2C31}" dt="2026-09-06T13:14:55.436" v="373" actId="26606"/>
        <pc:sldMkLst>
          <pc:docMk/>
          <pc:sldMk cId="0" sldId="302"/>
        </pc:sldMkLst>
      </pc:sldChg>
      <pc:sldChg chg="addSp delSp modSp add mod">
        <pc:chgData name="Robson Rocha de Araújo" userId="a2c6238e923675da" providerId="LiveId" clId="{6B507253-E232-478F-AB49-711AD90A2C31}" dt="2026-09-06T14:57:37.064" v="518" actId="14100"/>
        <pc:sldMkLst>
          <pc:docMk/>
          <pc:sldMk cId="0" sldId="303"/>
        </pc:sldMkLst>
        <pc:picChg chg="add mod">
          <ac:chgData name="Robson Rocha de Araújo" userId="a2c6238e923675da" providerId="LiveId" clId="{6B507253-E232-478F-AB49-711AD90A2C31}" dt="2026-09-06T14:57:37.064" v="518" actId="14100"/>
          <ac:picMkLst>
            <pc:docMk/>
            <pc:sldMk cId="0" sldId="303"/>
            <ac:picMk id="9" creationId="{1D362C9B-FA02-0253-43AF-6D6D14E52A1D}"/>
          </ac:picMkLst>
        </pc:picChg>
      </pc:sldChg>
      <pc:sldChg chg="modSp add mod">
        <pc:chgData name="Robson Rocha de Araújo" userId="a2c6238e923675da" providerId="LiveId" clId="{6B507253-E232-478F-AB49-711AD90A2C31}" dt="2026-09-06T15:21:54.949" v="580" actId="108"/>
        <pc:sldMkLst>
          <pc:docMk/>
          <pc:sldMk cId="0" sldId="304"/>
        </pc:sldMkLst>
        <pc:spChg chg="mod">
          <ac:chgData name="Robson Rocha de Araújo" userId="a2c6238e923675da" providerId="LiveId" clId="{6B507253-E232-478F-AB49-711AD90A2C31}" dt="2026-09-06T15:21:54.949" v="580" actId="108"/>
          <ac:spMkLst>
            <pc:docMk/>
            <pc:sldMk cId="0" sldId="304"/>
            <ac:spMk id="2" creationId="{CAC9F231-BB8B-9844-8F81-E1FF87343694}"/>
          </ac:spMkLst>
        </pc:spChg>
      </pc:sldChg>
      <pc:sldChg chg="add">
        <pc:chgData name="Robson Rocha de Araújo" userId="a2c6238e923675da" providerId="LiveId" clId="{6B507253-E232-478F-AB49-711AD90A2C31}" dt="2026-09-06T13:14:55.436" v="373" actId="26606"/>
        <pc:sldMkLst>
          <pc:docMk/>
          <pc:sldMk cId="0" sldId="305"/>
        </pc:sldMkLst>
      </pc:sldChg>
      <pc:sldChg chg="addSp delSp modSp add mod">
        <pc:chgData name="Robson Rocha de Araújo" userId="a2c6238e923675da" providerId="LiveId" clId="{6B507253-E232-478F-AB49-711AD90A2C31}" dt="2026-09-06T14:57:27.726" v="515" actId="14100"/>
        <pc:sldMkLst>
          <pc:docMk/>
          <pc:sldMk cId="0" sldId="306"/>
        </pc:sldMkLst>
        <pc:picChg chg="add mod">
          <ac:chgData name="Robson Rocha de Araújo" userId="a2c6238e923675da" providerId="LiveId" clId="{6B507253-E232-478F-AB49-711AD90A2C31}" dt="2026-09-06T14:57:27.726" v="515" actId="14100"/>
          <ac:picMkLst>
            <pc:docMk/>
            <pc:sldMk cId="0" sldId="306"/>
            <ac:picMk id="11" creationId="{14261A51-BE13-CEE3-A434-8215C40D89AF}"/>
          </ac:picMkLst>
        </pc:picChg>
      </pc:sldChg>
      <pc:sldChg chg="add">
        <pc:chgData name="Robson Rocha de Araújo" userId="a2c6238e923675da" providerId="LiveId" clId="{6B507253-E232-478F-AB49-711AD90A2C31}" dt="2026-09-06T13:23:58.524" v="383" actId="26606"/>
        <pc:sldMkLst>
          <pc:docMk/>
          <pc:sldMk cId="0" sldId="307"/>
        </pc:sldMkLst>
      </pc:sldChg>
      <pc:sldChg chg="addSp delSp modSp add mod">
        <pc:chgData name="Robson Rocha de Araújo" userId="a2c6238e923675da" providerId="LiveId" clId="{6B507253-E232-478F-AB49-711AD90A2C31}" dt="2026-09-06T14:57:20.632" v="514" actId="14100"/>
        <pc:sldMkLst>
          <pc:docMk/>
          <pc:sldMk cId="0" sldId="308"/>
        </pc:sldMkLst>
        <pc:picChg chg="add mod">
          <ac:chgData name="Robson Rocha de Araújo" userId="a2c6238e923675da" providerId="LiveId" clId="{6B507253-E232-478F-AB49-711AD90A2C31}" dt="2026-09-06T14:57:20.632" v="514" actId="14100"/>
          <ac:picMkLst>
            <pc:docMk/>
            <pc:sldMk cId="0" sldId="308"/>
            <ac:picMk id="9" creationId="{A8C0A00E-C546-FF5A-E252-31443CF59CC9}"/>
          </ac:picMkLst>
        </pc:picChg>
      </pc:sldChg>
      <pc:sldChg chg="modSp add mod">
        <pc:chgData name="Robson Rocha de Araújo" userId="a2c6238e923675da" providerId="LiveId" clId="{6B507253-E232-478F-AB49-711AD90A2C31}" dt="2026-09-06T13:25:50.859" v="440" actId="6549"/>
        <pc:sldMkLst>
          <pc:docMk/>
          <pc:sldMk cId="0" sldId="309"/>
        </pc:sldMkLst>
        <pc:spChg chg="mod">
          <ac:chgData name="Robson Rocha de Araújo" userId="a2c6238e923675da" providerId="LiveId" clId="{6B507253-E232-478F-AB49-711AD90A2C31}" dt="2026-09-06T13:25:50.859" v="440" actId="6549"/>
          <ac:spMkLst>
            <pc:docMk/>
            <pc:sldMk cId="0" sldId="309"/>
            <ac:spMk id="2" creationId="{338FEEB8-0C36-73FD-39C5-BCDBB19B0D17}"/>
          </ac:spMkLst>
        </pc:spChg>
        <pc:spChg chg="mod">
          <ac:chgData name="Robson Rocha de Araújo" userId="a2c6238e923675da" providerId="LiveId" clId="{6B507253-E232-478F-AB49-711AD90A2C31}" dt="2026-09-06T13:24:59.080" v="414" actId="20577"/>
          <ac:spMkLst>
            <pc:docMk/>
            <pc:sldMk cId="0" sldId="309"/>
            <ac:spMk id="3" creationId="{A620470B-3487-F980-CBFA-1906691D3DEE}"/>
          </ac:spMkLst>
        </pc:spChg>
      </pc:sldChg>
      <pc:sldChg chg="modSp add mod">
        <pc:chgData name="Robson Rocha de Araújo" userId="a2c6238e923675da" providerId="LiveId" clId="{6B507253-E232-478F-AB49-711AD90A2C31}" dt="2026-09-06T13:25:54.878" v="441" actId="6549"/>
        <pc:sldMkLst>
          <pc:docMk/>
          <pc:sldMk cId="0" sldId="310"/>
        </pc:sldMkLst>
        <pc:spChg chg="mod">
          <ac:chgData name="Robson Rocha de Araújo" userId="a2c6238e923675da" providerId="LiveId" clId="{6B507253-E232-478F-AB49-711AD90A2C31}" dt="2026-09-06T13:25:54.878" v="441" actId="6549"/>
          <ac:spMkLst>
            <pc:docMk/>
            <pc:sldMk cId="0" sldId="310"/>
            <ac:spMk id="2" creationId="{338FEEB8-0C36-73FD-39C5-BCDBB19B0D17}"/>
          </ac:spMkLst>
        </pc:spChg>
      </pc:sldChg>
      <pc:sldChg chg="modSp add mod">
        <pc:chgData name="Robson Rocha de Araújo" userId="a2c6238e923675da" providerId="LiveId" clId="{6B507253-E232-478F-AB49-711AD90A2C31}" dt="2026-09-06T13:26:04.584" v="445" actId="6549"/>
        <pc:sldMkLst>
          <pc:docMk/>
          <pc:sldMk cId="0" sldId="311"/>
        </pc:sldMkLst>
        <pc:spChg chg="mod">
          <ac:chgData name="Robson Rocha de Araújo" userId="a2c6238e923675da" providerId="LiveId" clId="{6B507253-E232-478F-AB49-711AD90A2C31}" dt="2026-09-06T13:26:04.584" v="445" actId="6549"/>
          <ac:spMkLst>
            <pc:docMk/>
            <pc:sldMk cId="0" sldId="311"/>
            <ac:spMk id="2" creationId="{338FEEB8-0C36-73FD-39C5-BCDBB19B0D17}"/>
          </ac:spMkLst>
        </pc:spChg>
      </pc:sldChg>
      <pc:sldChg chg="modSp add mod">
        <pc:chgData name="Robson Rocha de Araújo" userId="a2c6238e923675da" providerId="LiveId" clId="{6B507253-E232-478F-AB49-711AD90A2C31}" dt="2026-09-06T13:26:09.639" v="450" actId="20577"/>
        <pc:sldMkLst>
          <pc:docMk/>
          <pc:sldMk cId="0" sldId="312"/>
        </pc:sldMkLst>
        <pc:spChg chg="mod">
          <ac:chgData name="Robson Rocha de Araújo" userId="a2c6238e923675da" providerId="LiveId" clId="{6B507253-E232-478F-AB49-711AD90A2C31}" dt="2026-09-06T13:26:09.639" v="450" actId="20577"/>
          <ac:spMkLst>
            <pc:docMk/>
            <pc:sldMk cId="0" sldId="312"/>
            <ac:spMk id="2" creationId="{338FEEB8-0C36-73FD-39C5-BCDBB19B0D17}"/>
          </ac:spMkLst>
        </pc:spChg>
      </pc:sldChg>
      <pc:sldChg chg="addSp modSp add mod">
        <pc:chgData name="Robson Rocha de Araújo" userId="a2c6238e923675da" providerId="LiveId" clId="{6B507253-E232-478F-AB49-711AD90A2C31}" dt="2026-09-06T15:14:04.384" v="552" actId="1076"/>
        <pc:sldMkLst>
          <pc:docMk/>
          <pc:sldMk cId="0" sldId="313"/>
        </pc:sldMkLst>
        <pc:picChg chg="add mod">
          <ac:chgData name="Robson Rocha de Araújo" userId="a2c6238e923675da" providerId="LiveId" clId="{6B507253-E232-478F-AB49-711AD90A2C31}" dt="2026-09-06T15:14:04.384" v="552" actId="1076"/>
          <ac:picMkLst>
            <pc:docMk/>
            <pc:sldMk cId="0" sldId="313"/>
            <ac:picMk id="6" creationId="{961D041C-F09C-0E05-FE59-DC13D9BB7FE5}"/>
          </ac:picMkLst>
        </pc:picChg>
      </pc:sldChg>
      <pc:sldChg chg="addSp delSp modSp add mod">
        <pc:chgData name="Robson Rocha de Araújo" userId="a2c6238e923675da" providerId="LiveId" clId="{6B507253-E232-478F-AB49-711AD90A2C31}" dt="2026-09-06T14:57:12.036" v="512" actId="14100"/>
        <pc:sldMkLst>
          <pc:docMk/>
          <pc:sldMk cId="0" sldId="314"/>
        </pc:sldMkLst>
        <pc:picChg chg="add mod">
          <ac:chgData name="Robson Rocha de Araújo" userId="a2c6238e923675da" providerId="LiveId" clId="{6B507253-E232-478F-AB49-711AD90A2C31}" dt="2026-09-06T14:57:12.036" v="512" actId="14100"/>
          <ac:picMkLst>
            <pc:docMk/>
            <pc:sldMk cId="0" sldId="314"/>
            <ac:picMk id="9" creationId="{A4923EC1-17DA-13A3-D23B-4CA5967850D8}"/>
          </ac:picMkLst>
        </pc:picChg>
      </pc:sldChg>
      <pc:sldChg chg="add">
        <pc:chgData name="Robson Rocha de Araújo" userId="a2c6238e923675da" providerId="LiveId" clId="{6B507253-E232-478F-AB49-711AD90A2C31}" dt="2026-09-06T13:30:40.726" v="488" actId="26606"/>
        <pc:sldMkLst>
          <pc:docMk/>
          <pc:sldMk cId="0" sldId="315"/>
        </pc:sldMkLst>
      </pc:sldChg>
      <pc:sldChg chg="addSp modSp add mod">
        <pc:chgData name="Robson Rocha de Araújo" userId="a2c6238e923675da" providerId="LiveId" clId="{6B507253-E232-478F-AB49-711AD90A2C31}" dt="2026-09-06T15:14:59.239" v="555" actId="1076"/>
        <pc:sldMkLst>
          <pc:docMk/>
          <pc:sldMk cId="0" sldId="316"/>
        </pc:sldMkLst>
        <pc:picChg chg="add mod">
          <ac:chgData name="Robson Rocha de Araújo" userId="a2c6238e923675da" providerId="LiveId" clId="{6B507253-E232-478F-AB49-711AD90A2C31}" dt="2026-09-06T15:14:59.239" v="555" actId="1076"/>
          <ac:picMkLst>
            <pc:docMk/>
            <pc:sldMk cId="0" sldId="316"/>
            <ac:picMk id="6" creationId="{B9673752-73A2-BFB0-C5AB-5386644C9DAB}"/>
          </ac:picMkLst>
        </pc:picChg>
      </pc:sldChg>
      <pc:sldChg chg="add">
        <pc:chgData name="Robson Rocha de Araújo" userId="a2c6238e923675da" providerId="LiveId" clId="{6B507253-E232-478F-AB49-711AD90A2C31}" dt="2026-09-06T13:30:40.726" v="488" actId="26606"/>
        <pc:sldMkLst>
          <pc:docMk/>
          <pc:sldMk cId="0" sldId="317"/>
        </pc:sldMkLst>
      </pc:sldChg>
      <pc:sldChg chg="addSp delSp modSp add mod">
        <pc:chgData name="Robson Rocha de Araújo" userId="a2c6238e923675da" providerId="LiveId" clId="{6B507253-E232-478F-AB49-711AD90A2C31}" dt="2026-09-06T14:56:19.311" v="504" actId="14100"/>
        <pc:sldMkLst>
          <pc:docMk/>
          <pc:sldMk cId="0" sldId="318"/>
        </pc:sldMkLst>
        <pc:picChg chg="add mod">
          <ac:chgData name="Robson Rocha de Araújo" userId="a2c6238e923675da" providerId="LiveId" clId="{6B507253-E232-478F-AB49-711AD90A2C31}" dt="2026-09-06T14:56:19.311" v="504" actId="14100"/>
          <ac:picMkLst>
            <pc:docMk/>
            <pc:sldMk cId="0" sldId="318"/>
            <ac:picMk id="9" creationId="{D120AD3E-9E21-4192-C7C1-14B385B341B6}"/>
          </ac:picMkLst>
        </pc:picChg>
      </pc:sldChg>
      <pc:sldChg chg="add">
        <pc:chgData name="Robson Rocha de Araújo" userId="a2c6238e923675da" providerId="LiveId" clId="{6B507253-E232-478F-AB49-711AD90A2C31}" dt="2026-09-06T13:30:40.726" v="488" actId="26606"/>
        <pc:sldMkLst>
          <pc:docMk/>
          <pc:sldMk cId="0" sldId="319"/>
        </pc:sldMkLst>
      </pc:sldChg>
      <pc:sldChg chg="addSp modSp add mod">
        <pc:chgData name="Robson Rocha de Araújo" userId="a2c6238e923675da" providerId="LiveId" clId="{6B507253-E232-478F-AB49-711AD90A2C31}" dt="2026-09-06T15:15:56.316" v="560" actId="14100"/>
        <pc:sldMkLst>
          <pc:docMk/>
          <pc:sldMk cId="0" sldId="320"/>
        </pc:sldMkLst>
        <pc:picChg chg="add mod">
          <ac:chgData name="Robson Rocha de Araújo" userId="a2c6238e923675da" providerId="LiveId" clId="{6B507253-E232-478F-AB49-711AD90A2C31}" dt="2026-09-06T15:15:56.316" v="560" actId="14100"/>
          <ac:picMkLst>
            <pc:docMk/>
            <pc:sldMk cId="0" sldId="320"/>
            <ac:picMk id="6" creationId="{61C0B318-80FA-4987-1B39-7BCC45978F26}"/>
          </ac:picMkLst>
        </pc:picChg>
      </pc:sldChg>
      <pc:sldChg chg="add">
        <pc:chgData name="Robson Rocha de Araújo" userId="a2c6238e923675da" providerId="LiveId" clId="{6B507253-E232-478F-AB49-711AD90A2C31}" dt="2026-09-06T13:30:40.726" v="488" actId="26606"/>
        <pc:sldMkLst>
          <pc:docMk/>
          <pc:sldMk cId="0" sldId="321"/>
        </pc:sldMkLst>
      </pc:sldChg>
      <pc:sldChg chg="addSp modSp add mod">
        <pc:chgData name="Robson Rocha de Araújo" userId="a2c6238e923675da" providerId="LiveId" clId="{6B507253-E232-478F-AB49-711AD90A2C31}" dt="2026-09-06T15:16:40.139" v="566" actId="14100"/>
        <pc:sldMkLst>
          <pc:docMk/>
          <pc:sldMk cId="0" sldId="322"/>
        </pc:sldMkLst>
        <pc:picChg chg="add mod">
          <ac:chgData name="Robson Rocha de Araújo" userId="a2c6238e923675da" providerId="LiveId" clId="{6B507253-E232-478F-AB49-711AD90A2C31}" dt="2026-09-06T15:16:40.139" v="566" actId="14100"/>
          <ac:picMkLst>
            <pc:docMk/>
            <pc:sldMk cId="0" sldId="322"/>
            <ac:picMk id="6" creationId="{2B986389-DEE8-A9B6-5429-DB1B9C66D9D8}"/>
          </ac:picMkLst>
        </pc:picChg>
      </pc:sldChg>
      <pc:sldChg chg="addSp delSp modSp add mod">
        <pc:chgData name="Robson Rocha de Araújo" userId="a2c6238e923675da" providerId="LiveId" clId="{6B507253-E232-478F-AB49-711AD90A2C31}" dt="2026-09-06T14:57:02.571" v="511" actId="14100"/>
        <pc:sldMkLst>
          <pc:docMk/>
          <pc:sldMk cId="0" sldId="323"/>
        </pc:sldMkLst>
        <pc:picChg chg="add mod">
          <ac:chgData name="Robson Rocha de Araújo" userId="a2c6238e923675da" providerId="LiveId" clId="{6B507253-E232-478F-AB49-711AD90A2C31}" dt="2026-09-06T14:57:02.571" v="511" actId="14100"/>
          <ac:picMkLst>
            <pc:docMk/>
            <pc:sldMk cId="0" sldId="323"/>
            <ac:picMk id="9" creationId="{3F8FD3E5-44BC-7BC1-6E3C-81860C5F9B5F}"/>
          </ac:picMkLst>
        </pc:picChg>
      </pc:sldChg>
      <pc:sldChg chg="addSp delSp modSp add mod">
        <pc:chgData name="Robson Rocha de Araújo" userId="a2c6238e923675da" providerId="LiveId" clId="{6B507253-E232-478F-AB49-711AD90A2C31}" dt="2026-09-06T14:54:32.485" v="497" actId="14100"/>
        <pc:sldMkLst>
          <pc:docMk/>
          <pc:sldMk cId="0" sldId="324"/>
        </pc:sldMkLst>
        <pc:picChg chg="add mod">
          <ac:chgData name="Robson Rocha de Araújo" userId="a2c6238e923675da" providerId="LiveId" clId="{6B507253-E232-478F-AB49-711AD90A2C31}" dt="2026-09-06T14:54:32.485" v="497" actId="14100"/>
          <ac:picMkLst>
            <pc:docMk/>
            <pc:sldMk cId="0" sldId="324"/>
            <ac:picMk id="9" creationId="{45572875-948F-BD8C-A717-6BBC5BF5927C}"/>
          </ac:picMkLst>
        </pc:picChg>
      </pc:sldChg>
      <pc:sldChg chg="add">
        <pc:chgData name="Robson Rocha de Araújo" userId="a2c6238e923675da" providerId="LiveId" clId="{6B507253-E232-478F-AB49-711AD90A2C31}" dt="2026-09-06T15:06:20.295" v="520" actId="26606"/>
        <pc:sldMkLst>
          <pc:docMk/>
          <pc:sldMk cId="0" sldId="325"/>
        </pc:sldMkLst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26"/>
        </pc:sldMkLst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27"/>
        </pc:sldMkLst>
      </pc:sldChg>
      <pc:sldChg chg="addSp modSp add mod">
        <pc:chgData name="Robson Rocha de Araújo" userId="a2c6238e923675da" providerId="LiveId" clId="{6B507253-E232-478F-AB49-711AD90A2C31}" dt="2026-09-06T15:27:55.337" v="651" actId="20577"/>
        <pc:sldMkLst>
          <pc:docMk/>
          <pc:sldMk cId="0" sldId="328"/>
        </pc:sldMkLst>
        <pc:spChg chg="mod">
          <ac:chgData name="Robson Rocha de Araújo" userId="a2c6238e923675da" providerId="LiveId" clId="{6B507253-E232-478F-AB49-711AD90A2C31}" dt="2026-09-06T15:27:55.337" v="651" actId="20577"/>
          <ac:spMkLst>
            <pc:docMk/>
            <pc:sldMk cId="0" sldId="328"/>
            <ac:spMk id="3" creationId="{A620470B-3487-F980-CBFA-1906691D3DEE}"/>
          </ac:spMkLst>
        </pc:spChg>
        <pc:picChg chg="add mod">
          <ac:chgData name="Robson Rocha de Araújo" userId="a2c6238e923675da" providerId="LiveId" clId="{6B507253-E232-478F-AB49-711AD90A2C31}" dt="2026-09-06T15:17:31.584" v="568" actId="14100"/>
          <ac:picMkLst>
            <pc:docMk/>
            <pc:sldMk cId="0" sldId="328"/>
            <ac:picMk id="6" creationId="{2184EC50-D7D2-A23C-7A08-CBC98D0A26A2}"/>
          </ac:picMkLst>
        </pc:picChg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29"/>
        </pc:sldMkLst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30"/>
        </pc:sldMkLst>
      </pc:sldChg>
      <pc:sldChg chg="addSp modSp add mod">
        <pc:chgData name="Robson Rocha de Araújo" userId="a2c6238e923675da" providerId="LiveId" clId="{6B507253-E232-478F-AB49-711AD90A2C31}" dt="2026-09-06T15:27:49.268" v="649" actId="20577"/>
        <pc:sldMkLst>
          <pc:docMk/>
          <pc:sldMk cId="0" sldId="331"/>
        </pc:sldMkLst>
        <pc:spChg chg="mod">
          <ac:chgData name="Robson Rocha de Araújo" userId="a2c6238e923675da" providerId="LiveId" clId="{6B507253-E232-478F-AB49-711AD90A2C31}" dt="2026-09-06T15:27:49.268" v="649" actId="20577"/>
          <ac:spMkLst>
            <pc:docMk/>
            <pc:sldMk cId="0" sldId="331"/>
            <ac:spMk id="3" creationId="{A620470B-3487-F980-CBFA-1906691D3DEE}"/>
          </ac:spMkLst>
        </pc:spChg>
        <pc:picChg chg="add mod">
          <ac:chgData name="Robson Rocha de Araújo" userId="a2c6238e923675da" providerId="LiveId" clId="{6B507253-E232-478F-AB49-711AD90A2C31}" dt="2026-09-06T15:18:08.569" v="570" actId="14100"/>
          <ac:picMkLst>
            <pc:docMk/>
            <pc:sldMk cId="0" sldId="331"/>
            <ac:picMk id="6" creationId="{70CD5AA5-563F-5BD0-3BC2-DB2B004FF4B4}"/>
          </ac:picMkLst>
        </pc:picChg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32"/>
        </pc:sldMkLst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33"/>
        </pc:sldMkLst>
      </pc:sldChg>
      <pc:sldChg chg="addSp modSp add mod">
        <pc:chgData name="Robson Rocha de Araújo" userId="a2c6238e923675da" providerId="LiveId" clId="{6B507253-E232-478F-AB49-711AD90A2C31}" dt="2026-09-06T15:27:41.414" v="647" actId="20577"/>
        <pc:sldMkLst>
          <pc:docMk/>
          <pc:sldMk cId="0" sldId="334"/>
        </pc:sldMkLst>
        <pc:spChg chg="mod">
          <ac:chgData name="Robson Rocha de Araújo" userId="a2c6238e923675da" providerId="LiveId" clId="{6B507253-E232-478F-AB49-711AD90A2C31}" dt="2026-09-06T15:27:41.414" v="647" actId="20577"/>
          <ac:spMkLst>
            <pc:docMk/>
            <pc:sldMk cId="0" sldId="334"/>
            <ac:spMk id="3" creationId="{A620470B-3487-F980-CBFA-1906691D3DEE}"/>
          </ac:spMkLst>
        </pc:spChg>
        <pc:picChg chg="add mod">
          <ac:chgData name="Robson Rocha de Araújo" userId="a2c6238e923675da" providerId="LiveId" clId="{6B507253-E232-478F-AB49-711AD90A2C31}" dt="2026-09-06T15:18:49.198" v="572" actId="14100"/>
          <ac:picMkLst>
            <pc:docMk/>
            <pc:sldMk cId="0" sldId="334"/>
            <ac:picMk id="6" creationId="{6CDE60EF-124B-DFE4-B478-325F8AEDB45B}"/>
          </ac:picMkLst>
        </pc:picChg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35"/>
        </pc:sldMkLst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36"/>
        </pc:sldMkLst>
      </pc:sldChg>
      <pc:sldChg chg="addSp modSp add mod">
        <pc:chgData name="Robson Rocha de Araújo" userId="a2c6238e923675da" providerId="LiveId" clId="{6B507253-E232-478F-AB49-711AD90A2C31}" dt="2026-09-06T15:27:33.136" v="645" actId="20577"/>
        <pc:sldMkLst>
          <pc:docMk/>
          <pc:sldMk cId="0" sldId="337"/>
        </pc:sldMkLst>
        <pc:spChg chg="mod">
          <ac:chgData name="Robson Rocha de Araújo" userId="a2c6238e923675da" providerId="LiveId" clId="{6B507253-E232-478F-AB49-711AD90A2C31}" dt="2026-09-06T15:27:33.136" v="645" actId="20577"/>
          <ac:spMkLst>
            <pc:docMk/>
            <pc:sldMk cId="0" sldId="337"/>
            <ac:spMk id="3" creationId="{A620470B-3487-F980-CBFA-1906691D3DEE}"/>
          </ac:spMkLst>
        </pc:spChg>
        <pc:picChg chg="add mod">
          <ac:chgData name="Robson Rocha de Araújo" userId="a2c6238e923675da" providerId="LiveId" clId="{6B507253-E232-478F-AB49-711AD90A2C31}" dt="2026-09-06T15:19:34.633" v="574" actId="14100"/>
          <ac:picMkLst>
            <pc:docMk/>
            <pc:sldMk cId="0" sldId="337"/>
            <ac:picMk id="6" creationId="{727A8EA4-C892-D38E-A5EE-9E452BA365F1}"/>
          </ac:picMkLst>
        </pc:picChg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38"/>
        </pc:sldMkLst>
      </pc:sldChg>
      <pc:sldChg chg="addSp modSp add mod">
        <pc:chgData name="Robson Rocha de Araújo" userId="a2c6238e923675da" providerId="LiveId" clId="{6B507253-E232-478F-AB49-711AD90A2C31}" dt="2026-09-06T15:27:22.388" v="643" actId="20577"/>
        <pc:sldMkLst>
          <pc:docMk/>
          <pc:sldMk cId="0" sldId="339"/>
        </pc:sldMkLst>
        <pc:spChg chg="mod">
          <ac:chgData name="Robson Rocha de Araújo" userId="a2c6238e923675da" providerId="LiveId" clId="{6B507253-E232-478F-AB49-711AD90A2C31}" dt="2026-09-06T15:27:22.388" v="643" actId="20577"/>
          <ac:spMkLst>
            <pc:docMk/>
            <pc:sldMk cId="0" sldId="339"/>
            <ac:spMk id="3" creationId="{A620470B-3487-F980-CBFA-1906691D3DEE}"/>
          </ac:spMkLst>
        </pc:spChg>
        <pc:picChg chg="add mod">
          <ac:chgData name="Robson Rocha de Araújo" userId="a2c6238e923675da" providerId="LiveId" clId="{6B507253-E232-478F-AB49-711AD90A2C31}" dt="2026-09-06T15:20:33.054" v="576" actId="14100"/>
          <ac:picMkLst>
            <pc:docMk/>
            <pc:sldMk cId="0" sldId="339"/>
            <ac:picMk id="6" creationId="{5BE25539-8048-325E-D0DA-73DC7B996F18}"/>
          </ac:picMkLst>
        </pc:picChg>
      </pc:sldChg>
      <pc:sldChg chg="add">
        <pc:chgData name="Robson Rocha de Araújo" userId="a2c6238e923675da" providerId="LiveId" clId="{6B507253-E232-478F-AB49-711AD90A2C31}" dt="2026-09-06T15:11:57.975" v="545" actId="26606"/>
        <pc:sldMkLst>
          <pc:docMk/>
          <pc:sldMk cId="0" sldId="340"/>
        </pc:sldMkLst>
      </pc:sldChg>
      <pc:sldChg chg="modSp add mod">
        <pc:chgData name="Robson Rocha de Araújo" userId="a2c6238e923675da" providerId="LiveId" clId="{6B507253-E232-478F-AB49-711AD90A2C31}" dt="2026-09-06T15:26:28.106" v="632" actId="14100"/>
        <pc:sldMkLst>
          <pc:docMk/>
          <pc:sldMk cId="0" sldId="342"/>
        </pc:sldMkLst>
        <pc:picChg chg="mod">
          <ac:chgData name="Robson Rocha de Araújo" userId="a2c6238e923675da" providerId="LiveId" clId="{6B507253-E232-478F-AB49-711AD90A2C31}" dt="2026-09-06T15:26:28.106" v="632" actId="14100"/>
          <ac:picMkLst>
            <pc:docMk/>
            <pc:sldMk cId="0" sldId="342"/>
            <ac:picMk id="5" creationId="{00000000-0000-0000-0000-000000000000}"/>
          </ac:picMkLst>
        </pc:picChg>
      </pc:sldChg>
      <pc:sldChg chg="modSp add mod">
        <pc:chgData name="Robson Rocha de Araújo" userId="a2c6238e923675da" providerId="LiveId" clId="{6B507253-E232-478F-AB49-711AD90A2C31}" dt="2026-09-06T15:25:47.387" v="627" actId="14100"/>
        <pc:sldMkLst>
          <pc:docMk/>
          <pc:sldMk cId="0" sldId="343"/>
        </pc:sldMkLst>
        <pc:picChg chg="mod">
          <ac:chgData name="Robson Rocha de Araújo" userId="a2c6238e923675da" providerId="LiveId" clId="{6B507253-E232-478F-AB49-711AD90A2C31}" dt="2026-09-06T15:25:47.387" v="627" actId="14100"/>
          <ac:picMkLst>
            <pc:docMk/>
            <pc:sldMk cId="0" sldId="343"/>
            <ac:picMk id="5" creationId="{00000000-0000-0000-0000-000000000000}"/>
          </ac:picMkLst>
        </pc:picChg>
      </pc:sldChg>
      <pc:sldChg chg="modSp add del mod">
        <pc:chgData name="Robson Rocha de Araújo" userId="a2c6238e923675da" providerId="LiveId" clId="{6B507253-E232-478F-AB49-711AD90A2C31}" dt="2026-09-09T17:05:18.547" v="653" actId="47"/>
        <pc:sldMkLst>
          <pc:docMk/>
          <pc:sldMk cId="0" sldId="344"/>
        </pc:sldMkLst>
      </pc:sldChg>
      <pc:sldChg chg="add">
        <pc:chgData name="Robson Rocha de Araújo" userId="a2c6238e923675da" providerId="LiveId" clId="{6B507253-E232-478F-AB49-711AD90A2C31}" dt="2026-09-06T15:23:52.899" v="625" actId="26606"/>
        <pc:sldMkLst>
          <pc:docMk/>
          <pc:sldMk cId="0" sldId="345"/>
        </pc:sldMkLst>
      </pc:sldChg>
      <pc:sldMasterChg chg="modSldLayout">
        <pc:chgData name="Robson Rocha de Araújo" userId="a2c6238e923675da" providerId="LiveId" clId="{6B507253-E232-478F-AB49-711AD90A2C31}" dt="2026-09-06T13:02:26.604" v="340"/>
        <pc:sldMasterMkLst>
          <pc:docMk/>
          <pc:sldMasterMk cId="1759801583" sldId="2147483660"/>
        </pc:sldMasterMkLst>
        <pc:sldLayoutChg chg="addSp delSp modSp mod">
          <pc:chgData name="Robson Rocha de Araújo" userId="a2c6238e923675da" providerId="LiveId" clId="{6B507253-E232-478F-AB49-711AD90A2C31}" dt="2026-09-06T13:02:26.604" v="340"/>
          <pc:sldLayoutMkLst>
            <pc:docMk/>
            <pc:sldMasterMk cId="1759801583" sldId="2147483660"/>
            <pc:sldLayoutMk cId="2825914993" sldId="214748366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CF45EBC-EB04-D21B-79DE-F49CB2500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111D4D-C714-097E-B3CD-3C71041FE0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C488E-B00C-4048-8979-EAD45543408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429A06-46F8-8A14-6C8E-887CBA5DA0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9F835-23D1-2EDC-C9E4-4B279D7262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33C8F-C504-4A87-8610-6B913BB327AD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542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24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97164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10201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Marcar o início do mapa de decisão que será reutilizado durante toda a aula.</a:t>
            </a:r>
          </a:p>
          <a:p>
            <a:endParaRPr lang="pt-BR"/>
          </a:p>
          <a:p>
            <a:r>
              <a:rPr lang="pt-BR"/>
              <a:t>Duração estimada: Aproximadamente 10 minutos.</a:t>
            </a:r>
          </a:p>
          <a:p>
            <a:endParaRPr lang="pt-BR"/>
          </a:p>
          <a:p>
            <a:r>
              <a:rPr lang="pt-BR"/>
              <a:t>Notas do apresentador:</a:t>
            </a:r>
          </a:p>
          <a:p>
            <a:r>
              <a:rPr lang="pt-BR"/>
              <a:t>Apresente esta parte como o mapa que será retomado antes de cada mecanismo. A mesma necessidade pode envolver mais de uma customização, mas cada uma deve ter uma responsabilidade identificável.</a:t>
            </a:r>
          </a:p>
          <a:p>
            <a:r>
              <a:rPr lang="pt-BR"/>
              <a:t>Evite começar por perguntas como “devo criar uma skill ou um agente?”. Primeiro determine o que precisa persistir, quando deve entrar em ação, quais capacidades são necessárias e se o comportamento precisa ser determinístico.</a:t>
            </a:r>
          </a:p>
          <a:p>
            <a:endParaRPr lang="pt-BR"/>
          </a:p>
          <a:p>
            <a:r>
              <a:rPr lang="pt-BR"/>
              <a:t>Transição:</a:t>
            </a:r>
          </a:p>
          <a:p>
            <a:r>
              <a:rPr lang="pt-BR"/>
              <a:t>“Quatro perguntas reduzem grande parte da ambiguidade.”</a:t>
            </a:r>
          </a:p>
          <a:p>
            <a:endParaRPr lang="pt-BR"/>
          </a:p>
          <a:p>
            <a:r>
              <a:rPr lang="pt-BR"/>
              <a:t>Links de apoio:</a:t>
            </a:r>
          </a:p>
          <a:p>
            <a:r>
              <a:rPr lang="pt-BR"/>
              <a:t>Cheat sheet de customizações do GitHub Copilot — https://docs.github.com/en/copilot/reference/customization-cheat-sheet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8460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pt-BR"/>
              <a:t>Objetivo: Comparar os mecanismos por necessidade, gatilho e escopo típico.</a:t>
            </a:r>
          </a:p>
          <a:p>
            <a:endParaRPr lang="pt-BR"/>
          </a:p>
          <a:p>
            <a:r>
              <a:rPr lang="pt-BR"/>
              <a:t>Notas do apresentador:</a:t>
            </a:r>
          </a:p>
          <a:p>
            <a:r>
              <a:rPr lang="pt-BR"/>
              <a:t>Percorra a coluna de necessidade antes de revelar o mecanismo correspondente. Destaque que os mecanismos são complementares.</a:t>
            </a:r>
          </a:p>
          <a:p>
            <a:r>
              <a:rPr lang="pt-BR"/>
              <a:t>Um custom agent pode usar instructions, descobrir skills, chamar tools MCP e operar sob hooks. Isso não significa que todo agente deva usar todos os mecanismos.</a:t>
            </a:r>
          </a:p>
          <a:p>
            <a:r>
              <a:rPr lang="pt-BR"/>
              <a:t>Subagent aparece na tabela como unidade de execução isolada, não como um arquivo obrigatório. Nesta aula, custom agents serão usados para definir quais especialistas podem ser delegados.</a:t>
            </a:r>
          </a:p>
          <a:p>
            <a:endParaRPr lang="pt-BR"/>
          </a:p>
          <a:p>
            <a:r>
              <a:rPr lang="pt-BR"/>
              <a:t>Transição:</a:t>
            </a:r>
          </a:p>
          <a:p>
            <a:r>
              <a:rPr lang="pt-BR"/>
              <a:t>“Com o mapa em mente, começaremos pelo mecanismo de contexto durável.”</a:t>
            </a:r>
          </a:p>
          <a:p>
            <a:endParaRPr lang="pt-BR"/>
          </a:p>
          <a:p>
            <a:r>
              <a:rPr lang="pt-BR"/>
              <a:t>Links de apoio:</a:t>
            </a:r>
          </a:p>
          <a:p>
            <a:r>
              <a:rPr lang="pt-BR"/>
              <a:t>Cheat sheet de customizações do GitHub Copilot — https://docs.github.com/en/copilot/reference/customization-cheat-sheet</a:t>
            </a:r>
          </a:p>
        </p:txBody>
      </p:sp>
    </p:spTree>
    <p:extLst>
      <p:ext uri="{BB962C8B-B14F-4D97-AF65-F5344CB8AC3E}">
        <p14:creationId xmlns:p14="http://schemas.microsoft.com/office/powerpoint/2010/main" val="3603150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Objetivo: Marcar o início do aprofundamento em instructions e seus diferentes escopos.</a:t>
            </a:r>
          </a:p>
          <a:p>
            <a:endParaRPr/>
          </a:p>
          <a:p>
            <a:r>
              <a:t>Duração estimada: Aproximadamente 30 minutos, incluindo demonstração.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Retome a repository instruction usada no Módulo 01. Agora o foco será distinguir onde uma instruction é armazenada, quando ela é aplicável e como comprovar que entrou no contexto.</a:t>
            </a:r>
          </a:p>
          <a:p>
            <a:r>
              <a:t>Não apresente instructions como garantias de execução. Elas orientam o modelo; validação e controles permanecem necessários.</a:t>
            </a:r>
          </a:p>
          <a:p>
            <a:endParaRPr/>
          </a:p>
          <a:p>
            <a:r>
              <a:t>Transição:</a:t>
            </a:r>
          </a:p>
          <a:p>
            <a:r>
              <a:t>“Uma instruction é durável, mas isso não significa que toda instruction deva valer para toda tarefa.”</a:t>
            </a:r>
          </a:p>
          <a:p>
            <a:endParaRPr/>
          </a:p>
          <a:p>
            <a:r>
              <a:t>Links de apoio:</a:t>
            </a:r>
          </a:p>
          <a:p>
            <a:r>
              <a:t>Custom instructions no VS Code — https://code.visualstudio.com/docs/agent-customization/custom-instructions</a:t>
            </a:r>
          </a:p>
          <a:p>
            <a:r>
              <a:t>Suporte aos tipos de custom instructions — https://docs.github.com/en/copilot/reference/custom-instructions-support</a:t>
            </a: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Definir o que pertence a uma </a:t>
            </a:r>
            <a:r>
              <a:rPr lang="pt-BR" dirty="0" err="1"/>
              <a:t>instruction</a:t>
            </a:r>
            <a:r>
              <a:rPr lang="pt-BR" dirty="0"/>
              <a:t> e reconhecer seus limites.</a:t>
            </a:r>
          </a:p>
          <a:p>
            <a:endParaRPr lang="pt-BR" dirty="0"/>
          </a:p>
          <a:p>
            <a:r>
              <a:rPr lang="pt-BR" dirty="0"/>
              <a:t>Notas do apresentador:</a:t>
            </a:r>
          </a:p>
          <a:p>
            <a:r>
              <a:rPr lang="pt-BR" dirty="0" err="1"/>
              <a:t>Instructions</a:t>
            </a:r>
            <a:r>
              <a:rPr lang="pt-BR" dirty="0"/>
              <a:t> reduzem a necessidade de repetir orientações em cada prompt. Devem ser curtas, estáveis e relevantes para o escopo em que serão aplicadas.</a:t>
            </a:r>
          </a:p>
          <a:p>
            <a:r>
              <a:rPr lang="pt-BR" dirty="0"/>
              <a:t>Evite incluir pedidos temporários, detalhes de uma única implementação ou cópias completas da especificação. Uma </a:t>
            </a:r>
            <a:r>
              <a:rPr lang="pt-BR" dirty="0" err="1"/>
              <a:t>instruction</a:t>
            </a:r>
            <a:r>
              <a:rPr lang="pt-BR" dirty="0"/>
              <a:t> pode apontar para a fonte </a:t>
            </a:r>
            <a:r>
              <a:rPr lang="pt-BR" dirty="0" err="1"/>
              <a:t>versionada</a:t>
            </a:r>
            <a:r>
              <a:rPr lang="pt-BR" dirty="0"/>
              <a:t> por link </a:t>
            </a:r>
            <a:r>
              <a:rPr lang="pt-BR" dirty="0" err="1"/>
              <a:t>Markdown</a:t>
            </a:r>
            <a:r>
              <a:rPr lang="pt-BR" dirty="0"/>
              <a:t>.</a:t>
            </a:r>
          </a:p>
          <a:p>
            <a:r>
              <a:rPr lang="pt-BR" dirty="0"/>
              <a:t>As </a:t>
            </a:r>
            <a:r>
              <a:rPr lang="pt-BR" dirty="0" err="1"/>
              <a:t>custom</a:t>
            </a:r>
            <a:r>
              <a:rPr lang="pt-BR" dirty="0"/>
              <a:t> </a:t>
            </a:r>
            <a:r>
              <a:rPr lang="pt-BR" dirty="0" err="1"/>
              <a:t>instructions</a:t>
            </a:r>
            <a:r>
              <a:rPr lang="pt-BR" dirty="0"/>
              <a:t> influenciam o Chat e os agentes. Elas não são consideradas pelas sugestões </a:t>
            </a:r>
            <a:r>
              <a:rPr lang="pt-BR" dirty="0" err="1"/>
              <a:t>inline</a:t>
            </a:r>
            <a:r>
              <a:rPr lang="pt-BR" dirty="0"/>
              <a:t> enquanto o desenvolvedor digita no editor.</a:t>
            </a:r>
          </a:p>
          <a:p>
            <a:endParaRPr lang="pt-BR" dirty="0"/>
          </a:p>
          <a:p>
            <a:r>
              <a:rPr lang="pt-BR" dirty="0"/>
              <a:t>Transição:</a:t>
            </a:r>
          </a:p>
          <a:p>
            <a:r>
              <a:rPr lang="pt-BR" dirty="0"/>
              <a:t>“O primeiro eixo de escolha é onde a </a:t>
            </a:r>
            <a:r>
              <a:rPr lang="pt-BR" dirty="0" err="1"/>
              <a:t>instruction</a:t>
            </a:r>
            <a:r>
              <a:rPr lang="pt-BR" dirty="0"/>
              <a:t> fica e em quais tarefas deve aparecer.”</a:t>
            </a:r>
          </a:p>
          <a:p>
            <a:endParaRPr lang="pt-BR" dirty="0"/>
          </a:p>
          <a:p>
            <a:r>
              <a:rPr lang="pt-BR" dirty="0"/>
              <a:t>Links de apoio:</a:t>
            </a:r>
          </a:p>
          <a:p>
            <a:r>
              <a:rPr lang="pt-BR" dirty="0"/>
              <a:t>Custom </a:t>
            </a:r>
            <a:r>
              <a:rPr lang="pt-BR" dirty="0" err="1"/>
              <a:t>instructions</a:t>
            </a:r>
            <a:r>
              <a:rPr lang="pt-BR" dirty="0"/>
              <a:t> no VS </a:t>
            </a:r>
            <a:r>
              <a:rPr lang="pt-BR" dirty="0" err="1"/>
              <a:t>Code</a:t>
            </a:r>
            <a:r>
              <a:rPr lang="pt-BR" dirty="0"/>
              <a:t> — https://code.visualstudio.com/docs/agent-customization/custom-instructions</a:t>
            </a:r>
          </a:p>
          <a:p>
            <a:r>
              <a:rPr lang="pt-BR" dirty="0"/>
              <a:t>Personalização de respostas do GitHub </a:t>
            </a:r>
            <a:r>
              <a:rPr lang="pt-BR" dirty="0" err="1"/>
              <a:t>Copilot</a:t>
            </a:r>
            <a:r>
              <a:rPr lang="pt-BR" dirty="0"/>
              <a:t> — https://docs.github.com/en/copilot/concepts/prompting/response-customization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48731E30-4AC6-64E2-4072-A40BD87BA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formatos</a:t>
            </a:r>
            <a:r>
              <a:rPr dirty="0"/>
              <a:t> </a:t>
            </a:r>
            <a:r>
              <a:rPr dirty="0" err="1"/>
              <a:t>versionados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orientam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 no </a:t>
            </a:r>
            <a:r>
              <a:rPr dirty="0" err="1"/>
              <a:t>repositório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Notas</a:t>
            </a:r>
            <a:r>
              <a:rPr dirty="0"/>
              <a:t> do </a:t>
            </a:r>
            <a:r>
              <a:rPr dirty="0" err="1"/>
              <a:t>apresentador</a:t>
            </a:r>
            <a:r>
              <a:rPr dirty="0"/>
              <a:t>:</a:t>
            </a:r>
          </a:p>
          <a:p>
            <a:r>
              <a:rPr dirty="0"/>
              <a:t>.</a:t>
            </a:r>
            <a:r>
              <a:rPr dirty="0" err="1"/>
              <a:t>github</a:t>
            </a:r>
            <a:r>
              <a:rPr dirty="0"/>
              <a:t>/copilot-instructions.md é a </a:t>
            </a:r>
            <a:r>
              <a:rPr dirty="0" err="1"/>
              <a:t>opção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para </a:t>
            </a:r>
            <a:r>
              <a:rPr dirty="0" err="1"/>
              <a:t>orientações</a:t>
            </a:r>
            <a:r>
              <a:rPr dirty="0"/>
              <a:t> </a:t>
            </a:r>
            <a:r>
              <a:rPr dirty="0" err="1"/>
              <a:t>válidas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o workspace.</a:t>
            </a:r>
          </a:p>
          <a:p>
            <a:r>
              <a:rPr dirty="0" err="1"/>
              <a:t>Arquivos</a:t>
            </a:r>
            <a:r>
              <a:rPr dirty="0"/>
              <a:t> *.instructions.md </a:t>
            </a:r>
            <a:r>
              <a:rPr dirty="0" err="1"/>
              <a:t>permitem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regras</a:t>
            </a:r>
            <a:r>
              <a:rPr dirty="0"/>
              <a:t> a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. O VS Code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applyTo</a:t>
            </a:r>
            <a:r>
              <a:rPr dirty="0"/>
              <a:t> e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usar a </a:t>
            </a:r>
            <a:r>
              <a:rPr dirty="0" err="1"/>
              <a:t>descrição</a:t>
            </a:r>
            <a:r>
              <a:rPr dirty="0"/>
              <a:t> </a:t>
            </a:r>
            <a:r>
              <a:rPr dirty="0" err="1"/>
              <a:t>semanticamente</a:t>
            </a:r>
            <a:r>
              <a:rPr dirty="0"/>
              <a:t>; </a:t>
            </a:r>
            <a:r>
              <a:rPr dirty="0" err="1"/>
              <a:t>uma</a:t>
            </a:r>
            <a:r>
              <a:rPr dirty="0"/>
              <a:t> instruction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applyTo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anexada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.</a:t>
            </a:r>
          </a:p>
          <a:p>
            <a:r>
              <a:rPr dirty="0"/>
              <a:t>AGENTS.md </a:t>
            </a:r>
            <a:r>
              <a:rPr dirty="0" err="1"/>
              <a:t>oferece</a:t>
            </a:r>
            <a:r>
              <a:rPr dirty="0"/>
              <a:t> um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reconhecido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. Um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raiz</a:t>
            </a:r>
            <a:r>
              <a:rPr dirty="0"/>
              <a:t> </a:t>
            </a:r>
            <a:r>
              <a:rPr dirty="0" err="1"/>
              <a:t>orienta</a:t>
            </a:r>
            <a:r>
              <a:rPr dirty="0"/>
              <a:t> o workspace.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aninhados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representar</a:t>
            </a:r>
            <a:r>
              <a:rPr dirty="0"/>
              <a:t> </a:t>
            </a:r>
            <a:r>
              <a:rPr dirty="0" err="1"/>
              <a:t>subárvores</a:t>
            </a:r>
            <a:r>
              <a:rPr dirty="0"/>
              <a:t>, mas esse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ser </a:t>
            </a:r>
            <a:r>
              <a:rPr dirty="0" err="1"/>
              <a:t>apresentado</a:t>
            </a:r>
            <a:r>
              <a:rPr dirty="0"/>
              <a:t> com a </a:t>
            </a:r>
            <a:r>
              <a:rPr dirty="0" err="1"/>
              <a:t>ressalva</a:t>
            </a:r>
            <a:r>
              <a:rPr dirty="0"/>
              <a:t> de </a:t>
            </a:r>
            <a:r>
              <a:rPr dirty="0" err="1"/>
              <a:t>disponibilidade</a:t>
            </a:r>
            <a:r>
              <a:rPr dirty="0"/>
              <a:t> experimental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aplicável</a:t>
            </a:r>
            <a:r>
              <a:rPr dirty="0"/>
              <a:t>.</a:t>
            </a:r>
          </a:p>
          <a:p>
            <a:r>
              <a:rPr dirty="0"/>
              <a:t>O </a:t>
            </a:r>
            <a:r>
              <a:rPr dirty="0" err="1"/>
              <a:t>suporte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idêntico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superfícies</a:t>
            </a:r>
            <a:r>
              <a:rPr dirty="0"/>
              <a:t>. Antes de </a:t>
            </a:r>
            <a:r>
              <a:rPr dirty="0" err="1"/>
              <a:t>depender</a:t>
            </a:r>
            <a:r>
              <a:rPr dirty="0"/>
              <a:t> de um </a:t>
            </a:r>
            <a:r>
              <a:rPr dirty="0" err="1"/>
              <a:t>formato</a:t>
            </a:r>
            <a:r>
              <a:rPr dirty="0"/>
              <a:t>, </a:t>
            </a:r>
            <a:r>
              <a:rPr dirty="0" err="1"/>
              <a:t>consulte</a:t>
            </a:r>
            <a:r>
              <a:rPr dirty="0"/>
              <a:t> a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vigente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Transição</a:t>
            </a:r>
            <a:r>
              <a:rPr dirty="0"/>
              <a:t>:</a:t>
            </a:r>
          </a:p>
          <a:p>
            <a:r>
              <a:rPr dirty="0"/>
              <a:t>“Nem </a:t>
            </a:r>
            <a:r>
              <a:rPr dirty="0" err="1"/>
              <a:t>toda</a:t>
            </a:r>
            <a:r>
              <a:rPr dirty="0"/>
              <a:t> instruction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pertencer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repositório</a:t>
            </a:r>
            <a:r>
              <a:rPr dirty="0"/>
              <a:t>.”</a:t>
            </a:r>
          </a:p>
          <a:p>
            <a:endParaRPr dirty="0"/>
          </a:p>
          <a:p>
            <a:r>
              <a:rPr dirty="0"/>
              <a:t>Links de </a:t>
            </a:r>
            <a:r>
              <a:rPr dirty="0" err="1"/>
              <a:t>apoio</a:t>
            </a:r>
            <a:r>
              <a:rPr dirty="0"/>
              <a:t>:</a:t>
            </a:r>
          </a:p>
          <a:p>
            <a:r>
              <a:rPr dirty="0"/>
              <a:t>Custom instructions no VS Code — https://code.visualstudio.com/docs/agent-customization/custom-instructions</a:t>
            </a:r>
          </a:p>
          <a:p>
            <a:r>
              <a:rPr dirty="0"/>
              <a:t>Suporte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de custom instructions — https://docs.github.com/en/copilot/reference/custom-instructions-support</a:t>
            </a: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Distinguir orientações compartilhadas pelo desenvolvedor das orientações administradas pela organização.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No VS Code, instructions do usuário ficam normalmente em ~/.copilot/instructions/ ou ~/.claude/rules/ e podem ser reutilizadas entre workspaces. O Agent Customizations editor cria e gerencia esses arquivos; Settings Sync pode ajudar a sincronizar as customizações do perfil quando configurado.</a:t>
            </a:r>
          </a:p>
          <a:p>
            <a:r>
              <a:t>Instructions organizacionais são administradas em Organization settings → Copilot → Custom instructions. Elas ficam armazenadas no GitHub, não em um arquivo de cada repositório. Seu suporte varia entre recursos e superfícies; não presuma que toda origem organizacional aparecerá da mesma maneira no VS Code, GitHub.com, code review ou cloud agent.</a:t>
            </a:r>
          </a:p>
          <a:p>
            <a:r>
              <a:t>Evite regras pessoais que alterem silenciosamente contratos do repositório. Se uma orientação pessoal ou organizacional conflitar com uma especificação versionada, o conflito precisa ser tratado explicitamente.</a:t>
            </a:r>
          </a:p>
          <a:p>
            <a:endParaRPr/>
          </a:p>
          <a:p>
            <a:r>
              <a:t>Transição:</a:t>
            </a:r>
          </a:p>
          <a:p>
            <a:r>
              <a:t>“Armazenamento e aplicação são eixos diferentes; vamos separá-los visualmente.”</a:t>
            </a:r>
          </a:p>
          <a:p>
            <a:endParaRPr/>
          </a:p>
          <a:p>
            <a:r>
              <a:t>Links de apoio:</a:t>
            </a:r>
          </a:p>
          <a:p>
            <a:r>
              <a:t>Custom instructions no VS Code — https://code.visualstudio.com/docs/agent-customization/custom-instructions</a:t>
            </a:r>
          </a:p>
          <a:p>
            <a:r>
              <a:t>Suporte aos tipos de custom instructions — https://docs.github.com/en/copilot/reference/custom-instructions-support</a:t>
            </a:r>
          </a:p>
          <a:p>
            <a:r>
              <a:t>Adicionar instructions organizacionais — https://docs.github.com/en/copilot/how-tos/copilot-on-github/customize-copilot/add-custom-instructions/add-organization-instructions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8</a:t>
            </a:fld>
            <a:endParaRPr lang="LID4096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Separar escopo de armazenamento de escopo de aplicação.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Use o exemplo da demo: api.instructions.md e tests.instructions.md são armazenadas no workspace, mas não devem acompanhar todas as tarefas.</a:t>
            </a:r>
          </a:p>
          <a:p>
            <a:r>
              <a:t>O front matter applyTo controla a aplicação automática por caminho. Sem applyTo, o arquivo continua disponível para anexo manual.</a:t>
            </a:r>
          </a:p>
          <a:p>
            <a:r>
              <a:t>Uma User Instruction também pode ter aplicação condicionada. Portanto, “pessoal” não significa “sempre ativa”, assim como “workspace” não significa “aplicável a todo o workspace”.</a:t>
            </a:r>
          </a:p>
          <a:p>
            <a:endParaRPr/>
          </a:p>
          <a:p>
            <a:r>
              <a:t>Transição:</a:t>
            </a:r>
          </a:p>
          <a:p>
            <a:r>
              <a:t>“Nos arquivos por caminho, três campos tornam essa intenção visível.”</a:t>
            </a:r>
          </a:p>
          <a:p>
            <a:endParaRPr/>
          </a:p>
          <a:p>
            <a:r>
              <a:t>Links de apoio:</a:t>
            </a:r>
          </a:p>
          <a:p>
            <a:r>
              <a:t>Instructions file locations — https://code.visualstudio.com/docs/agent-customization/custom-instructions#_instructions-file-locations</a:t>
            </a:r>
          </a:p>
          <a:p>
            <a:r>
              <a:t>Instructions file format — https://code.visualstudio.com/docs/agent-customization/custom-instructions#_instructions-file-format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9</a:t>
            </a:fld>
            <a:endParaRPr lang="LID4096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Apresentar os campos que identificam e delimitam uma instruction baseada em arquivo.</a:t>
            </a:r>
          </a:p>
          <a:p>
            <a:endParaRPr/>
          </a:p>
          <a:p>
            <a:r>
              <a:t>Notas do apresentador:</a:t>
            </a:r>
          </a:p>
          <a:p>
            <a:r>
              <a:t>Todos os campos são opcionais. Isso não significa que sejam dispensáveis em todos os casos.</a:t>
            </a:r>
          </a:p>
          <a:p>
            <a:r>
              <a:t>Uma descrição precisa ajuda a interface e a seleção semântica a comunicar a finalidade do arquivo. applyTo deve ser relativo à raiz do workspace e coerente com a pasta aberta no VS Code.</a:t>
            </a:r>
          </a:p>
          <a:p>
            <a:r>
              <a:t>Use ** quando a instruction realmente deve valer para todos os arquivos. Não aplique um glob abrangente apenas para garantir que a regra “funcione”; isso aumenta contexto irrelevante e pode produzir conflitos.</a:t>
            </a:r>
          </a:p>
          <a:p>
            <a:endParaRPr/>
          </a:p>
          <a:p>
            <a:r>
              <a:t>Transição:</a:t>
            </a:r>
          </a:p>
          <a:p>
            <a:r>
              <a:t>“Com os arquivos disponíveis, a ferramenta ainda precisa descobrir quais são aplicáveis à tarefa atual.”</a:t>
            </a:r>
          </a:p>
          <a:p>
            <a:endParaRPr/>
          </a:p>
          <a:p>
            <a:r>
              <a:t>Links de apoio:</a:t>
            </a:r>
          </a:p>
          <a:p>
            <a:r>
              <a:t>Instructions file format — https://code.visualstudio.com/docs/agent-customization/custom-instructions#_instructions-file-format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10</a:t>
            </a:fld>
            <a:endParaRPr lang="LID4096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Visualizar descoberta, aplicabilidade, composição e verificação.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Apresente o fluxo como modelo conceitual. O produto localiza customizações nas origens suportadas, inclui orientações gerais e avalia arquivos específicos por glob, tarefa ou anexo manual.</a:t>
            </a:r>
          </a:p>
          <a:p>
            <a:r>
              <a:t>Ao abrir somente uma subpasta de um monorepo, customizações acima da raiz podem não ser descobertas sem configuração adicional. Para as demos, abrir sempre a raiz do repositório.</a:t>
            </a:r>
          </a:p>
          <a:p>
            <a:r>
              <a:t>Depois de editar, habilitar ou desabilitar uma instruction, iniciar uma nova conversa ajuda a evitar que o histórico anterior mascare a mudança.</a:t>
            </a:r>
          </a:p>
          <a:p>
            <a:endParaRPr/>
          </a:p>
          <a:p>
            <a:r>
              <a:t>Transição:</a:t>
            </a:r>
          </a:p>
          <a:p>
            <a:r>
              <a:t>“Quando mais de uma instruction é aplicável, combinação não significa hierarquia universal.”</a:t>
            </a:r>
          </a:p>
          <a:p>
            <a:endParaRPr/>
          </a:p>
          <a:p>
            <a:r>
              <a:t>Links de apoio:</a:t>
            </a:r>
          </a:p>
          <a:p>
            <a:r>
              <a:t>Custom instructions no VS Code — https://code.visualstudio.com/docs/agent-customization/custom-instructions</a:t>
            </a:r>
          </a:p>
          <a:p>
            <a:r>
              <a:t>Customizations em repositórios pai — https://code.visualstudio.com/docs/agent-customization/overview#_use-customizations-in-a-monorepo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11</a:t>
            </a:fld>
            <a:endParaRPr lang="LID4096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Evitar que instructions sejam projetadas como uma cadeia implícita de sobrescritas.</a:t>
            </a:r>
          </a:p>
          <a:p>
            <a:endParaRPr/>
          </a:p>
          <a:p>
            <a:r>
              <a:t>Notas do apresentador:</a:t>
            </a:r>
          </a:p>
          <a:p>
            <a:r>
              <a:t>O VS Code pode combinar múltiplos arquivos aplicáveis e não garante uma ordem específica entre eles. Não dependa de uma regra pessoal “vencer” uma regra do repositório nem de AGENTS.md sobrescrever .github/copilot-instructions.md.</a:t>
            </a:r>
          </a:p>
          <a:p>
            <a:r>
              <a:t>Distribua responsabilidades:</a:t>
            </a:r>
          </a:p>
          <a:p>
            <a:r>
              <a:t>- orientação ampla no arquivo geral;</a:t>
            </a:r>
          </a:p>
          <a:p>
            <a:r>
              <a:t>- convenções especializadas nos arquivos por caminho;</a:t>
            </a:r>
          </a:p>
          <a:p>
            <a:r>
              <a:t>- contrato detalhado na especificação;</a:t>
            </a:r>
          </a:p>
          <a:p>
            <a:r>
              <a:t>- tarefa atual no prompt.</a:t>
            </a:r>
          </a:p>
          <a:p>
            <a:r>
              <a:t>Se duas regras aplicáveis se contradisserem, trate isso como problema de governança e contexto, não como experimento de precedência.</a:t>
            </a:r>
          </a:p>
          <a:p>
            <a:endParaRPr/>
          </a:p>
          <a:p>
            <a:r>
              <a:t>Transição:</a:t>
            </a:r>
          </a:p>
          <a:p>
            <a:r>
              <a:t>“Como saber, então, quais instructions foram realmente consideradas?”</a:t>
            </a:r>
          </a:p>
          <a:p>
            <a:endParaRPr/>
          </a:p>
          <a:p>
            <a:r>
              <a:t>Links de apoio:</a:t>
            </a:r>
          </a:p>
          <a:p>
            <a:r>
              <a:t>Tipos de instruction files no VS Code — https://code.visualstudio.com/docs/agent-customization/custom-instructions#_types-of-instruction-files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12</a:t>
            </a:fld>
            <a:endParaRPr lang="LID4096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Demonstrar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,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caminho</a:t>
            </a:r>
            <a:r>
              <a:rPr dirty="0"/>
              <a:t> e </a:t>
            </a:r>
            <a:r>
              <a:rPr dirty="0" err="1"/>
              <a:t>anexo</a:t>
            </a:r>
            <a:r>
              <a:rPr dirty="0"/>
              <a:t> manual de instructions.</a:t>
            </a:r>
          </a:p>
          <a:p>
            <a:endParaRPr dirty="0"/>
          </a:p>
          <a:p>
            <a:r>
              <a:rPr dirty="0" err="1"/>
              <a:t>Notas</a:t>
            </a:r>
            <a:r>
              <a:rPr dirty="0"/>
              <a:t> do </a:t>
            </a:r>
            <a:r>
              <a:rPr dirty="0" err="1"/>
              <a:t>apresentador</a:t>
            </a:r>
            <a:r>
              <a:rPr dirty="0"/>
              <a:t>:</a:t>
            </a:r>
          </a:p>
          <a:p>
            <a:r>
              <a:rPr dirty="0" err="1"/>
              <a:t>Repositório</a:t>
            </a:r>
            <a:r>
              <a:rPr dirty="0"/>
              <a:t> da demo:</a:t>
            </a:r>
          </a:p>
          <a:p>
            <a:r>
              <a:rPr dirty="0"/>
              <a:t>https://github.com/impacta-ghcp-eng-moderna/02-demo-instructions</a:t>
            </a:r>
          </a:p>
          <a:p>
            <a:r>
              <a:rPr dirty="0"/>
              <a:t>O README </a:t>
            </a:r>
            <a:r>
              <a:rPr dirty="0" err="1"/>
              <a:t>contém</a:t>
            </a:r>
            <a:r>
              <a:rPr dirty="0"/>
              <a:t> a </a:t>
            </a:r>
            <a:r>
              <a:rPr dirty="0" err="1"/>
              <a:t>preparação</a:t>
            </a:r>
            <a:r>
              <a:rPr dirty="0"/>
              <a:t>, </a:t>
            </a:r>
            <a:r>
              <a:rPr dirty="0" err="1"/>
              <a:t>os</a:t>
            </a:r>
            <a:r>
              <a:rPr dirty="0"/>
              <a:t> prompts, as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esperadas</a:t>
            </a:r>
            <a:r>
              <a:rPr dirty="0"/>
              <a:t> e as </a:t>
            </a:r>
            <a:r>
              <a:rPr dirty="0" err="1"/>
              <a:t>opções</a:t>
            </a:r>
            <a:r>
              <a:rPr dirty="0"/>
              <a:t> de </a:t>
            </a:r>
            <a:r>
              <a:rPr dirty="0" err="1"/>
              <a:t>recuperação</a:t>
            </a:r>
            <a:r>
              <a:rPr dirty="0"/>
              <a:t>. Durante a </a:t>
            </a:r>
            <a:r>
              <a:rPr dirty="0" err="1"/>
              <a:t>execução</a:t>
            </a:r>
            <a:r>
              <a:rPr dirty="0"/>
              <a:t>, </a:t>
            </a:r>
            <a:r>
              <a:rPr dirty="0" err="1"/>
              <a:t>priorize</a:t>
            </a:r>
            <a:r>
              <a:rPr dirty="0"/>
              <a:t> a </a:t>
            </a:r>
            <a:r>
              <a:rPr dirty="0" err="1"/>
              <a:t>comparação</a:t>
            </a:r>
            <a:r>
              <a:rPr dirty="0"/>
              <a:t> entre as </a:t>
            </a:r>
            <a:r>
              <a:rPr dirty="0" err="1"/>
              <a:t>referências</a:t>
            </a:r>
            <a:r>
              <a:rPr dirty="0"/>
              <a:t> </a:t>
            </a:r>
            <a:r>
              <a:rPr dirty="0" err="1"/>
              <a:t>carregadas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escopos</a:t>
            </a:r>
            <a:r>
              <a:rPr dirty="0"/>
              <a:t>;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marcadores</a:t>
            </a:r>
            <a:r>
              <a:rPr dirty="0"/>
              <a:t> </a:t>
            </a:r>
            <a:r>
              <a:rPr dirty="0" err="1"/>
              <a:t>textuais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apoio</a:t>
            </a:r>
            <a:r>
              <a:rPr dirty="0"/>
              <a:t> visual.</a:t>
            </a:r>
          </a:p>
          <a:p>
            <a:endParaRPr dirty="0"/>
          </a:p>
          <a:p>
            <a:r>
              <a:rPr dirty="0" err="1"/>
              <a:t>Transição</a:t>
            </a:r>
            <a:r>
              <a:rPr dirty="0"/>
              <a:t>:</a:t>
            </a:r>
          </a:p>
          <a:p>
            <a:r>
              <a:rPr dirty="0"/>
              <a:t>“Agora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ordenar</a:t>
            </a:r>
            <a:r>
              <a:rPr dirty="0"/>
              <a:t> as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observadas</a:t>
            </a:r>
            <a:r>
              <a:rPr dirty="0"/>
              <a:t>, da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à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fraca</a:t>
            </a:r>
            <a:r>
              <a:rPr dirty="0"/>
              <a:t>.”</a:t>
            </a:r>
          </a:p>
          <a:p>
            <a:endParaRPr dirty="0"/>
          </a:p>
          <a:p>
            <a:r>
              <a:rPr dirty="0"/>
              <a:t>Links de </a:t>
            </a:r>
            <a:r>
              <a:rPr dirty="0" err="1"/>
              <a:t>apoio</a:t>
            </a:r>
            <a:r>
              <a:rPr dirty="0"/>
              <a:t>:</a:t>
            </a:r>
          </a:p>
          <a:p>
            <a:r>
              <a:rPr dirty="0" err="1"/>
              <a:t>Repositório</a:t>
            </a:r>
            <a:r>
              <a:rPr dirty="0"/>
              <a:t> da demo de instructions — https://github.com/impacta-ghcp-eng-moderna/02-demo-instructions</a:t>
            </a:r>
          </a:p>
          <a:p>
            <a:r>
              <a:rPr dirty="0"/>
              <a:t>Custom instructions no VS Code — https://code.visualstudio.com/docs/agent-customization/custom-instructions</a:t>
            </a:r>
          </a:p>
          <a:p>
            <a:r>
              <a:rPr dirty="0"/>
              <a:t>Suporte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de custom instructions — https://docs.github.com/en/copilot/reference/custom-instructions-support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13</a:t>
            </a:fld>
            <a:endParaRPr lang="LID4096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Objetivo</a:t>
            </a:r>
            <a:r>
              <a:rPr dirty="0"/>
              <a:t>: Marcar a </a:t>
            </a:r>
            <a:r>
              <a:rPr dirty="0" err="1"/>
              <a:t>transição</a:t>
            </a:r>
            <a:r>
              <a:rPr dirty="0"/>
              <a:t> entre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aplicado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 e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reutilizáveis</a:t>
            </a:r>
            <a:r>
              <a:rPr dirty="0"/>
              <a:t> </a:t>
            </a:r>
            <a:r>
              <a:rPr dirty="0" err="1"/>
              <a:t>invocadas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Duração</a:t>
            </a:r>
            <a:r>
              <a:rPr dirty="0"/>
              <a:t> </a:t>
            </a:r>
            <a:r>
              <a:rPr dirty="0" err="1"/>
              <a:t>estimada</a:t>
            </a:r>
            <a:r>
              <a:rPr dirty="0"/>
              <a:t>: </a:t>
            </a:r>
            <a:r>
              <a:rPr dirty="0" err="1"/>
              <a:t>Aproximadamente</a:t>
            </a:r>
            <a:r>
              <a:rPr dirty="0"/>
              <a:t> 10 </a:t>
            </a:r>
            <a:r>
              <a:rPr dirty="0" err="1"/>
              <a:t>minutos</a:t>
            </a:r>
            <a:r>
              <a:rPr dirty="0"/>
              <a:t>, </a:t>
            </a:r>
            <a:r>
              <a:rPr dirty="0" err="1"/>
              <a:t>incluindo</a:t>
            </a:r>
            <a:r>
              <a:rPr dirty="0"/>
              <a:t> </a:t>
            </a:r>
            <a:r>
              <a:rPr dirty="0" err="1"/>
              <a:t>explicação</a:t>
            </a:r>
            <a:r>
              <a:rPr dirty="0"/>
              <a:t> e </a:t>
            </a:r>
            <a:r>
              <a:rPr dirty="0" err="1"/>
              <a:t>demonstração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Notas</a:t>
            </a:r>
            <a:r>
              <a:rPr dirty="0"/>
              <a:t> do </a:t>
            </a:r>
            <a:r>
              <a:rPr dirty="0" err="1"/>
              <a:t>apresentador</a:t>
            </a:r>
            <a:r>
              <a:rPr dirty="0"/>
              <a:t>:</a:t>
            </a:r>
          </a:p>
          <a:p>
            <a:r>
              <a:rPr dirty="0"/>
              <a:t>Retome </a:t>
            </a:r>
            <a:r>
              <a:rPr dirty="0" err="1"/>
              <a:t>brevemente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acabou</a:t>
            </a:r>
            <a:r>
              <a:rPr dirty="0"/>
              <a:t> de ser </a:t>
            </a:r>
            <a:r>
              <a:rPr dirty="0" err="1"/>
              <a:t>observado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Instruction Files: </a:t>
            </a:r>
            <a:r>
              <a:rPr dirty="0" err="1"/>
              <a:t>elas</a:t>
            </a:r>
            <a:r>
              <a:rPr dirty="0"/>
              <a:t> </a:t>
            </a:r>
            <a:r>
              <a:rPr dirty="0" err="1"/>
              <a:t>orientam</a:t>
            </a:r>
            <a:r>
              <a:rPr dirty="0"/>
              <a:t> o Copilot </a:t>
            </a:r>
            <a:r>
              <a:rPr dirty="0" err="1"/>
              <a:t>automaticamente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escopo</a:t>
            </a:r>
            <a:r>
              <a:rPr dirty="0"/>
              <a:t>. Prompt files </a:t>
            </a:r>
            <a:r>
              <a:rPr dirty="0" err="1"/>
              <a:t>resolvem</a:t>
            </a:r>
            <a:r>
              <a:rPr dirty="0"/>
              <a:t> </a:t>
            </a:r>
            <a:r>
              <a:rPr dirty="0" err="1"/>
              <a:t>outra</a:t>
            </a:r>
            <a:r>
              <a:rPr dirty="0"/>
              <a:t> </a:t>
            </a:r>
            <a:r>
              <a:rPr dirty="0" err="1"/>
              <a:t>necessidade</a:t>
            </a:r>
            <a:r>
              <a:rPr dirty="0"/>
              <a:t>: </a:t>
            </a:r>
            <a:r>
              <a:rPr dirty="0" err="1"/>
              <a:t>empacotar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tarefa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decide </a:t>
            </a:r>
            <a:r>
              <a:rPr dirty="0" err="1"/>
              <a:t>executar</a:t>
            </a:r>
            <a:r>
              <a:rPr dirty="0"/>
              <a:t>.</a:t>
            </a:r>
          </a:p>
          <a:p>
            <a:r>
              <a:rPr dirty="0"/>
              <a:t>O </a:t>
            </a:r>
            <a:r>
              <a:rPr dirty="0" err="1"/>
              <a:t>Módulo</a:t>
            </a:r>
            <a:r>
              <a:rPr dirty="0"/>
              <a:t> 01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utilizou</a:t>
            </a:r>
            <a:r>
              <a:rPr dirty="0"/>
              <a:t> um prompt file para </a:t>
            </a:r>
            <a:r>
              <a:rPr dirty="0" err="1"/>
              <a:t>repetir</a:t>
            </a:r>
            <a:r>
              <a:rPr dirty="0"/>
              <a:t> o </a:t>
            </a:r>
            <a:r>
              <a:rPr dirty="0" err="1"/>
              <a:t>método</a:t>
            </a:r>
            <a:r>
              <a:rPr dirty="0"/>
              <a:t> </a:t>
            </a:r>
            <a:r>
              <a:rPr dirty="0" err="1"/>
              <a:t>validado</a:t>
            </a:r>
            <a:r>
              <a:rPr dirty="0"/>
              <a:t> de </a:t>
            </a:r>
            <a:r>
              <a:rPr dirty="0" err="1"/>
              <a:t>criação</a:t>
            </a:r>
            <a:r>
              <a:rPr dirty="0"/>
              <a:t> de endpoints. Nesta </a:t>
            </a:r>
            <a:r>
              <a:rPr dirty="0" err="1"/>
              <a:t>parte</a:t>
            </a:r>
            <a:r>
              <a:rPr dirty="0"/>
              <a:t>, o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recriar</a:t>
            </a:r>
            <a:r>
              <a:rPr dirty="0"/>
              <a:t> </a:t>
            </a:r>
            <a:r>
              <a:rPr dirty="0" err="1"/>
              <a:t>aquele</a:t>
            </a:r>
            <a:r>
              <a:rPr dirty="0"/>
              <a:t> </a:t>
            </a:r>
            <a:r>
              <a:rPr dirty="0" err="1"/>
              <a:t>arquivo</a:t>
            </a:r>
            <a:r>
              <a:rPr dirty="0"/>
              <a:t>, mas </a:t>
            </a:r>
            <a:r>
              <a:rPr dirty="0" err="1"/>
              <a:t>compreender</a:t>
            </a:r>
            <a:r>
              <a:rPr dirty="0"/>
              <a:t>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 de </a:t>
            </a:r>
            <a:r>
              <a:rPr dirty="0" err="1"/>
              <a:t>execução</a:t>
            </a:r>
            <a:r>
              <a:rPr dirty="0"/>
              <a:t>: entradas, </a:t>
            </a:r>
            <a:r>
              <a:rPr dirty="0" err="1"/>
              <a:t>agente</a:t>
            </a:r>
            <a:r>
              <a:rPr dirty="0"/>
              <a:t>, </a:t>
            </a:r>
            <a:r>
              <a:rPr dirty="0" err="1"/>
              <a:t>modelo</a:t>
            </a:r>
            <a:r>
              <a:rPr dirty="0"/>
              <a:t>, tools, </a:t>
            </a:r>
            <a:r>
              <a:rPr dirty="0" err="1"/>
              <a:t>referências</a:t>
            </a:r>
            <a:r>
              <a:rPr dirty="0"/>
              <a:t> e </a:t>
            </a:r>
            <a:r>
              <a:rPr dirty="0" err="1"/>
              <a:t>limites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Transição</a:t>
            </a:r>
            <a:r>
              <a:rPr dirty="0"/>
              <a:t>:</a:t>
            </a:r>
          </a:p>
          <a:p>
            <a:r>
              <a:rPr dirty="0"/>
              <a:t>“Se instructions </a:t>
            </a:r>
            <a:r>
              <a:rPr dirty="0" err="1"/>
              <a:t>dizem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trabalhar</a:t>
            </a:r>
            <a:r>
              <a:rPr dirty="0"/>
              <a:t> </a:t>
            </a:r>
            <a:r>
              <a:rPr dirty="0" err="1"/>
              <a:t>neste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,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registramos</a:t>
            </a:r>
            <a:r>
              <a:rPr dirty="0"/>
              <a:t> qual </a:t>
            </a:r>
            <a:r>
              <a:rPr dirty="0" err="1"/>
              <a:t>tarefa</a:t>
            </a:r>
            <a:r>
              <a:rPr dirty="0"/>
              <a:t> </a:t>
            </a:r>
            <a:r>
              <a:rPr dirty="0" err="1"/>
              <a:t>queremos</a:t>
            </a:r>
            <a:r>
              <a:rPr dirty="0"/>
              <a:t> </a:t>
            </a:r>
            <a:r>
              <a:rPr dirty="0" err="1"/>
              <a:t>executar</a:t>
            </a:r>
            <a:r>
              <a:rPr dirty="0"/>
              <a:t> agora?”</a:t>
            </a:r>
          </a:p>
          <a:p>
            <a:endParaRPr dirty="0"/>
          </a:p>
          <a:p>
            <a:r>
              <a:rPr dirty="0"/>
              <a:t>Links de </a:t>
            </a:r>
            <a:r>
              <a:rPr dirty="0" err="1"/>
              <a:t>apoio</a:t>
            </a:r>
            <a:r>
              <a:rPr dirty="0"/>
              <a:t>:</a:t>
            </a:r>
          </a:p>
          <a:p>
            <a:r>
              <a:rPr dirty="0"/>
              <a:t>Prompt files no VS Code — https://code.visualstudio.com/docs/agent-customization/prompt-files</a:t>
            </a:r>
          </a:p>
          <a:p>
            <a:r>
              <a:rPr dirty="0"/>
              <a:t>Cheat sheet de </a:t>
            </a:r>
            <a:r>
              <a:rPr dirty="0" err="1"/>
              <a:t>customizações</a:t>
            </a:r>
            <a:r>
              <a:rPr dirty="0"/>
              <a:t> do GitHub Copilot — https://docs.github.com/en/copilot/reference/customization-cheat-sheet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14</a:t>
            </a:fld>
            <a:endParaRPr lang="LID4096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Diferenciar prompt files de instructions, skills e custom agents pela responsabilidade principal.</a:t>
            </a:r>
          </a:p>
          <a:p>
            <a:endParaRPr/>
          </a:p>
          <a:p>
            <a:r>
              <a:t>Notas do apresentador:</a:t>
            </a:r>
          </a:p>
          <a:p>
            <a:r>
              <a:t>Explique que um prompt file é um template Markdown reutilizável. Ele mantém a estrutura de um bom prompt — tarefa, contexto, restrições, formato e validação — e recebe valores diferentes a cada execução. Pode representar tarefas como criar um endpoint, preparar um pull request ou executar uma revisão recorrente.</a:t>
            </a:r>
          </a:p>
          <a:p>
            <a:r>
              <a:t>O usuário decide quando invocá-lo, normalmente pelo menu /, pelo comando Chat: Run Prompt ou pelo botão de execução no editor. Isso o diferencia de uma instruction aplicada automaticamente. Uma skill pode carregar procedimento e recursos quando a tarefa for relevante; um custom agent configura quem executa, com quais tools e possibilidades de delegação.</a:t>
            </a:r>
          </a:p>
          <a:p>
            <a:r>
              <a:t>Prompt files podem existir no workspace ou no perfil do usuário. No repositório, ficam por padrão em .github/prompts/. Um prompt file pode referenciar especificações e outros arquivos por links Markdown. Isso evita copiar contratos e orientações duráveis para cada tarefa.</a:t>
            </a:r>
          </a:p>
          <a:p>
            <a:r>
              <a:t>Ressalte que agentes executados no Agent Host não usam prompt files. Para esse ambiente, a documentação recomenda transformar o fluxo em uma Agent Skill. Prompt files continuam adequados aos agentes locais executados pela extensão do VS Code.</a:t>
            </a:r>
          </a:p>
          <a:p>
            <a:endParaRPr/>
          </a:p>
          <a:p>
            <a:r>
              <a:t>Transição:</a:t>
            </a:r>
          </a:p>
          <a:p>
            <a:r>
              <a:t>“Além do texto da tarefa, o arquivo pode configurar como essa execução acontecerá.”</a:t>
            </a:r>
          </a:p>
          <a:p>
            <a:endParaRPr/>
          </a:p>
          <a:p>
            <a:r>
              <a:t>Links de apoio:</a:t>
            </a:r>
          </a:p>
          <a:p>
            <a:r>
              <a:t>Prompt files no VS Code — https://code.visualstudio.com/docs/agent-customization/prompt-files</a:t>
            </a:r>
          </a:p>
          <a:p>
            <a:r>
              <a:t>Cheat sheet de customizações do GitHub Copilot — https://docs.github.com/en/copilot/reference/customization-cheat-sheet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15</a:t>
            </a:fld>
            <a:endParaRPr lang="LID4096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Apresentar os campos que alteram a descoberta e a execução de um prompt file.</a:t>
            </a:r>
          </a:p>
          <a:p>
            <a:endParaRPr/>
          </a:p>
          <a:p>
            <a:r>
              <a:t>Notas do apresentador:</a:t>
            </a:r>
          </a:p>
          <a:p>
            <a:r>
              <a:t>Percorra a tabela por responsabilidade, não como uma lista para memorização.</a:t>
            </a:r>
          </a:p>
          <a:p>
            <a:r>
              <a:t>name, description e argument-hint tornam o prompt localizável e orientam sua invocação. agent, model e tools moldam a execução.</a:t>
            </a:r>
          </a:p>
          <a:p>
            <a:r>
              <a:t>Explique a prioridade documentada das tools:</a:t>
            </a:r>
          </a:p>
          <a:p>
            <a:r>
              <a:t>- tools declaradas no prompt file;</a:t>
            </a:r>
          </a:p>
          <a:p>
            <a:r>
              <a:t>- tools do custom agent referenciado;</a:t>
            </a:r>
          </a:p>
          <a:p>
            <a:r>
              <a:t>- tools padrão do agente selecionado.</a:t>
            </a:r>
          </a:p>
          <a:p>
            <a:r>
              <a:t>Se uma tool declarada não estiver disponível no ambiente, ela será ignorada. Portanto, declarar uma tool não instala a capacidade nem garante que ela exista.</a:t>
            </a:r>
          </a:p>
          <a:p>
            <a:r>
              <a:t>Um modelo explícito também não torna a saída determinística. Disponibilidade pode variar por versão, plano e política. Se o modelo não estiver disponível, o instrutor deve escolher um modelo acessível ou remover o campo antes da aula.</a:t>
            </a:r>
          </a:p>
          <a:p>
            <a:endParaRPr/>
          </a:p>
          <a:p>
            <a:r>
              <a:t>Transição:</a:t>
            </a:r>
          </a:p>
          <a:p>
            <a:r>
              <a:t>“O front matter configura a execução; o corpo, as entradas, as referências e as instructions formam o contexto da tarefa.”</a:t>
            </a:r>
          </a:p>
          <a:p>
            <a:endParaRPr/>
          </a:p>
          <a:p>
            <a:r>
              <a:t>Links de apoio:</a:t>
            </a:r>
          </a:p>
          <a:p>
            <a:r>
              <a:t>Formato de prompt files no VS Code — https://code.visualstudio.com/docs/agent-customization/prompt-files#_prompt-file-format</a:t>
            </a:r>
          </a:p>
          <a:p>
            <a:r>
              <a:t>Prioridade da lista de tools — https://code.visualstudio.com/docs/agent-customization/prompt-files#_tool-list-priority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16</a:t>
            </a:fld>
            <a:endParaRPr lang="LID4096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Demonstrar uma tarefa reutilizável e parametrizada executada por meio de um prompt file.</a:t>
            </a:r>
          </a:p>
          <a:p>
            <a:endParaRPr/>
          </a:p>
          <a:p>
            <a:r>
              <a:t>Notas do apresentador:</a:t>
            </a:r>
          </a:p>
          <a:p>
            <a:r>
              <a:t>Repositório da demo:</a:t>
            </a:r>
          </a:p>
          <a:p>
            <a:r>
              <a:t>https://github.com/impacta-ghcp-eng-moderna/02-demo-prompt-file</a:t>
            </a:r>
          </a:p>
          <a:p>
            <a:r>
              <a:t>O README contém a preparação, as entradas, o prompt executado e as formas de validação. O objetivo é tornar visível o contrato configurado pelo prompt file, não repetir um walkthrough de implementação.</a:t>
            </a:r>
          </a:p>
          <a:p>
            <a:endParaRPr/>
          </a:p>
          <a:p>
            <a:r>
              <a:t>Transição:</a:t>
            </a:r>
          </a:p>
          <a:p>
            <a:r>
              <a:t>“O prompt file define uma tarefa. Na próxima parte, veremos como definir quem a executa, com quais capacidades e para quem pode delegar.”</a:t>
            </a:r>
          </a:p>
          <a:p>
            <a:endParaRPr/>
          </a:p>
          <a:p>
            <a:r>
              <a:t>Links de apoio:</a:t>
            </a:r>
          </a:p>
          <a:p>
            <a:r>
              <a:t>Repositório da demo de prompt files — https://github.com/impacta-ghcp-eng-moderna/02-demo-prompt-file</a:t>
            </a:r>
          </a:p>
          <a:p>
            <a:r>
              <a:t>Prompt files no VS Code — https://code.visualstudio.com/docs/agent-customization/prompt-files</a:t>
            </a:r>
          </a:p>
          <a:p>
            <a:r>
              <a:t>Cheat sheet de customizações do GitHub Copilot — https://docs.github.com/en/copilot/reference/customization-cheat-sheet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17</a:t>
            </a:fld>
            <a:endParaRPr lang="LID4096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Marcar a transição de tarefas reutilizáveis para papéis especializados, delegação isolada e transições supervisionadas.</a:t>
            </a:r>
          </a:p>
          <a:p>
            <a:endParaRPr/>
          </a:p>
          <a:p>
            <a:r>
              <a:t>Duração estimada: Aproximadamente 20 minutos, incluindo demonstração.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Conecte esta parte ao prompt file: o prompt file empacota uma tarefa; um custom agent configura o papel que a executa, suas instruções e as capacidades disponíveis.</a:t>
            </a:r>
          </a:p>
          <a:p>
            <a:r>
              <a:t>Antecipe as duas distinções que orientarão o bloco. Um subagent recebe uma subtarefa em contexto isolado e devolve o resultado ao agente principal. Um handoff não delega trabalho: ele oferece uma transição para outro agente e para a próxima etapa do fluxo.</a:t>
            </a:r>
          </a:p>
          <a:p>
            <a:r>
              <a:t>O fio prático será uma revisão na qual pesquisa e julgamento têm responsabilidades diferentes. O desenvolvedor continuará responsável por aprovar comandos, interpretar evidências e decidir se deve avançar para a correção.</a:t>
            </a:r>
          </a:p>
          <a:p>
            <a:endParaRPr/>
          </a:p>
          <a:p>
            <a:r>
              <a:t>Transição:</a:t>
            </a:r>
          </a:p>
          <a:p>
            <a:r>
              <a:t>“Para especializar uma execução, não basta trocar o nome ou o tom da resposta.”</a:t>
            </a:r>
          </a:p>
          <a:p>
            <a:endParaRPr/>
          </a:p>
          <a:p>
            <a:r>
              <a:t>Links de apoio:</a:t>
            </a:r>
          </a:p>
          <a:p>
            <a:r>
              <a:t>Custom agents no VS Code — https://code.visualstudio.com/docs/agent-customization/custom-agents</a:t>
            </a:r>
          </a:p>
          <a:p>
            <a:r>
              <a:t>Subagents no VS Code — https://code.visualstudio.com/docs/agents/run/subagents</a:t>
            </a:r>
          </a:p>
          <a:p>
            <a:r>
              <a:t>Cheat sheet de customizações do GitHub Copilot — https://docs.github.com/en/copilot/reference/customization-cheat-sheet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18</a:t>
            </a:fld>
            <a:endParaRPr lang="LID4096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Explicar custom agent como uma configuração operacional especializada, não apenas como uma descrição de personalidade.</a:t>
            </a:r>
          </a:p>
          <a:p>
            <a:endParaRPr/>
          </a:p>
          <a:p>
            <a:r>
              <a:t>Notas do apresentador:</a:t>
            </a:r>
          </a:p>
          <a:p>
            <a:r>
              <a:t>Um arquivo .agent.md contém front matter YAML e um corpo em Markdown. O corpo orienta comportamento e critérios; o front matter configura descoberta, modelo, tools, agentes delegáveis e handoffs. Ao selecionar o agente, suas instruções são acrescentadas à solicitação do usuário.</a:t>
            </a:r>
          </a:p>
          <a:p>
            <a:r>
              <a:t>“Persona” é uma simplificação útil somente quando significa uma responsabilidade delimitada. Pedir “aja como revisor” em texto não remove tools de edição nem restringe delegações. O controle operacional vem da combinação entre instruções claras e capacidades realmente disponibilizadas.</a:t>
            </a:r>
          </a:p>
          <a:p>
            <a:r>
              <a:t>Custom agents podem ficar no workspace, normalmente em .github/agents, ou no perfil do usuário. O workspace é adequado quando o papel depende dos contratos e do fluxo do repositório; o perfil serve para comportamentos reutilizáveis entre projetos.</a:t>
            </a:r>
          </a:p>
          <a:p>
            <a:r>
              <a:t>Ressalte que menor privilégio reduz a superfície de ação, mas não garante decisões corretas. Resultados, comandos e diffs continuam sujeitos à supervisão humana.</a:t>
            </a:r>
          </a:p>
          <a:p>
            <a:endParaRPr/>
          </a:p>
          <a:p>
            <a:r>
              <a:t>Transição:</a:t>
            </a:r>
          </a:p>
          <a:p>
            <a:r>
              <a:t>“O front matter começa definindo quem é o agente, onde ele se aplica e como pode ser selecionado.”</a:t>
            </a:r>
          </a:p>
          <a:p>
            <a:endParaRPr/>
          </a:p>
          <a:p>
            <a:r>
              <a:t>Links de apoio:</a:t>
            </a:r>
          </a:p>
          <a:p>
            <a:r>
              <a:t>O que são custom agents no VS Code — https://code.visualstudio.com/docs/agent-customization/custom-agents#_what-are-custom-agents</a:t>
            </a:r>
          </a:p>
          <a:p>
            <a:r>
              <a:t>Estrutura do arquivo de custom agent — https://code.visualstudio.com/docs/agent-customization/custom-agents#_custom-agent-file-structure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19</a:t>
            </a:fld>
            <a:endParaRPr lang="LID4096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Apresentar a configuração completa antes de decompor seus campos em tabelas.</a:t>
            </a:r>
          </a:p>
          <a:p>
            <a:endParaRPr/>
          </a:p>
          <a:p>
            <a:r>
              <a:t>Notas do apresentador:</a:t>
            </a:r>
          </a:p>
          <a:p>
            <a:r>
              <a:t>O exemplo explicita os três valores padrão mais importantes para o fluxo: o agente aparece no seletor, pode ser invocado pelo modelo como subagent e o handoff não envia automaticamente o prompt. Esses campos poderiam ser omitidos sem alterar os valores mostrados.</a:t>
            </a:r>
          </a:p>
          <a:p>
            <a:r>
              <a:t>Os demais valores são escolhas do cenário, não padrões universais. model, tools e agents foram declarados para tornar a execução e o menor privilégio inspecionáveis. hooks: {} explicita a ausência de hooks vinculados ao agente; normalmente o campo seria simplesmente omitido.</a:t>
            </a:r>
          </a:p>
          <a:p>
            <a:r>
              <a:t>O campo mcp-servers não aparece porque este agente tem target: vscode; ele será apresentado na tabela seguinte como configuração destinada ao alvo github-copilot.</a:t>
            </a:r>
          </a:p>
          <a:p>
            <a:endParaRPr/>
          </a:p>
          <a:p>
            <a:r>
              <a:t>Transição:</a:t>
            </a:r>
          </a:p>
          <a:p>
            <a:r>
              <a:t>“Vamos decompor o exemplo começando pelos campos de identidade, seleção e modelo.”</a:t>
            </a:r>
          </a:p>
          <a:p>
            <a:endParaRPr/>
          </a:p>
          <a:p>
            <a:r>
              <a:t>Links de apoio:</a:t>
            </a:r>
          </a:p>
          <a:p>
            <a:r>
              <a:t>Estrutura de custom agents — https://code.visualstudio.com/docs/agent-customization/custom-agents#_custom-agent-file-structure</a:t>
            </a:r>
          </a:p>
          <a:p>
            <a:r>
              <a:t>Handoffs em custom agents — https://code.visualstudio.com/docs/agent-customization/custom-agents#_handoffs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20</a:t>
            </a:fld>
            <a:endParaRPr lang="LID4096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Interpretar os campos que identificam um custom agent e controlam sua seleção manual ou pelo modelo.</a:t>
            </a:r>
          </a:p>
          <a:p>
            <a:endParaRPr/>
          </a:p>
          <a:p>
            <a:r>
              <a:t>Notas do apresentador:</a:t>
            </a:r>
          </a:p>
          <a:p>
            <a:r>
              <a:t>Explique que description deve informar tanto a responsabilidade quanto a situação de uso. Uma descrição vaga prejudica a escolha do agente, especialmente quando ele pode ser selecionado como subagent.</a:t>
            </a:r>
          </a:p>
          <a:p>
            <a:r>
              <a:t>user-invocable: false oculta o agente do seletor manual, mas ainda permite sua invocação por outro agente. disable-model-invocation: true faz o inverso: impede a seleção pelo modelo, sem necessariamente ocultá-lo do usuário. O antigo campo infer está descontinuado.</a:t>
            </a:r>
          </a:p>
          <a:p>
            <a:r>
              <a:t>model aceita um nome ou uma lista priorizada. Isso expressa preferência, não determinismo: disponibilidade depende da versão, do plano e das políticas. Se nenhum modelo for definido, usa-se o modelo selecionado no picker.</a:t>
            </a:r>
          </a:p>
          <a:p>
            <a:r>
              <a:t>target diferencia configurações destinadas ao VS Code e ao GitHub Copilot. Nem todos os campos têm o mesmo suporte em todas as superfícies; portanto, a definição deve ser validada onde será executada.</a:t>
            </a:r>
          </a:p>
          <a:p>
            <a:r>
              <a:t>Na demo, o revisor é visível ao usuário e protegido contra escolha implícita como subagent. O pesquisador usa user-invocable: false, pois existe apenas para delegação.</a:t>
            </a:r>
          </a:p>
          <a:p>
            <a:endParaRPr/>
          </a:p>
          <a:p>
            <a:r>
              <a:t>Transição:</a:t>
            </a:r>
          </a:p>
          <a:p>
            <a:r>
              <a:t>“A continuação do front matter delimita tools, subagents e integrações.”</a:t>
            </a:r>
          </a:p>
          <a:p>
            <a:endParaRPr/>
          </a:p>
          <a:p>
            <a:r>
              <a:t>Links de apoio:</a:t>
            </a:r>
          </a:p>
          <a:p>
            <a:r>
              <a:t>Campos do front matter de custom agents — https://code.visualstudio.com/docs/agent-customization/custom-agents#_custom-agent-file-structure</a:t>
            </a:r>
          </a:p>
          <a:p>
            <a:r>
              <a:t>Controlar como um custom agent é invocado — https://code.visualstudio.com/docs/agents/run/subagents#_control-how-a-custom-agent-is-invoked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21</a:t>
            </a:fld>
            <a:endParaRPr lang="LID4096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Relacionar cada campo de capacidade ao acesso efetivamente necessário para o papel do agente.</a:t>
            </a:r>
          </a:p>
          <a:p>
            <a:endParaRPr/>
          </a:p>
          <a:p>
            <a:r>
              <a:t>Notas do apresentador:</a:t>
            </a:r>
          </a:p>
          <a:p>
            <a:r>
              <a:t>tools pode incluir tools internas, tool sets, tools de extensões e MCP. Uma tool declarada, mas indisponível no ambiente, é ignorada. Por isso, valide os nomes no seletor de tools da versão usada na aula.</a:t>
            </a:r>
          </a:p>
          <a:p>
            <a:r>
              <a:t>Para subagents, o agente principal precisa da tool agent. O campo agents restringe quais custom agents podem ser escolhidos: uma lista nomeia os permitidos, * permite todos e [] impede delegação. Por padrão, subagents não iniciam outros subagents; o pesquisador da demo também declara agents: [] para explicitar seu limite.</a:t>
            </a:r>
          </a:p>
          <a:p>
            <a:r>
              <a:t>Disponibilidade e aprovação são controles diferentes. Habilitar terminal ou MCP apenas torna a capacidade acessível; confirmações e políticas continuam sendo aplicadas. Da mesma forma, remover edição não torna todo comando de terminal inofensivo.</a:t>
            </a:r>
          </a:p>
          <a:p>
            <a:r>
              <a:t>mcp-servers é voltado ao alvo compatível no GitHub Copilot. hooks em custom agents do VS Code está em preview e requer configuração específica. Esses campos aparecem como panorama de capacidade, não serão usados nesta demonstração.</a:t>
            </a:r>
          </a:p>
          <a:p>
            <a:endParaRPr/>
          </a:p>
          <a:p>
            <a:r>
              <a:t>Transição:</a:t>
            </a:r>
          </a:p>
          <a:p>
            <a:r>
              <a:t>“O último grupo do front matter descreve as transições sugeridas para outros agentes.”</a:t>
            </a:r>
          </a:p>
          <a:p>
            <a:endParaRPr/>
          </a:p>
          <a:p>
            <a:r>
              <a:t>Links de apoio:</a:t>
            </a:r>
          </a:p>
          <a:p>
            <a:r>
              <a:t>Custom agents: tools, agents, MCP e hooks — https://code.visualstudio.com/docs/agent-customization/custom-agents#_custom-agent-file-structure</a:t>
            </a:r>
          </a:p>
          <a:p>
            <a:r>
              <a:t>Tools de agentes no VS Code — https://code.visualstudio.com/docs/agents/run/tools</a:t>
            </a:r>
          </a:p>
          <a:p>
            <a:r>
              <a:t>Restringir subagents disponíveis — https://code.visualstudio.com/docs/agents/run/subagents#_restrict-which-subagents-an-agent-can-use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22</a:t>
            </a:fld>
            <a:endParaRPr lang="LID4096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Explicar como handoffs configuram próximas etapas sugeridas sem confundi-las com delegação.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Handoffs aparecem após a resposta do agente como próximas ações sugeridas. Ao selecionar um handoff, o VS Code muda para o agente de destino e usa o prompt configurado. Com o padrão send: false, o prompt fica preenchido para revisão; com send: true, ele é submetido automaticamente.</a:t>
            </a:r>
          </a:p>
          <a:p>
            <a:r>
              <a:t>Na demo, o revisor oferece Corrigir lacunas com send: false. Essa escolha cria um ponto explícito de decisão entre julgamento e implementação: o desenvolvedor pode ajustar o escopo, retirar itens indevidos ou cancelar a etapa.</a:t>
            </a:r>
          </a:p>
          <a:p>
            <a:r>
              <a:t>No lab posterior, send: true será usado deliberadamente para iniciar a próxima etapa, mas as chamadas sensíveis dentro do diálogo continuarão sujeitas às confirmações configuradas. Envio automático de um prompt não equivale a aprovação irrestrita de tools.</a:t>
            </a:r>
          </a:p>
          <a:p>
            <a:r>
              <a:t>O prompt do handoff deve transportar somente o contexto necessário: itens não atendidos ou não comprovados, contratos que devem ser preservados e validações esperadas. Evite usar o handoff para despejar todo o histórico da conversa.</a:t>
            </a:r>
          </a:p>
          <a:p>
            <a:endParaRPr/>
          </a:p>
          <a:p>
            <a:r>
              <a:t>Transição:</a:t>
            </a:r>
          </a:p>
          <a:p>
            <a:r>
              <a:t>“Agora separemos visualmente coordenação, investigação isolada e mudança de etapa.”</a:t>
            </a:r>
          </a:p>
          <a:p>
            <a:endParaRPr/>
          </a:p>
          <a:p>
            <a:r>
              <a:t>Links de apoio:</a:t>
            </a:r>
          </a:p>
          <a:p>
            <a:r>
              <a:t>Handoffs em custom agents — https://code.visualstudio.com/docs/agent-customization/custom-agents#_handoffs</a:t>
            </a:r>
          </a:p>
          <a:p>
            <a:r>
              <a:t>Gerenciar aprovações e permissões — https://code.visualstudio.com/docs/agents/run/approvals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23</a:t>
            </a:fld>
            <a:endParaRPr lang="LID4096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Visualizar as diferenças de contexto, responsabilidade e controle entre agente principal, subagent e handoff.</a:t>
            </a:r>
          </a:p>
          <a:p>
            <a:endParaRPr/>
          </a:p>
          <a:p>
            <a:r>
              <a:t>Notas do apresentador:</a:t>
            </a:r>
          </a:p>
          <a:p>
            <a:r>
              <a:t>Apresente o diagrama como um modelo de responsabilidades observáveis. O agente principal formula uma subtarefa autossuficiente e a envia ao subagent. Cada invocação do subagent é independente e possui contexto isolado; ela não recebe automaticamente todo o histórico nem aceita uma conversa de acompanhamento.</a:t>
            </a:r>
          </a:p>
          <a:p>
            <a:r>
              <a:t>O subagent devolve um resultado resumido. Esse retorno é insumo, não decisão final. No cenário da aula, o pesquisador extrai critérios e localiza evidências; o revisor confronta esse material com validações focadas e classifica os critérios.</a:t>
            </a:r>
          </a:p>
          <a:p>
            <a:r>
              <a:t>O handoff acontece somente depois da resposta do agente principal. Ele não cria um trabalhador paralelo e não devolve um resumo ao agente anterior: muda o papel ativo e prepara a próxima solicitação. Com send: false, o usuário revisa a transição antes de enviar.</a:t>
            </a:r>
          </a:p>
          <a:p>
            <a:r>
              <a:t>O isolamento ajuda a manter investigações intermediárias fora do contexto principal, mas introduz consumo adicional de AI Credits e exige tarefas bem delimitadas.</a:t>
            </a:r>
          </a:p>
          <a:p>
            <a:endParaRPr/>
          </a:p>
          <a:p>
            <a:r>
              <a:t>Transição:</a:t>
            </a:r>
          </a:p>
          <a:p>
            <a:r>
              <a:t>“Vamos aplicar esse fluxo na demo e depois decompor suas duas decisões centrais.”</a:t>
            </a:r>
          </a:p>
          <a:p>
            <a:endParaRPr/>
          </a:p>
          <a:p>
            <a:r>
              <a:t>Links de apoio:</a:t>
            </a:r>
          </a:p>
          <a:p>
            <a:r>
              <a:t>Subagents no VS Code — https://code.visualstudio.com/docs/agents/run/subagents</a:t>
            </a:r>
          </a:p>
          <a:p>
            <a:r>
              <a:t>Padrão coordenador e workers — https://code.visualstudio.com/docs/agents/run/subagents#_coordinator-and-worker-pattern</a:t>
            </a:r>
          </a:p>
          <a:p>
            <a:r>
              <a:t>Handoffs em custom agents — https://code.visualstudio.com/docs/agent-customization/custom-agents#_handoffs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24</a:t>
            </a:fld>
            <a:endParaRPr lang="LID4096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Demonstrar uma revisão read-only que delega pesquisa, valida evidências e oferece correção como próxima etapa supervisionada.</a:t>
            </a:r>
          </a:p>
          <a:p>
            <a:endParaRPr/>
          </a:p>
          <a:p>
            <a:r>
              <a:t>Notas do apresentador:</a:t>
            </a:r>
          </a:p>
          <a:p>
            <a:r>
              <a:t>Repositório da demo:</a:t>
            </a:r>
          </a:p>
          <a:p>
            <a:r>
              <a:t>https://github.com/impacta-ghcp-eng-moderna/02-demo-custom-agents</a:t>
            </a:r>
          </a:p>
          <a:p>
            <a:r>
              <a:t>O README contém a preparação, o prompt, as evidências esperadas e as opções de recuperação. Preserve o limite read-only da revisão, inspecione a delegação e encerre mostrando o handoff com send: false, sem executar a correção.</a:t>
            </a:r>
          </a:p>
          <a:p>
            <a:endParaRPr/>
          </a:p>
          <a:p>
            <a:r>
              <a:t>Transição:</a:t>
            </a:r>
          </a:p>
          <a:p>
            <a:r>
              <a:t>“A primeira decisão da demo é conceder a cada papel somente as capacidades necessárias.”</a:t>
            </a:r>
          </a:p>
          <a:p>
            <a:endParaRPr/>
          </a:p>
          <a:p>
            <a:r>
              <a:t>Links de apoio:</a:t>
            </a:r>
          </a:p>
          <a:p>
            <a:r>
              <a:t>Repositório da demo de custom agents — https://github.com/impacta-ghcp-eng-moderna/02-demo-custom-agents</a:t>
            </a:r>
          </a:p>
          <a:p>
            <a:r>
              <a:t>Custom agents no VS Code — https://code.visualstudio.com/docs/agent-customization/custom-agents</a:t>
            </a:r>
          </a:p>
          <a:p>
            <a:r>
              <a:t>Subagents no VS Code — https://code.visualstudio.com/docs/agents/run/subagents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25</a:t>
            </a:fld>
            <a:endParaRPr lang="LID4096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Aplicar menor privilégio a um fluxo de revisão, separando pesquisa, julgamento e implementação.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Comece pela responsabilidade, não pela lista de tools. O pesquisador precisa localizar especificação, implementação e testes; leitura e busca bastam. Sem terminal, edição ou delegação, ele não corrige nem expande o fluxo.</a:t>
            </a:r>
          </a:p>
          <a:p>
            <a:r>
              <a:t>O revisor precisa consolidar a pesquisa e executar a menor validação reproduzível. Na demo, recebe leitura, busca, execução e a tool de subagent, mas nenhuma tool de edição. Sua lista agents autoriza apenas o pesquisador.</a:t>
            </a:r>
          </a:p>
          <a:p>
            <a:r>
              <a:t>O implementador precisa editar e validar, mas só entra no fluxo após uma transição deliberada. As permissões exatas devem ser ajustadas à tarefa e ao ambiente; “implementador” não significa acesso irrestrito.</a:t>
            </a:r>
          </a:p>
          <a:p>
            <a:r>
              <a:t>A matriz é uma decisão de design do curso aplicada ao cenário, não uma garantia de segurança do produto. Terminal pode alterar arquivos, tools podem ter efeitos externos e o modelo pode interpretar evidências incorretamente. Menor privilégio precisa ser combinado com aprovações, revisão de comandos, inspeção do diff e validação dos resultados.</a:t>
            </a:r>
          </a:p>
          <a:p>
            <a:endParaRPr/>
          </a:p>
          <a:p>
            <a:r>
              <a:t>Transição:</a:t>
            </a:r>
          </a:p>
          <a:p>
            <a:r>
              <a:t>“A segunda decisão é separar aquilo que foi encontrado do julgamento sobre a entrega.”</a:t>
            </a:r>
          </a:p>
          <a:p>
            <a:endParaRPr/>
          </a:p>
          <a:p>
            <a:r>
              <a:t>Links de apoio:</a:t>
            </a:r>
          </a:p>
          <a:p>
            <a:r>
              <a:t>Tools com custom agents — https://code.visualstudio.com/docs/agent-customization/custom-agents#_tools</a:t>
            </a:r>
          </a:p>
          <a:p>
            <a:r>
              <a:t>Aprovações e permissões no VS Code — https://code.visualstudio.com/docs/agents/run/approvals</a:t>
            </a:r>
          </a:p>
          <a:p>
            <a:r>
              <a:t>Restringir quais subagents podem ser usados — https://code.visualstudio.com/docs/agents/run/subagents#_restrict-which-subagents-an-agent-can-use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26</a:t>
            </a:fld>
            <a:endParaRPr lang="LID4096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Distinguir a coleta de critérios e evidências da classificação final feita pelo revisor.</a:t>
            </a:r>
          </a:p>
          <a:p>
            <a:endParaRPr/>
          </a:p>
          <a:p>
            <a:r>
              <a:t>Notas do apresentador:</a:t>
            </a:r>
          </a:p>
          <a:p>
            <a:r>
              <a:t>O pesquisador produz rastreabilidade: extrai critérios da especificação, localiza código e testes relacionados e registra lacunas. Ele não aprova, rejeita nem corrige a entrega.</a:t>
            </a:r>
          </a:p>
          <a:p>
            <a:r>
              <a:t>O revisor recebe esse resumo e realiza a triangulação. Ele verifica se a fonte citada é aplicável, se a evidência observa o comportamento exigido e se uma validação focada pode resolver a incerteza. Só então classifica o critério.</a:t>
            </a:r>
          </a:p>
          <a:p>
            <a:r>
              <a:t>Na demo, a implementação do endpoint de contagem parece tratar catálogo vazio e preenchido. Existe teste funcional apenas para o catálogo preenchido. O caso vazio não deve ser declarado defeituoso pela mera ausência do teste; deve ser classificado como não foi possível comprovar até que exista evidência observável suficiente.</a:t>
            </a:r>
          </a:p>
          <a:p>
            <a:r>
              <a:t>Essa distinção evita dois erros frequentes: transformar cobertura ausente em defeito confirmado e transformar leitura plausível do código em garantia de comportamento. A decisão final permanece com o revisor humano, apoiado por evidências reproduzíveis.</a:t>
            </a:r>
          </a:p>
          <a:p>
            <a:endParaRPr/>
          </a:p>
          <a:p>
            <a:r>
              <a:t>Transição:</a:t>
            </a:r>
          </a:p>
          <a:p>
            <a:r>
              <a:t>“Papéis configuram quem trabalha; Agent Skills disponibilizam conhecimento especializado quando a tarefa precisa dele.”</a:t>
            </a:r>
          </a:p>
          <a:p>
            <a:endParaRPr/>
          </a:p>
          <a:p>
            <a:r>
              <a:t>Links de apoio:</a:t>
            </a:r>
          </a:p>
          <a:p>
            <a:r>
              <a:t>Subagents para revisão especializada — https://code.visualstudio.com/docs/agents/run/subagents#_code-review-with-specialized-focus</a:t>
            </a:r>
          </a:p>
          <a:p>
            <a:r>
              <a:t>Usar tools e inspecionar resultados — https://code.visualstudio.com/docs/agents/run/tools#_use-tools-in-a-request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27</a:t>
            </a:fld>
            <a:endParaRPr lang="LID4096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Marcar a transição de papéis especializados para conhecimento, procedimentos e recursos carregados sob demanda.</a:t>
            </a:r>
          </a:p>
          <a:p>
            <a:endParaRPr/>
          </a:p>
          <a:p>
            <a:r>
              <a:t>Duração estimada: Aproximadamente 15 minutos, incluindo demonstração.</a:t>
            </a:r>
          </a:p>
          <a:p>
            <a:endParaRPr/>
          </a:p>
          <a:p>
            <a:r>
              <a:t>Notas do apresentador:</a:t>
            </a:r>
          </a:p>
          <a:p>
            <a:r>
              <a:t>Conecte o conceito ao bloco anterior. Um custom agent define um papel e suas capacidades; uma Agent Skill empacota conhecimento, procedimento e recursos que podem ser descobertos quando uma tarefa relevante aparece.</a:t>
            </a:r>
          </a:p>
          <a:p>
            <a:r>
              <a:t>Skills seguem um padrão aberto e podem incluir instruções, exemplos, referências e scripts. A vantagem pedagógica não é “dar mais autonomia”, mas evitar repetir contexto especializado em toda conversa e carregar detalhes somente quando necessários.</a:t>
            </a:r>
          </a:p>
          <a:p>
            <a:r>
              <a:t>Antecipe dois limites: uma skill não concede automaticamente permissão para executar suas ferramentas e seus scripts; e instalar uma biblioteca inteira de skills em todo repositório não é gratuito, porque os metadados de descoberta também ocupam contexto e podem introduzir ruído.</a:t>
            </a:r>
          </a:p>
          <a:p>
            <a:endParaRPr/>
          </a:p>
          <a:p>
            <a:r>
              <a:t>Transição:</a:t>
            </a:r>
          </a:p>
          <a:p>
            <a:r>
              <a:t>“Que tipo de conhecimento vale permanecer disponível sem ficar inteiro no contexto o tempo todo?”</a:t>
            </a:r>
          </a:p>
          <a:p>
            <a:endParaRPr/>
          </a:p>
          <a:p>
            <a:r>
              <a:t>Links de apoio:</a:t>
            </a:r>
          </a:p>
          <a:p>
            <a:r>
              <a:t>Agent Skills no VS Code — https://code.visualstudio.com/docs/agent-customization/agent-skills</a:t>
            </a:r>
          </a:p>
          <a:p>
            <a:r>
              <a:t>Sobre Agent Skills no GitHub Copilot — https://docs.github.com/en/copilot/concepts/agents/about-agent-skills</a:t>
            </a:r>
          </a:p>
          <a:p>
            <a:r>
              <a:t>Especificação aberta de Agent Skills — https://agentskills.io/specification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28</a:t>
            </a:fld>
            <a:endParaRPr lang="LID4096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Explicar quando uma Agent Skill é adequada e por que sua descoberta precisa ser específica.</a:t>
            </a:r>
          </a:p>
          <a:p>
            <a:endParaRPr/>
          </a:p>
          <a:p>
            <a:r>
              <a:t>Notas do apresentador:</a:t>
            </a:r>
          </a:p>
          <a:p>
            <a:r>
              <a:t>Agent Skills são pastas compatíveis com um padrão aberto. No projeto, podem ficar em .github/skills, .claude/skills ou .agents/skills; skills pessoais podem ficar no diretório do usuário. O núcleo é um SKILL.md, acompanhado opcionalmente de scripts, referências, exemplos e assets.</a:t>
            </a:r>
          </a:p>
          <a:p>
            <a:r>
              <a:t>Uma boa skill resolve uma classe específica e repetível de tarefas. A descrição deve dizer o que ela faz e quando usá-la, com sinais semânticos suficientes para que o Copilot reconheça relevância. “Ajuda com migrations” é pior que uma descrição que menciona revisão de migrations do EF Core, riscos de dados, entidade, snapshot e SQLite.</a:t>
            </a:r>
          </a:p>
          <a:p>
            <a:r>
              <a:t>Não recomende copiar uma biblioteca completa de skills para todo repositório. O nome e a descrição de cada skill participam da descoberta; excesso de opções irrelevantes ocupa contexto, cria ambiguidade e pode piorar a seleção. Prefira um conjunto curado, revisado e alinhado às tarefas reais da equipe.</a:t>
            </a:r>
          </a:p>
          <a:p>
            <a:r>
              <a:t>Skills de terceiros devem ser tratadas como código e instruções de terceiros: revisar origem, conteúdo, scripts, dependências e efeitos antes de instalar ou executar.</a:t>
            </a:r>
          </a:p>
          <a:p>
            <a:endParaRPr/>
          </a:p>
          <a:p>
            <a:r>
              <a:t>Transição:</a:t>
            </a:r>
          </a:p>
          <a:p>
            <a:r>
              <a:t>“Para escolher bem, comparemos skills com instructions e custom agents pela responsabilidade principal.”</a:t>
            </a:r>
          </a:p>
          <a:p>
            <a:endParaRPr/>
          </a:p>
          <a:p>
            <a:r>
              <a:t>Links de apoio:</a:t>
            </a:r>
          </a:p>
          <a:p>
            <a:r>
              <a:t>Criar e armazenar Agent Skills no VS Code — https://code.visualstudio.com/docs/agent-customization/agent-skills#_create-a-skill</a:t>
            </a:r>
          </a:p>
          <a:p>
            <a:r>
              <a:t>Agent Skills no GitHub Copilot — https://docs.github.com/en/copilot/concepts/agents/about-agent-skills</a:t>
            </a:r>
          </a:p>
          <a:p>
            <a:r>
              <a:t>Usar skills compartilhadas com segurança — https://code.visualstudio.com/docs/agent-customization/agent-skills#_use-shared-skills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29</a:t>
            </a:fld>
            <a:endParaRPr lang="LID4096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Selecionar o mecanismo de customização pela necessidade, pelo gatilho e pelo tipo de conteúdo.</a:t>
            </a:r>
          </a:p>
          <a:p>
            <a:endParaRPr/>
          </a:p>
          <a:p>
            <a:r>
              <a:t>Notas do apresentador:</a:t>
            </a:r>
          </a:p>
          <a:p>
            <a:r>
              <a:t>Instructions expressam expectativas amplas ou específicas por caminho: padrões de código, convenções e restrições do repositório. Elas não são o melhor lugar para uma biblioteca extensa de procedimentos raramente usados.</a:t>
            </a:r>
          </a:p>
          <a:p>
            <a:r>
              <a:t>Skills ensinam uma prática especializada e podem carregar recursos conforme a necessidade. A skill de revisão de migrations conhece o procedimento, mas não precisa definir o papel completo do revisor nem conceder suas tools.</a:t>
            </a:r>
          </a:p>
          <a:p>
            <a:r>
              <a:t>Custom agents configuram uma forma de trabalhar: instruções, modelo, tools, subagents e transições. Eles podem usar instructions aplicáveis e skills relevantes. Essa composição evita que cada agente copie todos os padrões do repositório e todas as checklists especializadas.</a:t>
            </a:r>
          </a:p>
          <a:p>
            <a:r>
              <a:t>A escolha é arquitetural: mantenha a fonte de verdade em um lugar e referencie-a quando necessário. Especificações continuam definindo o que o produto deve atender; nenhum desses três mecanismos substitui o contrato.</a:t>
            </a:r>
          </a:p>
          <a:p>
            <a:endParaRPr/>
          </a:p>
          <a:p>
            <a:r>
              <a:t>Transição:</a:t>
            </a:r>
          </a:p>
          <a:p>
            <a:r>
              <a:t>“A diferença também aparece no sistema de arquivos: uma skill é uma pasta, não apenas um único prompt.”</a:t>
            </a:r>
          </a:p>
          <a:p>
            <a:endParaRPr/>
          </a:p>
          <a:p>
            <a:r>
              <a:t>Links de apoio:</a:t>
            </a:r>
          </a:p>
          <a:p>
            <a:r>
              <a:t>Agent Skills versus custom instructions — https://code.visualstudio.com/docs/agent-customization/agent-skills#_agent-skills-vs-custom-instructions</a:t>
            </a:r>
          </a:p>
          <a:p>
            <a:r>
              <a:t>Mapa de customizações do GitHub Copilot — https://docs.github.com/en/copilot/reference/customization-cheat-sheet</a:t>
            </a:r>
          </a:p>
          <a:p>
            <a:r>
              <a:t>Conceitos de customização no VS Code — https://code.visualstudio.com/docs/agents/concepts/customization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30</a:t>
            </a:fld>
            <a:endParaRPr lang="LID4096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Identificar o arquivo obrigatório e as responsabilidades dos recursos opcionais de uma skill.</a:t>
            </a:r>
          </a:p>
          <a:p>
            <a:endParaRPr/>
          </a:p>
          <a:p>
            <a:r>
              <a:t>Notas do apresentador:</a:t>
            </a:r>
          </a:p>
          <a:p>
            <a:r>
              <a:t>O diretório é a unidade distribuível da skill. SKILL.md é obrigatório e combina metadados no front matter com as instruções principais no corpo. O campo name deve coincidir exatamente com o nome do diretório pai.</a:t>
            </a:r>
          </a:p>
          <a:p>
            <a:r>
              <a:t>Os demais nomes são convenções úteis, não uma lista fechada. Referências guardam detalhes consultados sob demanda; exemplos tornam decisões abstratas concretas; scripts produzem verificações reproduzíveis; assets podem fornecer modelos e recursos estáticos.</a:t>
            </a:r>
          </a:p>
          <a:p>
            <a:r>
              <a:t>O SKILL.md deve indicar claramente quando consultar cada recurso, usando caminhos relativos à raiz da skill. Arquivos não referenciados podem não ser descobertos. Evite cadeias profundas de referências, porque tornam a navegação e a proveniência mais difíceis.</a:t>
            </a:r>
          </a:p>
          <a:p>
            <a:r>
              <a:t>No exemplo da aula, a checklist detalhada, o padrão arriscado e os scripts de inspeção ficam fora do corpo principal. Isso mantém o fluxo central curto sem remover as evidências necessárias para uma revisão aprofundada.</a:t>
            </a:r>
          </a:p>
          <a:p>
            <a:endParaRPr/>
          </a:p>
          <a:p>
            <a:r>
              <a:t>Transição:</a:t>
            </a:r>
          </a:p>
          <a:p>
            <a:r>
              <a:t>“A árvore organiza os recursos; o front matter torna a skill válida e descobrível.”</a:t>
            </a:r>
          </a:p>
          <a:p>
            <a:endParaRPr/>
          </a:p>
          <a:p>
            <a:r>
              <a:t>Links de apoio:</a:t>
            </a:r>
          </a:p>
          <a:p>
            <a:r>
              <a:t>Estrutura de diretórios na especificação Agent Skills — https://agentskills.io/specification#directory-structure</a:t>
            </a:r>
          </a:p>
          <a:p>
            <a:r>
              <a:t>Criar uma skill no VS Code — https://code.visualstudio.com/docs/agent-customization/agent-skills#_create-a-skill</a:t>
            </a:r>
          </a:p>
          <a:p>
            <a:r>
              <a:t>Referências de arquivos em skills — https://agentskills.io/specification#file-references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31</a:t>
            </a:fld>
            <a:endParaRPr lang="LID4096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Interpretar os campos de descoberta, invocação e compatibilidade de uma Agent Skill sem confundir declaração com permissão.</a:t>
            </a:r>
          </a:p>
          <a:p>
            <a:endParaRPr/>
          </a:p>
          <a:p>
            <a:r>
              <a:t>Notas do apresentador:</a:t>
            </a:r>
          </a:p>
          <a:p>
            <a:r>
              <a:t>Na especificação aberta, name e description são obrigatórios. O nome aceita letras minúsculas, números e hífens, tem limite de 64 caracteres e deve coincidir com o diretório. A descrição tem até 1024 caracteres e deve dizer capacidade e situação de uso.</a:t>
            </a:r>
          </a:p>
          <a:p>
            <a:r>
              <a:t>O VS Code acrescenta controles de invocação. user-invocable define a presença no menu /; disable-model-invocation define se o modelo pode carregar a skill por relevância. Os padrões permitem as duas formas. context: fork executa a skill em contexto de subagent, mas é experimental e não será usado nesta demo.</a:t>
            </a:r>
          </a:p>
          <a:p>
            <a:r>
              <a:t>license, compatibility e metadata são opcionais no padrão aberto e só devem existir quando carregam informação real. allowed-tools também pertence ao padrão, mas é experimental e seu suporte varia entre agentes. Não o apresente como concessão ou garantia de permissão: disponibilidade, políticas e aprovações da superfície continuam prevalecendo.</a:t>
            </a:r>
          </a:p>
          <a:p>
            <a:r>
              <a:t>A demo usa os campos necessários à descoberta e à interação, mas evita metadata decorativa e allowed-tools.</a:t>
            </a:r>
          </a:p>
          <a:p>
            <a:endParaRPr/>
          </a:p>
          <a:p>
            <a:r>
              <a:t>Transição:</a:t>
            </a:r>
          </a:p>
          <a:p>
            <a:r>
              <a:t>“Com metadados precisos, o agente pode descobrir a skill antes de carregar seu conteúdo completo.”</a:t>
            </a:r>
          </a:p>
          <a:p>
            <a:endParaRPr/>
          </a:p>
          <a:p>
            <a:r>
              <a:t>Links de apoio:</a:t>
            </a:r>
          </a:p>
          <a:p>
            <a:r>
              <a:t>Formato de SKILL.md no VS Code — https://code.visualstudio.com/docs/agent-customization/agent-skills#_skillmd-file-format</a:t>
            </a:r>
          </a:p>
          <a:p>
            <a:r>
              <a:t>Front matter na especificação Agent Skills — https://agentskills.io/specification#frontmatter</a:t>
            </a:r>
          </a:p>
          <a:p>
            <a:r>
              <a:t>Execução em contexto separado — https://code.visualstudio.com/docs/agent-customization/agent-skills#_run-a-skill-in-a-forked-context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32</a:t>
            </a:fld>
            <a:endParaRPr lang="LID4096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Explicar os três níveis de carregamento de uma skill e suas implicações para contexto e descoberta.</a:t>
            </a:r>
          </a:p>
          <a:p>
            <a:endParaRPr/>
          </a:p>
          <a:p>
            <a:r>
              <a:t>Notas do apresentador:</a:t>
            </a:r>
          </a:p>
          <a:p>
            <a:r>
              <a:t>No primeiro nível, o agente conhece metadados suficientes para decidir relevância. Por isso, description precisa conter sinais específicos. Esses metadados existem para todas as skills descobertas; uma coleção excessiva ainda adiciona custo e ruído de seleção.</a:t>
            </a:r>
          </a:p>
          <a:p>
            <a:r>
              <a:t>Quando a tarefa corresponde, o corpo completo de SKILL.md entra no contexto. Ele deve conter o fluxo principal e indicar quais recursos consultar em cada condição. A especificação recomenda manter o arquivo conciso e mover detalhes para arquivos focados.</a:t>
            </a:r>
          </a:p>
          <a:p>
            <a:r>
              <a:t>No terceiro nível, referências, exemplos e scripts são acessados somente quando necessários e quando estão referenciados. Progressive disclosure reduz conteúdo antecipado, mas não autoriza afirmar uma economia exata de tokens sem medição.</a:t>
            </a:r>
          </a:p>
          <a:p>
            <a:r>
              <a:t>O comportamento de seleção e a ordem exata das leituras dependem da execução. Na demo, o objetivo é observar a sequência conceitual com o editor de customizações, as referências do chat ou o Agent Debug Log, sem prometer uma interface idêntica.</a:t>
            </a:r>
          </a:p>
          <a:p>
            <a:endParaRPr/>
          </a:p>
          <a:p>
            <a:r>
              <a:t>Transição:</a:t>
            </a:r>
          </a:p>
          <a:p>
            <a:r>
              <a:t>“Vamos provocar primeiro uma tarefa irrelevante e depois uma revisão que precisa do procedimento especializado.”</a:t>
            </a:r>
          </a:p>
          <a:p>
            <a:endParaRPr/>
          </a:p>
          <a:p>
            <a:r>
              <a:t>Links de apoio:</a:t>
            </a:r>
          </a:p>
          <a:p>
            <a:r>
              <a:t>Como o Copilot usa skills — https://code.visualstudio.com/docs/agent-customization/agent-skills#_how-copilot-uses-skills</a:t>
            </a:r>
          </a:p>
          <a:p>
            <a:r>
              <a:t>Progressive disclosure na especificação — https://agentskills.io/specification#progressive-disclosure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33</a:t>
            </a:fld>
            <a:endParaRPr lang="LID4096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Posicionar scripts de skills como instrumentos reproduzíveis de inspeção, não como autoridade ou concessão de permissão.</a:t>
            </a:r>
          </a:p>
          <a:p>
            <a:endParaRPr/>
          </a:p>
          <a:p>
            <a:r>
              <a:t>Notas do apresentador:</a:t>
            </a:r>
          </a:p>
          <a:p>
            <a:r>
              <a:t>O script da demo procura operações como DropColumn, AddColumn, RenameColumn, AlterColumn e SQL explícito. Isso torna a inspeção repetível e ajuda a citar linhas, mas uma correspondência não determina impacto por si só.</a:t>
            </a:r>
          </a:p>
          <a:p>
            <a:r>
              <a:t>Para avaliar a candidata, ainda é necessário comparar Up e Down, entidade, configuração, snapshot, provedor e estado esperado dos dados. DropColumn seguido de AddColumn sugere risco de perda, mas a ação correta depende da intenção, do SQL gerado, do provedor e do plano de migração.</a:t>
            </a:r>
          </a:p>
          <a:p>
            <a:r>
              <a:t>O agente deve ler o script antes de solicitar a execução. A presença do arquivo na skill e um eventual allowed-tools não concedem permissão garantida nem anulam as políticas e confirmações da superfície. Scripts de terceiros exigem revisão ainda mais cuidadosa.</a:t>
            </a:r>
          </a:p>
          <a:p>
            <a:r>
              <a:t>Conclua reforçando a cadeia de responsabilidade: automação coleta sinais; o agente relaciona evidências; o desenvolvedor decide se a conclusão e a próxima ação são aceitáveis.</a:t>
            </a:r>
          </a:p>
          <a:p>
            <a:endParaRPr/>
          </a:p>
          <a:p>
            <a:r>
              <a:t>Transição:</a:t>
            </a:r>
          </a:p>
          <a:p>
            <a:r>
              <a:t>“Na demo, esse princípio limitará o peso atribuído ao script de inspeção.”</a:t>
            </a:r>
          </a:p>
          <a:p>
            <a:endParaRPr/>
          </a:p>
          <a:p>
            <a:r>
              <a:t>Links de apoio:</a:t>
            </a:r>
          </a:p>
          <a:p>
            <a:r>
              <a:t>Scripts em Agent Skills — https://agentskills.io/specification#scripts</a:t>
            </a:r>
          </a:p>
          <a:p>
            <a:r>
              <a:t>Segurança ao usar skills compartilhadas — https://code.visualstudio.com/docs/agent-customization/agent-skills#_use-shared-skills</a:t>
            </a:r>
          </a:p>
          <a:p>
            <a:r>
              <a:t>Aprovações e revisão de tools — https://code.visualstudio.com/docs/agents/run/approvals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34</a:t>
            </a:fld>
            <a:endParaRPr lang="LID4096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Demonstrar descoberta de uma Agent Skill, carregamento progressivo de recursos e inspeção estática supervisionada.</a:t>
            </a:r>
          </a:p>
          <a:p>
            <a:endParaRPr/>
          </a:p>
          <a:p>
            <a:r>
              <a:t>Notas do apresentador:</a:t>
            </a:r>
          </a:p>
          <a:p>
            <a:r>
              <a:t>Repositório da demo:</a:t>
            </a:r>
          </a:p>
          <a:p>
            <a:r>
              <a:t>https://github.com/impacta-ghcp-eng-moderna/02-demo-agent-skills</a:t>
            </a:r>
          </a:p>
          <a:p>
            <a:r>
              <a:t>O README contém a preparação, os prompts, as evidências esperadas e as opções de recuperação. Compare uma tarefa não relacionada com a revisão da migration e leia o script antes de autorizar sua execução; sua saída é evidência auxiliar, não um veredito.</a:t>
            </a:r>
          </a:p>
          <a:p>
            <a:endParaRPr/>
          </a:p>
          <a:p>
            <a:r>
              <a:t>Transição:</a:t>
            </a:r>
          </a:p>
          <a:p>
            <a:r>
              <a:t>“Conhecimento sob demanda ajuda o agente a decidir; na próxima parte, hooks observarão e controlarão eventos do ciclo de execução.”</a:t>
            </a:r>
          </a:p>
          <a:p>
            <a:endParaRPr/>
          </a:p>
          <a:p>
            <a:r>
              <a:t>Links de apoio:</a:t>
            </a:r>
          </a:p>
          <a:p>
            <a:r>
              <a:t>Repositório da demo de Agent Skills — https://github.com/impacta-ghcp-eng-moderna/02-demo-agent-skills</a:t>
            </a:r>
          </a:p>
          <a:p>
            <a:r>
              <a:t>Agent Skills no VS Code — https://code.visualstudio.com/docs/agent-customization/agent-skills</a:t>
            </a:r>
          </a:p>
          <a:p>
            <a:r>
              <a:t>Limitações do SQLite no EF Core — https://learn.microsoft.com/ef/core/providers/sqlite/limitations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0AC41-B04E-4FDE-B661-87FB11128912}" type="slidenum">
              <a:rPr lang="LID4096" smtClean="0"/>
              <a:t>35</a:t>
            </a:fld>
            <a:endParaRPr lang="LID4096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251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A2642196-7198-0EF5-F2F7-5B8F2AE5EE3B}"/>
              </a:ext>
            </a:extLst>
          </p:cNvPr>
          <p:cNvSpPr/>
          <p:nvPr userDrawn="1"/>
        </p:nvSpPr>
        <p:spPr>
          <a:xfrm rot="10800000" flipV="1">
            <a:off x="-1" y="5520267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6">
                  <a:lumMod val="5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26256C-BA24-8D66-B910-9DEA53303425}"/>
              </a:ext>
            </a:extLst>
          </p:cNvPr>
          <p:cNvSpPr/>
          <p:nvPr userDrawn="1"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1875E4-4A42-2C6B-C742-9019C3453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>
          <a:xfrm>
            <a:off x="6235309" y="173789"/>
            <a:ext cx="5956691" cy="651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05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9903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59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591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82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1067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19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83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1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72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89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60707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898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95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90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8998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537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92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6566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a San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a San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999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2863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247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472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75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3562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480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09/09/2026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2C43D761-4191-D0FA-B603-6A6EEB97C9B7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alphaModFix amt="5000"/>
          </a:blip>
          <a:stretch>
            <a:fillRect/>
          </a:stretch>
        </p:blipFill>
        <p:spPr>
          <a:xfrm>
            <a:off x="5433451" y="173789"/>
            <a:ext cx="8223690" cy="651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01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9CAA-476F-B9C4-0D9A-C492A563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b="1" dirty="0">
                <a:latin typeface="Mona Sans" pitchFamily="2" charset="0"/>
              </a:rPr>
              <a:t>Módulo 2 — </a:t>
            </a:r>
            <a:r>
              <a:rPr lang="" b="1" dirty="0"/>
              <a:t>Da personalização ao controle</a:t>
            </a:r>
            <a:endParaRPr lang="LID4096" dirty="0">
              <a:latin typeface="Mona Sans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41730-526A-8504-22C8-E35E5D494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" b="1" dirty="0">
                <a:latin typeface="Mona Sans" pitchFamily="2" charset="0"/>
              </a:rPr>
              <a:t>GitHub Copilot para Engenharia de Software Moderna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E65B51-6706-F579-7A56-41FCC080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987" y="2958888"/>
            <a:ext cx="4074693" cy="32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E26E03-A1C0-C587-D598-ECBB69E1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23053"/>
          <a:stretch>
            <a:fillRect/>
          </a:stretch>
        </p:blipFill>
        <p:spPr>
          <a:xfrm>
            <a:off x="-1" y="94565"/>
            <a:ext cx="6327873" cy="651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3AEF1-74A1-4C8A-A466-FF260AB9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 anchor="b">
            <a:normAutofit/>
          </a:bodyPr>
          <a:lstStyle/>
          <a:p>
            <a:r>
              <a:rPr lang="LID4096"/>
              <a:t>Agenda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91ED72-D8FB-A284-2BC8-B613531611B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3802648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7721601" y="934789"/>
          <a:ext cx="4102100" cy="5054119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832133">
                  <a:extLst>
                    <a:ext uri="{9D8B030D-6E8A-4147-A177-3AD203B41FA5}">
                      <a16:colId xmlns:a16="http://schemas.microsoft.com/office/drawing/2014/main" val="2070971450"/>
                    </a:ext>
                  </a:extLst>
                </a:gridCol>
                <a:gridCol w="3269967">
                  <a:extLst>
                    <a:ext uri="{9D8B030D-6E8A-4147-A177-3AD203B41FA5}">
                      <a16:colId xmlns:a16="http://schemas.microsoft.com/office/drawing/2014/main" val="4023232663"/>
                    </a:ext>
                  </a:extLst>
                </a:gridCol>
              </a:tblGrid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Escolhendo o mecanismo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197211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 err="1">
                          <a:solidFill>
                            <a:schemeClr val="tx1"/>
                          </a:solidFill>
                        </a:rPr>
                        <a:t>Instruction</a:t>
                      </a: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 Files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824452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Prompt Files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744638"/>
                  </a:ext>
                </a:extLst>
              </a:tr>
              <a:tr h="7415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none" spc="0" dirty="0">
                          <a:solidFill>
                            <a:schemeClr val="tx1"/>
                          </a:solidFill>
                        </a:rPr>
                        <a:t>Custom Agents, Subagents e Handoffs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20978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Agent Skills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980661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 err="1">
                          <a:solidFill>
                            <a:schemeClr val="tx1"/>
                          </a:solidFill>
                        </a:rPr>
                        <a:t>Hooks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794081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MCP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209913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09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 err="1">
                          <a:solidFill>
                            <a:schemeClr val="tx1"/>
                          </a:solidFill>
                        </a:rPr>
                        <a:t>Lab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640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337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22E57D2-8207-CF07-F028-83591D18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pt-BR" sz="5400" dirty="0"/>
              <a:t>Escolhendo o Mecanismo</a:t>
            </a:r>
            <a:endParaRPr lang="LID4096" sz="5400" dirty="0"/>
          </a:p>
        </p:txBody>
      </p:sp>
    </p:spTree>
    <p:extLst>
      <p:ext uri="{BB962C8B-B14F-4D97-AF65-F5344CB8AC3E}">
        <p14:creationId xmlns:p14="http://schemas.microsoft.com/office/powerpoint/2010/main" val="390448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Mapa das personalizações</a:t>
            </a:r>
            <a:endParaRPr lang="LID4096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Comparando mecanismos por necessidade, gatilho e escopo.</a:t>
            </a:r>
            <a:endParaRPr lang="LID4096" sz="1600" dirty="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43888"/>
              </p:ext>
            </p:extLst>
          </p:nvPr>
        </p:nvGraphicFramePr>
        <p:xfrm>
          <a:off x="301752" y="2011680"/>
          <a:ext cx="11402568" cy="4389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0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Necessidade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Mecanismo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Gatilho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Regra durável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Instructions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Automático pelo escopo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Tarefa reutilizável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Prompt file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Invocação manual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Papel especializado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Custom agent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Seleção ou invocação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Trabalho isolado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Subagent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Delegação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Conhecimento e recursos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Agent Skill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Descoberta por relevância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Controle do ciclo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Hook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Evento do agente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865"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Sistema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externo</a:t>
                      </a:r>
                      <a:endParaRPr sz="1450" b="0" dirty="0">
                        <a:solidFill>
                          <a:srgbClr val="F5F5F7"/>
                        </a:solidFill>
                        <a:latin typeface="Mona Sans"/>
                      </a:endParaRP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 dirty="0">
                          <a:solidFill>
                            <a:srgbClr val="63E6FF"/>
                          </a:solidFill>
                          <a:latin typeface="Mona Sans"/>
                        </a:rPr>
                        <a:t>MCP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Chamada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de tool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12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AD87CC86-A43B-A7D6-7E60-BE1504530634}"/>
              </a:ext>
            </a:extLst>
          </p:cNvPr>
          <p:cNvSpPr txBox="1">
            <a:spLocks/>
          </p:cNvSpPr>
          <p:nvPr/>
        </p:nvSpPr>
        <p:spPr>
          <a:xfrm>
            <a:off x="3018499" y="952500"/>
            <a:ext cx="8887299" cy="563679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 err="1"/>
              <a:t>Instruction</a:t>
            </a:r>
            <a:r>
              <a:rPr lang="pt-BR" sz="5400" dirty="0"/>
              <a:t> Files</a:t>
            </a:r>
            <a:endParaRPr lang="LID4096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4155-D35D-CD71-FA0F-3B7CB796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Instructions: contexto durável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pt-BR" b="0"/>
              <a:t>Use instructions para orientações duráveis:</a:t>
            </a:r>
            <a:endParaRPr lang="pt-BR" sz="2000"/>
          </a:p>
          <a:p>
            <a:pPr>
              <a:spcAft>
                <a:spcPts val="800"/>
              </a:spcAft>
            </a:pPr>
            <a:r>
              <a:rPr lang="pt-BR" b="0"/>
              <a:t>convenções de código e arquitetura;</a:t>
            </a:r>
          </a:p>
          <a:p>
            <a:pPr>
              <a:spcAft>
                <a:spcPts val="800"/>
              </a:spcAft>
            </a:pPr>
            <a:r>
              <a:rPr lang="pt-BR" b="0"/>
              <a:t>restrições e padrões do repositório;</a:t>
            </a:r>
          </a:p>
          <a:p>
            <a:pPr>
              <a:spcAft>
                <a:spcPts val="800"/>
              </a:spcAft>
            </a:pPr>
            <a:r>
              <a:rPr lang="pt-BR" b="0"/>
              <a:t>comandos e critérios recorrentes de trabalho.</a:t>
            </a:r>
          </a:p>
          <a:p>
            <a:pPr>
              <a:spcAft>
                <a:spcPts val="800"/>
              </a:spcAft>
            </a:pPr>
            <a:r>
              <a:rPr lang="pt-BR" b="1"/>
              <a:t>Instructions orientam; não garantem uma ação.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Instructions fornecem contexto durável, mas possuem limites.</a:t>
            </a:r>
            <a:endParaRPr lang="LID4096" sz="16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B67849E-4424-26A8-FB17-2122551C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061" y="2463631"/>
            <a:ext cx="3572374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60162"/>
            <a:ext cx="11402567" cy="1005840"/>
          </a:xfrm>
        </p:spPr>
        <p:txBody>
          <a:bodyPr/>
          <a:lstStyle/>
          <a:p>
            <a:r>
              <a:rPr b="1" dirty="0"/>
              <a:t>Instructions do </a:t>
            </a:r>
            <a:r>
              <a:rPr b="1" dirty="0" err="1"/>
              <a:t>repositório</a:t>
            </a:r>
            <a:r>
              <a:rPr b="1" dirty="0"/>
              <a:t>,</a:t>
            </a:r>
            <a:r>
              <a:rPr lang="pt-BR" b="1" dirty="0"/>
              <a:t> </a:t>
            </a:r>
            <a:r>
              <a:rPr b="1" dirty="0" err="1"/>
              <a:t>por</a:t>
            </a:r>
            <a:r>
              <a:rPr b="1" dirty="0"/>
              <a:t> </a:t>
            </a:r>
            <a:r>
              <a:rPr b="1" dirty="0" err="1"/>
              <a:t>caminho</a:t>
            </a:r>
            <a:r>
              <a:rPr b="1" dirty="0"/>
              <a:t> e de </a:t>
            </a:r>
            <a:r>
              <a:rPr b="1" dirty="0" err="1"/>
              <a:t>agentes</a:t>
            </a:r>
            <a:endParaRPr lang="LID4096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38010"/>
            <a:ext cx="10465775" cy="411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600" dirty="0" err="1"/>
              <a:t>Comparando</a:t>
            </a:r>
            <a:r>
              <a:rPr sz="1600" dirty="0"/>
              <a:t> </a:t>
            </a:r>
            <a:r>
              <a:rPr sz="1600" dirty="0" err="1"/>
              <a:t>os</a:t>
            </a:r>
            <a:r>
              <a:rPr sz="1600" dirty="0"/>
              <a:t> </a:t>
            </a:r>
            <a:r>
              <a:rPr sz="1600" dirty="0" err="1"/>
              <a:t>formatos</a:t>
            </a:r>
            <a:r>
              <a:rPr sz="1600" dirty="0"/>
              <a:t> </a:t>
            </a:r>
            <a:r>
              <a:rPr sz="1600" dirty="0" err="1"/>
              <a:t>versionados</a:t>
            </a:r>
            <a:r>
              <a:rPr lang="pt-BR"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orientam</a:t>
            </a:r>
            <a:r>
              <a:rPr sz="1600" dirty="0"/>
              <a:t> o </a:t>
            </a:r>
            <a:r>
              <a:rPr sz="1600" dirty="0" err="1"/>
              <a:t>trabalho</a:t>
            </a:r>
            <a:r>
              <a:rPr sz="1600" dirty="0"/>
              <a:t> no </a:t>
            </a:r>
            <a:r>
              <a:rPr sz="1600" dirty="0" err="1"/>
              <a:t>repositório</a:t>
            </a:r>
            <a:r>
              <a:rPr sz="1600" dirty="0"/>
              <a:t>.</a:t>
            </a:r>
            <a:endParaRPr lang="LID4096" sz="1600" dirty="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84702"/>
              </p:ext>
            </p:extLst>
          </p:nvPr>
        </p:nvGraphicFramePr>
        <p:xfrm>
          <a:off x="301752" y="2011680"/>
          <a:ext cx="1140256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Tipo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Local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Aplicação típica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Repository-wide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.github/copilot-instructions.md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Todas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as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solicitações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no workspace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Path-specific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.github/instructions/*.instructions.md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Arquivos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ou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tarefas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correspondentes</a:t>
                      </a:r>
                      <a:endParaRPr sz="1450" b="0" dirty="0">
                        <a:solidFill>
                          <a:srgbClr val="F5F5F7"/>
                        </a:solidFill>
                        <a:latin typeface="Mona Sans"/>
                      </a:endParaRP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Agent instructions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63E6FF"/>
                          </a:solidFill>
                          <a:latin typeface="Mona Sans"/>
                        </a:rPr>
                        <a:t>AGENTS.md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Workspace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ou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subárvore</a:t>
                      </a:r>
                      <a:r>
                        <a:rPr sz="1450" b="0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F5F5F7"/>
                          </a:solidFill>
                          <a:latin typeface="Mona Sans"/>
                        </a:rPr>
                        <a:t>correspondente</a:t>
                      </a:r>
                      <a:endParaRPr sz="1450" b="0" dirty="0">
                        <a:solidFill>
                          <a:srgbClr val="F5F5F7"/>
                        </a:solidFill>
                        <a:latin typeface="Mona Sans"/>
                      </a:endParaRP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 gridSpan="3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A </a:t>
                      </a:r>
                      <a:r>
                        <a:rPr sz="1500" b="1" dirty="0" err="1">
                          <a:solidFill>
                            <a:srgbClr val="F5F5F7"/>
                          </a:solidFill>
                          <a:latin typeface="Mona Sans"/>
                        </a:rPr>
                        <a:t>superfície</a:t>
                      </a:r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5F5F7"/>
                          </a:solidFill>
                          <a:latin typeface="Mona Sans"/>
                        </a:rPr>
                        <a:t>utilizada</a:t>
                      </a:r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5F5F7"/>
                          </a:solidFill>
                          <a:latin typeface="Mona Sans"/>
                        </a:rPr>
                        <a:t>determina</a:t>
                      </a:r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 quais </a:t>
                      </a:r>
                      <a:r>
                        <a:rPr sz="1500" b="1" dirty="0" err="1">
                          <a:solidFill>
                            <a:srgbClr val="F5F5F7"/>
                          </a:solidFill>
                          <a:latin typeface="Mona Sans"/>
                        </a:rPr>
                        <a:t>formatos</a:t>
                      </a:r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5F5F7"/>
                          </a:solidFill>
                          <a:latin typeface="Mona Sans"/>
                        </a:rPr>
                        <a:t>são</a:t>
                      </a:r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5F5F7"/>
                          </a:solidFill>
                          <a:latin typeface="Mona Sans"/>
                        </a:rPr>
                        <a:t>suportados</a:t>
                      </a:r>
                      <a:r>
                        <a:rPr sz="1500" b="1" dirty="0">
                          <a:solidFill>
                            <a:srgbClr val="F5F5F7"/>
                          </a:solidFill>
                          <a:latin typeface="Mona Sans"/>
                        </a:rPr>
                        <a:t>.</a:t>
                      </a:r>
                    </a:p>
                  </a:txBody>
                  <a:tcPr marL="109728" marB="36576" anchor="ctr">
                    <a:solidFill>
                      <a:srgbClr val="1110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Instructions pessoais e organizacionais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Distinguindo orientações pessoais de orientações administradas pela organização.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8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Tipo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Quem mantém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Local típico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Alcance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Pessoal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Desenvolvedor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~/.copilot/instructions/ ou ~/.claude/rules/ no perfil do usuário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Workspaces do perfil compatível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Organizacional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Administrador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GitHub: Organization settings → Copilot → Custom instructions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Repositórios da organização, conforme suporte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596128"/>
            <a:ext cx="114025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>
                <a:solidFill>
                  <a:srgbClr val="F5F5F7"/>
                </a:solidFill>
                <a:latin typeface="Mona Sans"/>
              </a:rPr>
              <a:t>A origem da instruction não define, sozinha, sua aplicação.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Onde está não determina onde se aplica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8588" y="2011680"/>
            <a:ext cx="4575732" cy="4389120"/>
          </a:xfrm>
        </p:spPr>
        <p:txBody>
          <a:bodyPr wrap="square" anchor="b">
            <a:normAutofit/>
          </a:bodyPr>
          <a:lstStyle/>
          <a:p>
            <a:pPr marL="285750" lvl="0" indent="-285750" algn="l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rgbClr val="F5F5F7"/>
                </a:solidFill>
                <a:latin typeface="Mona Sans"/>
              </a:rPr>
              <a:t>Armazenamento</a:t>
            </a:r>
            <a:r>
              <a:rPr b="1" dirty="0">
                <a:solidFill>
                  <a:srgbClr val="F5F5F7"/>
                </a:solidFill>
                <a:latin typeface="Mona Sans"/>
              </a:rPr>
              <a:t>: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onde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fica</a:t>
            </a:r>
            <a:r>
              <a:rPr b="0" dirty="0">
                <a:solidFill>
                  <a:srgbClr val="F5F5F7"/>
                </a:solidFill>
                <a:latin typeface="Mona Sans"/>
              </a:rPr>
              <a:t> e com quem é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compartilhada</a:t>
            </a:r>
            <a:r>
              <a:rPr b="0" dirty="0">
                <a:solidFill>
                  <a:srgbClr val="F5F5F7"/>
                </a:solidFill>
                <a:latin typeface="Mona Sans"/>
              </a:rPr>
              <a:t>.</a:t>
            </a:r>
          </a:p>
          <a:p>
            <a:pPr marL="285750" lvl="0" indent="-285750" algn="l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rgbClr val="F5F5F7"/>
                </a:solidFill>
                <a:latin typeface="Mona Sans"/>
              </a:rPr>
              <a:t>Aplicação</a:t>
            </a:r>
            <a:r>
              <a:rPr b="1" dirty="0">
                <a:solidFill>
                  <a:srgbClr val="F5F5F7"/>
                </a:solidFill>
                <a:latin typeface="Mona Sans"/>
              </a:rPr>
              <a:t>: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em</a:t>
            </a:r>
            <a:r>
              <a:rPr b="0" dirty="0">
                <a:solidFill>
                  <a:srgbClr val="F5F5F7"/>
                </a:solidFill>
                <a:latin typeface="Mona Sans"/>
              </a:rPr>
              <a:t> quais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tarefas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ou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arquivos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entra</a:t>
            </a:r>
            <a:r>
              <a:rPr b="0" dirty="0">
                <a:solidFill>
                  <a:srgbClr val="F5F5F7"/>
                </a:solidFill>
                <a:latin typeface="Mona Sans"/>
              </a:rPr>
              <a:t> no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contexto</a:t>
            </a:r>
            <a:r>
              <a:rPr b="0" dirty="0">
                <a:solidFill>
                  <a:srgbClr val="F5F5F7"/>
                </a:solidFill>
                <a:latin typeface="Mona Sans"/>
              </a:rPr>
              <a:t>.</a:t>
            </a:r>
          </a:p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b="0" dirty="0">
                <a:solidFill>
                  <a:srgbClr val="F5F5F7"/>
                </a:solidFill>
                <a:latin typeface="Mona Sans"/>
              </a:rPr>
              <a:t>Uma Workspace Instruction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pode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valer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apenas</a:t>
            </a:r>
            <a:r>
              <a:rPr b="0" dirty="0">
                <a:solidFill>
                  <a:srgbClr val="F5F5F7"/>
                </a:solidFill>
                <a:latin typeface="Mona Sans"/>
              </a:rPr>
              <a:t> para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determinados</a:t>
            </a:r>
            <a:r>
              <a:rPr b="0" dirty="0">
                <a:solidFill>
                  <a:srgbClr val="F5F5F7"/>
                </a:solidFill>
                <a:latin typeface="Mona Sans"/>
              </a:rPr>
              <a:t> </a:t>
            </a:r>
            <a:r>
              <a:rPr b="0" dirty="0" err="1">
                <a:solidFill>
                  <a:srgbClr val="F5F5F7"/>
                </a:solidFill>
                <a:latin typeface="Mona Sans"/>
              </a:rPr>
              <a:t>caminhos</a:t>
            </a:r>
            <a:r>
              <a:rPr b="0" dirty="0">
                <a:solidFill>
                  <a:srgbClr val="F5F5F7"/>
                </a:solidFill>
                <a:latin typeface="Mona Sans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Escopo de armazenamento não é o mesmo que escopo de aplicação.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F4F5E4-67A3-F83E-C20B-B253DBD68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103119"/>
            <a:ext cx="9274530" cy="3474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Front matter de *.instructions.md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Identificando os campos que delimitam uma instruction baseada em arquivo.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Campo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Obrigatório?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e padrão quando omitido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name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Nome mostrado na interface; usa o nome do arquivo quando omitido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description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Finalidade e pista semântica; não apresenta descrição própria quando omitido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applyTo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Glob para aplicação automática; sem ele, não é aplicada automaticamente, mas continua disponível para anexo manual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Exemplo applyTo"/>
          <p:cNvSpPr txBox="1"/>
          <p:nvPr/>
        </p:nvSpPr>
        <p:spPr>
          <a:xfrm>
            <a:off x="301752" y="5650992"/>
            <a:ext cx="114025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applyTo: "src/Tests/**/*.cs" limita a aplicação automática aos testes.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Como uma instruction entra no contexto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anchor="b">
            <a:normAutofit/>
          </a:bodyPr>
          <a:lstStyle/>
          <a:p>
            <a:pPr marL="285750" lvl="0" indent="-285750" algn="l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F5F5F7"/>
                </a:solidFill>
                <a:latin typeface="Mona Sans"/>
              </a:rPr>
              <a:t>Tarefa e arquivos → descoberta → aplicabilidade → combinação → resposta → evidência.</a:t>
            </a:r>
            <a:endParaRPr lang="" sz="2000"/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>
                <a:solidFill>
                  <a:srgbClr val="F5F5F7"/>
                </a:solidFill>
                <a:latin typeface="Mona Sans"/>
              </a:rPr>
              <a:t>Disponível não significa aplicável. Aplicável não significa obedecida sem validação.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Visualizando descoberta, aplicabilidade, composição e verificação.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2AA10F-5E94-77D5-1723-F43D97A5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570030"/>
            <a:ext cx="11216640" cy="1717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Composição não é precedência garantida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Instructions se compõem sem uma precedência implícita garantida.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1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Prefira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Evite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Geral: preservar contratos existentes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Geral: usar sempre acesso síncrono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API: usar consultas assíncronas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API: sobrescrever a regra geral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Testes: validar status antes do corpo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F5F5F7"/>
                          </a:solidFill>
                          <a:latin typeface="Mona Sans"/>
                        </a:rPr>
                        <a:t>Regras contraditórias entre origens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596128"/>
            <a:ext cx="114025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>
                <a:solidFill>
                  <a:srgbClr val="F5F5F7"/>
                </a:solidFill>
                <a:latin typeface="Mona Sans"/>
              </a:rPr>
              <a:t>Não existe uma ordem universal de precedência entre todos os formatos.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Demo: Instructions e escopos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Regras gerais e específicas entram no contexto conforme a necessidade da tarefa.</a:t>
            </a:r>
            <a:endParaRPr lang="" sz="2000"/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• instruction geral do repositório;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• instructions específicas para API e testes;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• AGENTS.md como orientação do workspace;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• anexo manual fora do glob;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F5F5F7"/>
                </a:solidFill>
                <a:latin typeface="Mona Sans"/>
              </a:rPr>
              <a:t>• referências usadas como evidência.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Demonstrando aplicação geral, por caminho e por anexo manual.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362C9B-FA02-0253-43AF-6D6D14E52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816" y="2312585"/>
            <a:ext cx="5290458" cy="40415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b">
            <a:normAutofit/>
          </a:bodyPr>
          <a:lstStyle/>
          <a:p>
            <a:r>
              <a:rPr lang="pt-BR" sz="5400" dirty="0"/>
              <a:t>Prompt Files</a:t>
            </a:r>
            <a:endParaRPr lang="LID4096" sz="5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11402568" cy="731520"/>
          </a:xfrm>
        </p:spPr>
        <p:txBody>
          <a:bodyPr wrap="square"/>
          <a:lstStyle/>
          <a:p>
            <a:r>
              <a:rPr lang="pt-BR" b="1"/>
              <a:t>Prompt file: um template de prompt reutilizável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Prompt files são templates reutilizáveis, não contexto, conhecimento ou papéis.</a:t>
            </a:r>
            <a:endParaRPr lang="LID4096" sz="1600"/>
          </a:p>
        </p:txBody>
      </p:sp>
      <p:sp>
        <p:nvSpPr>
          <p:cNvPr id="5" name="Definição"/>
          <p:cNvSpPr txBox="1"/>
          <p:nvPr/>
        </p:nvSpPr>
        <p:spPr>
          <a:xfrm>
            <a:off x="301752" y="1901952"/>
            <a:ext cx="11402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>
                <a:solidFill>
                  <a:srgbClr val="F5F5F7"/>
                </a:solidFill>
                <a:latin typeface="Mona Sans"/>
              </a:rPr>
              <a:t>Prompt file = template de um prompt repetível, com parâmetros preenchidos a cada invocação.</a:t>
            </a:r>
          </a:p>
        </p:txBody>
      </p:sp>
      <p:graphicFrame>
        <p:nvGraphicFramePr>
          <p:cNvPr id="6" name="Conteúdo — tabela"/>
          <p:cNvGraphicFramePr>
            <a:graphicFrameLocks noGrp="1"/>
          </p:cNvGraphicFramePr>
          <p:nvPr/>
        </p:nvGraphicFramePr>
        <p:xfrm>
          <a:off x="301752" y="2487168"/>
          <a:ext cx="11402567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4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Mecanismo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principal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Gatilho</a:t>
                      </a:r>
                    </a:p>
                  </a:txBody>
                  <a:tcPr marL="109728" marB="36576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Instruction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Orientar como trabalhar no contexto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Escopo automático ou anexo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Agent Skill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Fornecer procedimento, conhecimento e recursos especializados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Relevância ou invocação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Custom agent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Definir papel, comportamento e capacidades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Seleção ou invocação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Prompt file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Executar uma tarefa repetível com entradas variáveis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Invocação explícita</a:t>
                      </a:r>
                    </a:p>
                  </a:txBody>
                  <a:tcPr marL="109728" marB="36576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nclusão"/>
          <p:cNvSpPr txBox="1"/>
          <p:nvPr/>
        </p:nvSpPr>
        <p:spPr>
          <a:xfrm>
            <a:off x="301752" y="5961888"/>
            <a:ext cx="114025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F5F5F7"/>
                </a:solidFill>
                <a:latin typeface="Mona Sans"/>
              </a:rPr>
              <a:t>O prompt file descreve a tarefa atual; ele não substitui regras, conhecimento ou papel.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r>
              <a:rPr lang="pt-BR" b="1"/>
              <a:t>Front matter de prompt files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Identificando os campos que alteram a descoberta e a execução de um prompt file.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4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Campo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Obrigatório?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e padrão quando omitido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name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Nome usado após /; usa o nome do arquivo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description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Finalidade exibida; não apresenta descrição própria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argument-hint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Orienta a entrada; nenhuma dica específica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agent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Agente da tarefa; usa o agente atual ou Agent quando tools é declarado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model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Modelo da execução; usa o modelo selecionado no picker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tools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Tools da invocação; usa as tools do agente ou seus padrões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971032"/>
            <a:ext cx="11402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>
                <a:solidFill>
                  <a:srgbClr val="F5F5F7"/>
                </a:solidFill>
                <a:latin typeface="Mona Sans"/>
              </a:rPr>
              <a:t>Todos os campos são opcionais.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Demo: Prompt Files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Criação de um endpoint parametrizado com contexto, tools e validação definidos em um prompt file.</a:t>
            </a:r>
            <a:endParaRPr lang="" sz="2000"/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invocação /endpoint-treinamento;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entradas ${input:...};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seleção de agente, modelo e tools pelo front matter;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referências à especificação e às instructions aplicáveis;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edição e validação supervisionadas.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en-US" sz="1600" err="1"/>
              <a:t>Demonstrando uma tarefa reutilizável e parametrizada.</a:t>
            </a:r>
            <a:endParaRPr lang="LID4096" sz="160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4261A51-BE13-CEE3-A434-8215C40D8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458" y="2809820"/>
            <a:ext cx="5243444" cy="31711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buNone/>
            </a:pPr>
            <a:r>
              <a:rPr lang="pt-BR" sz="4000"/>
              <a:t>Custom Agents, Subagents e Handoffs</a:t>
            </a:r>
            <a:endParaRPr lang="LID4096" sz="5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Custom agent não é apenas uma persona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Um custom agent combina:</a:t>
            </a:r>
            <a:endParaRPr lang="" sz="2000"/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• papel e critérios: </a:t>
            </a:r>
            <a:r>
              <a:rPr sz="1650" b="0">
                <a:solidFill>
                  <a:srgbClr val="F5F5F7"/>
                </a:solidFill>
                <a:latin typeface="Mona Sans"/>
              </a:rPr>
              <a:t>como deve trabalhar e responder;</a:t>
            </a:r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• modelo e contexto: </a:t>
            </a:r>
            <a:r>
              <a:rPr sz="1650" b="0">
                <a:solidFill>
                  <a:srgbClr val="F5F5F7"/>
                </a:solidFill>
                <a:latin typeface="Mona Sans"/>
              </a:rPr>
              <a:t>com que configuração raciocina;</a:t>
            </a:r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• tools e subagents: </a:t>
            </a:r>
            <a:r>
              <a:rPr sz="1650" b="0">
                <a:solidFill>
                  <a:srgbClr val="F5F5F7"/>
                </a:solidFill>
                <a:latin typeface="Mona Sans"/>
              </a:rPr>
              <a:t>quais capacidades pode usar;</a:t>
            </a:r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• handoffs: </a:t>
            </a:r>
            <a:r>
              <a:rPr sz="1650" b="0">
                <a:solidFill>
                  <a:srgbClr val="F5F5F7"/>
                </a:solidFill>
                <a:latin typeface="Mona Sans"/>
              </a:rPr>
              <a:t>quais próximas etapas pode sugerir.</a:t>
            </a:r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Especializar é alinhar responsabilidade, contexto e capacidade.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en-US" sz="1600" err="1"/>
              <a:t>Custom agents são configurações operacionais, não apenas personas.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8C0A00E-C546-FF5A-E252-31443CF59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562" y="2192695"/>
            <a:ext cx="5676652" cy="42326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 dirty="0"/>
              <a:t>Front </a:t>
            </a:r>
            <a:r>
              <a:rPr lang="pt-BR" b="1" dirty="0" err="1"/>
              <a:t>matter</a:t>
            </a:r>
            <a:r>
              <a:rPr lang="pt-BR" b="1" dirty="0"/>
              <a:t> de </a:t>
            </a:r>
            <a:r>
              <a:rPr lang="pt-BR" b="1" dirty="0" err="1"/>
              <a:t>custom</a:t>
            </a:r>
            <a:r>
              <a:rPr lang="pt-BR" b="1" dirty="0"/>
              <a:t> </a:t>
            </a:r>
            <a:r>
              <a:rPr lang="pt-BR" b="1" dirty="0" err="1"/>
              <a:t>agents</a:t>
            </a:r>
            <a:r>
              <a:rPr lang="pt-BR" b="1" dirty="0"/>
              <a:t> (1/4)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none" anchor="t">
            <a:normAutofit lnSpcReduction="10000"/>
          </a:bodyPr>
          <a:lstStyle/>
          <a:p>
            <a:pPr marL="285750" lvl="0" indent="-285750" algn="l">
              <a:buNone/>
            </a:pPr>
            <a:r>
              <a:rPr lang="en-NL" sz="1400" dirty="0">
                <a:solidFill>
                  <a:srgbClr val="63E6FF"/>
                </a:solidFill>
                <a:latin typeface="Consolas"/>
              </a:rPr>
              <a:t>---</a:t>
            </a:r>
            <a:br>
              <a:rPr lang="en-NL" sz="1400" dirty="0">
                <a:solidFill>
                  <a:srgbClr val="63E6FF"/>
                </a:solidFill>
                <a:latin typeface="Consolas"/>
              </a:rPr>
            </a:br>
            <a:r>
              <a:rPr sz="1400" dirty="0">
                <a:solidFill>
                  <a:srgbClr val="63E6FF"/>
                </a:solidFill>
                <a:latin typeface="Consolas"/>
              </a:rPr>
              <a:t>name: Revisor da </a:t>
            </a:r>
            <a:r>
              <a:rPr lang="pt-BR" sz="1400" dirty="0">
                <a:solidFill>
                  <a:srgbClr val="63E6FF"/>
                </a:solidFill>
                <a:latin typeface="Consolas"/>
              </a:rPr>
              <a:t>e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ntrega</a:t>
            </a:r>
            <a:br>
              <a:rPr lang="en-NL" dirty="0"/>
            </a:br>
            <a:r>
              <a:rPr lang="pt-BR" sz="1400" dirty="0">
                <a:solidFill>
                  <a:srgbClr val="63E6FF"/>
                </a:solidFill>
                <a:latin typeface="Consolas"/>
              </a:rPr>
              <a:t>d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escription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: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Revisa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critérios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e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evidências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sem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editar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arquivos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.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argument-hint: "[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escopo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da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revisão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]"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target: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vscode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model: GPT-5.2 (copilot)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tools: [read, search, execute, agent]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agents: [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Pesquisador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de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critérios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]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user-invocable: true            #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padrão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disable-model-invocation: false #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padrão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handoffs: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  - label: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Corrigir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lacunas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    agent: agent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    prompt: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Corrija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somente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as lacunas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aprovadas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.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    send: false                  #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padrão</a:t>
            </a:r>
            <a:br>
              <a:rPr dirty="0"/>
            </a:br>
            <a:r>
              <a:rPr sz="1400" dirty="0">
                <a:solidFill>
                  <a:srgbClr val="63E6FF"/>
                </a:solidFill>
                <a:latin typeface="Consolas"/>
              </a:rPr>
              <a:t>hooks: {}                        #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nenhum</a:t>
            </a:r>
            <a:r>
              <a:rPr sz="1400" dirty="0">
                <a:solidFill>
                  <a:srgbClr val="63E6FF"/>
                </a:solidFill>
                <a:latin typeface="Consolas"/>
              </a:rPr>
              <a:t> hook do </a:t>
            </a:r>
            <a:r>
              <a:rPr sz="1400" dirty="0" err="1">
                <a:solidFill>
                  <a:srgbClr val="63E6FF"/>
                </a:solidFill>
                <a:latin typeface="Consolas"/>
              </a:rPr>
              <a:t>agente</a:t>
            </a:r>
            <a:br>
              <a:rPr sz="1400" dirty="0">
                <a:solidFill>
                  <a:srgbClr val="63E6FF"/>
                </a:solidFill>
                <a:latin typeface="Consolas"/>
              </a:rPr>
            </a:br>
            <a:r>
              <a:rPr sz="1400" dirty="0">
                <a:solidFill>
                  <a:srgbClr val="63E6FF"/>
                </a:solidFill>
                <a:latin typeface="Consolas"/>
              </a:rPr>
              <a:t>---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Visualizando a configuração completa antes de analisar cada campo.</a:t>
            </a:r>
            <a:endParaRPr lang="LID4096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 dirty="0"/>
              <a:t>Front </a:t>
            </a:r>
            <a:r>
              <a:rPr lang="pt-BR" b="1" dirty="0" err="1"/>
              <a:t>matter</a:t>
            </a:r>
            <a:r>
              <a:rPr lang="pt-BR" b="1" dirty="0"/>
              <a:t> de </a:t>
            </a:r>
            <a:r>
              <a:rPr lang="pt-BR" b="1" dirty="0" err="1"/>
              <a:t>custom</a:t>
            </a:r>
            <a:r>
              <a:rPr lang="pt-BR" b="1" dirty="0"/>
              <a:t> </a:t>
            </a:r>
            <a:r>
              <a:rPr lang="pt-BR" b="1" dirty="0" err="1"/>
              <a:t>agents</a:t>
            </a:r>
            <a:r>
              <a:rPr lang="pt-BR" b="1" dirty="0"/>
              <a:t> (2/4)</a:t>
            </a:r>
            <a:endParaRPr lang="LID4096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Identificando o agente e controlando sua seleção manual ou pelo modelo.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Campo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Obrigatório?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e padrão quando omitido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description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Sim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Define o papel e as situações em que o agente é adequado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name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Nome exibido; usa o nome do arquivo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argument-hint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Orienta a entrada; nenhuma dica específica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target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Declara vscode ou github-copilot; sem ele, não há alvo explícito no arquivo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model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Modelo ou lista priorizada; usa o modelo selecionado no picker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user-invocable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Controla exibição no seletor; padrão true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disable-model-invocation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Impede uso como subagent; padrão false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 dirty="0"/>
              <a:t>Front </a:t>
            </a:r>
            <a:r>
              <a:rPr lang="pt-BR" b="1" dirty="0" err="1"/>
              <a:t>matter</a:t>
            </a:r>
            <a:r>
              <a:rPr lang="pt-BR" b="1" dirty="0"/>
              <a:t> de </a:t>
            </a:r>
            <a:r>
              <a:rPr lang="pt-BR" b="1" dirty="0" err="1"/>
              <a:t>custom</a:t>
            </a:r>
            <a:r>
              <a:rPr lang="pt-BR" b="1" dirty="0"/>
              <a:t> </a:t>
            </a:r>
            <a:r>
              <a:rPr lang="pt-BR" b="1" dirty="0" err="1"/>
              <a:t>agents</a:t>
            </a:r>
            <a:r>
              <a:rPr lang="pt-BR" b="1" dirty="0"/>
              <a:t> (3/4)</a:t>
            </a:r>
            <a:endParaRPr lang="LID4096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Relacionando capacidades ao acesso necessário para cada papel.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Campo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Obrigatório?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e padrão quando omitido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tools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Restringe tools e tool sets; usa as tools padrão da superfície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agents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Restringe os custom agents delegáveis; por padrão, permite todos que não bloqueiam invocação pelo modelo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mcp-servers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Define servidores para target: github-copilot; nenhum servidor adicional é declarado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hooks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Define hooks do agente no VS Code; nenhum hook específico do agente é executado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797296"/>
            <a:ext cx="114025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Disponibilidade de uma tool não equivale a aprovação para cada uso.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 dirty="0"/>
              <a:t>Front </a:t>
            </a:r>
            <a:r>
              <a:rPr lang="pt-BR" b="1" dirty="0" err="1"/>
              <a:t>matter</a:t>
            </a:r>
            <a:r>
              <a:rPr lang="pt-BR" b="1" dirty="0"/>
              <a:t> de </a:t>
            </a:r>
            <a:r>
              <a:rPr lang="pt-BR" b="1" dirty="0" err="1"/>
              <a:t>custom</a:t>
            </a:r>
            <a:r>
              <a:rPr lang="pt-BR" b="1" dirty="0"/>
              <a:t> </a:t>
            </a:r>
            <a:r>
              <a:rPr lang="pt-BR" b="1" dirty="0" err="1"/>
              <a:t>agents</a:t>
            </a:r>
            <a:r>
              <a:rPr lang="pt-BR" b="1" dirty="0"/>
              <a:t> (4/4)</a:t>
            </a:r>
            <a:endParaRPr lang="LID4096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Handoffs sugerem próximas etapas; não realizam delegação.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4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Campo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Obrigatório?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e padrão quando omitido</a:t>
                      </a:r>
                    </a:p>
                  </a:txBody>
                  <a:tcPr marR="73152" marT="32004" marB="32004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handoffs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Lista transições sugeridas; nenhum botão de handoff aparece quando omitido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handoffs.label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Sim, por item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Texto do botão apresentado ao usuário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handoffs.agent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Sim, por item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Agente de destino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handoffs.prompt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Preenche a próxima solicitação; sem ele, não há prompt predefinido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handoffs.send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Envia automaticamente quando true; padrão false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handoffs.model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Escolhe o modelo da transição; sem ele, não substitui a configuração do agente de destino</a:t>
                      </a:r>
                    </a:p>
                  </a:txBody>
                  <a:tcPr marR="73152" marT="32004" marB="32004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971032"/>
            <a:ext cx="11402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>
                <a:solidFill>
                  <a:srgbClr val="F5F5F7"/>
                </a:solidFill>
                <a:latin typeface="Mona Sans"/>
              </a:rPr>
              <a:t>send: false preserva a revisão humana antes da transição.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Coordenar, delegar e fazer handoff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anchor="b">
            <a:normAutofit/>
          </a:bodyPr>
          <a:lstStyle/>
          <a:p>
            <a:pPr marL="285750" lvl="0" indent="-285750" algn="l">
              <a:buNone/>
            </a:pPr>
            <a:r>
              <a:rPr sz="2000" b="0">
                <a:solidFill>
                  <a:srgbClr val="F5F5F7"/>
                </a:solidFill>
                <a:latin typeface="Mona Sans"/>
              </a:rPr>
              <a:t>Agente principal coordena → subagent investiga em contexto isolado → agente principal julga → usuário decide → handoff muda para o próximo papel.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Diferenciando coordenação, delegação e transição de responsabilidade.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1D041C-F09C-0E05-FE59-DC13D9BB7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2566562"/>
            <a:ext cx="11451772" cy="22473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Demo: revisão delegada (1/3)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Revisão de uma entrega contra a especificação, com pesquisa isolada e julgamento pelo agente principal.</a:t>
            </a:r>
            <a:endParaRPr lang="" sz="2000"/>
          </a:p>
          <a:p>
            <a:pPr algn="l">
              <a:spcAft>
                <a:spcPts val="500"/>
              </a:spcAft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custom agents com capacidades diferentes;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subagent oculto e contexto isolado;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critérios relacionados a código e testes;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validação focada e relatório classificado;</a:t>
            </a:r>
          </a:p>
          <a:p>
            <a:pPr algn="l">
              <a:spcAft>
                <a:spcPts val="500"/>
              </a:spcAft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handoff com send: false.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en-US" sz="1600" err="1"/>
              <a:t>Delegando pesquisa, validando evidências e mantendo a correção supervisionada.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4923EC1-17DA-13A3-D23B-4CA596785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50718"/>
            <a:ext cx="5794249" cy="34688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11402568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Demo: revisão delegada (2/3) — Menor privilégio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11402568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Aplicando menor privilégio ao separar pesquisa, julgamento e implementação.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8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Papel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Ler e buscar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Executar validação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Editar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Delegar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Pesquisador de critérios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Revisor da entrega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focada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somente pesquisador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Implementador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conforme necessidade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Desenvolvedor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supervisiona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aprova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revisa o diff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decide a transição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715000"/>
            <a:ext cx="114025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Capacidade acompanha responsabilidade — não conveniência.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11402568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Demo: revisão delegada (3/3) — Evidência e julgamento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anchor="b">
            <a:normAutofit/>
          </a:bodyPr>
          <a:lstStyle/>
          <a:p>
            <a:pPr marL="285750" lvl="0" indent="-285750" algn="l">
              <a:buNone/>
            </a:pPr>
            <a:r>
              <a:rPr sz="2000" b="0">
                <a:solidFill>
                  <a:srgbClr val="F5F5F7"/>
                </a:solidFill>
                <a:latin typeface="Mona Sans"/>
              </a:rPr>
              <a:t>O pesquisador responde: </a:t>
            </a:r>
            <a:r>
              <a:rPr sz="2000" b="1">
                <a:solidFill>
                  <a:srgbClr val="F5F5F7"/>
                </a:solidFill>
                <a:latin typeface="Mona Sans"/>
              </a:rPr>
              <a:t>“O que o contrato exige e que evidência existe?”</a:t>
            </a:r>
            <a:endParaRPr lang="" sz="2000"/>
          </a:p>
          <a:p>
            <a:pPr algn="l">
              <a:buNone/>
            </a:pPr>
            <a:r>
              <a:rPr sz="2000" b="0">
                <a:solidFill>
                  <a:srgbClr val="F5F5F7"/>
                </a:solidFill>
                <a:latin typeface="Mona Sans"/>
              </a:rPr>
              <a:t>O revisor responde: </a:t>
            </a:r>
            <a:r>
              <a:rPr sz="2000" b="1">
                <a:solidFill>
                  <a:srgbClr val="F5F5F7"/>
                </a:solidFill>
                <a:latin typeface="Mona Sans"/>
              </a:rPr>
              <a:t>“A evidência é suficiente para este critério?”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Separando coleta de evidências de classificação final.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673752-73A2-BFB0-C5AB-5386644C9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65" y="1894415"/>
            <a:ext cx="10811070" cy="32308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buNone/>
            </a:pPr>
            <a:r>
              <a:rPr lang="pt-BR" sz="5400"/>
              <a:t>Agent Skills</a:t>
            </a:r>
            <a:endParaRPr lang="LID4096" sz="5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Conhecimento sob demanda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Uma Agent Skill reúne:</a:t>
            </a:r>
            <a:endParaRPr lang="" sz="2000"/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instruções para uma tarefa especializada;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procedimento e critérios reutilizáveis;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exemplos e referências consultados quando necessários;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scripts e recursos auxiliares revisáveis.</a:t>
            </a:r>
          </a:p>
          <a:p>
            <a:pPr algn="l"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Disponível para descoberta; carregada quando relevante.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11402568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en-US" sz="1600" err="1"/>
              <a:t>Agent Skills fornecem procedimentos e recursos específicos quando necessários.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20AD3E-9E21-4192-C7C1-14B385B3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806" y="2581686"/>
            <a:ext cx="5279442" cy="33820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Instructions, skills ou agents?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Escolhendo o mecanismo pela necessidade, pelo gatilho e pelo conteúdo.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7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Necessidade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Instructions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Agent Skills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Custom Agents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Pergunta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Como trabalhar aqui?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Como executar esta prática especializada?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Quem executa e com quais capacidades?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Gatilho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Automático pelo escopo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Relevância ou invocação manual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Seleção ou invocação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Conteúdo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Regras e padrões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Procedimento, exemplos, scripts e recursos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Instruções, modelo, tools, subagents e handoffs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Uso típico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Convenções do repositório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Revisão de migration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Revisor read-only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797296"/>
            <a:ext cx="114025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Os mecanismos se complementam; não duplique o mesmo contrato nos três.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Anatomia de uma Agent Skill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anchor="b">
            <a:normAutofit/>
          </a:bodyPr>
          <a:lstStyle/>
          <a:p>
            <a:pPr marL="285750" lvl="0" indent="-285750" algn="l">
              <a:buNone/>
            </a:pPr>
            <a:r>
              <a:rPr sz="2000" b="0">
                <a:solidFill>
                  <a:srgbClr val="F5F5F7"/>
                </a:solidFill>
                <a:latin typeface="Mona Sans"/>
              </a:rPr>
              <a:t>Uma pasta de skill contém SKILL.md e apenas os recursos necessários ao procedimento.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11402568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Identificando o arquivo obrigatório e os recursos opcionais de uma skill.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1C0B318-80FA-4987-1B39-7BCC45978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604" y="1931865"/>
            <a:ext cx="7190792" cy="38874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Front matter de SKILL.md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11402568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Interpretando descoberta e invocação sem confundir declaração com permissão.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1920240"/>
          <a:ext cx="11402568" cy="409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Campo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Obrigatório?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Responsabilidade e padrão quando omitido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name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Sim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Identificador válido e igual ao diretório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description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Sim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Explica o que faz e quando deve ser usada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argument-hint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Orienta a invocação manual; nenhuma dica específica quando omitido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user-invocable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Controla exibição no menu /; padrão true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disable-model-invocation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Impede descoberta automática; padrão false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context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Controla execução inline ou em fork; padrão inline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license, compatibility, metadata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Acrescentam metadados; permanecem ausentes quando omitidos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allowed-tools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Não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Declara tools permitidas onde houver suporte; nenhuma lista é declarada quando omitido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Conclusão"/>
          <p:cNvSpPr txBox="1"/>
          <p:nvPr/>
        </p:nvSpPr>
        <p:spPr>
          <a:xfrm>
            <a:off x="301752" y="5961888"/>
            <a:ext cx="11402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F5F5F7"/>
                </a:solidFill>
                <a:latin typeface="Mona Sans"/>
              </a:rPr>
              <a:t>allowed-tools não é uma garantia portátil de permissão.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Progressive disclosure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anchor="b">
            <a:normAutofit/>
          </a:bodyPr>
          <a:lstStyle/>
          <a:p>
            <a:pPr marL="285750" lvl="0" indent="-285750" algn="l">
              <a:buNone/>
            </a:pPr>
            <a:r>
              <a:rPr sz="2000" b="1">
                <a:solidFill>
                  <a:srgbClr val="F5F5F7"/>
                </a:solidFill>
                <a:latin typeface="Mona Sans"/>
              </a:rPr>
              <a:t>1. Descobrir</a:t>
            </a:r>
            <a:r>
              <a:rPr sz="2000" b="0">
                <a:solidFill>
                  <a:srgbClr val="F5F5F7"/>
                </a:solidFill>
                <a:latin typeface="Mona Sans"/>
              </a:rPr>
              <a:t> — name + description</a:t>
            </a:r>
            <a:endParaRPr lang="" sz="2000"/>
          </a:p>
          <a:p>
            <a:pPr algn="l">
              <a:buNone/>
            </a:pPr>
            <a:r>
              <a:rPr sz="2000" b="1">
                <a:solidFill>
                  <a:srgbClr val="F5F5F7"/>
                </a:solidFill>
                <a:latin typeface="Mona Sans"/>
              </a:rPr>
              <a:t>2. Orientar</a:t>
            </a:r>
            <a:r>
              <a:rPr sz="2000" b="0">
                <a:solidFill>
                  <a:srgbClr val="F5F5F7"/>
                </a:solidFill>
                <a:latin typeface="Mona Sans"/>
              </a:rPr>
              <a:t> — corpo de SKILL.md</a:t>
            </a:r>
          </a:p>
          <a:p>
            <a:pPr algn="l">
              <a:buNone/>
            </a:pPr>
            <a:r>
              <a:rPr sz="2000" b="1">
                <a:solidFill>
                  <a:srgbClr val="F5F5F7"/>
                </a:solidFill>
                <a:latin typeface="Mona Sans"/>
              </a:rPr>
              <a:t>3. Aprofundar</a:t>
            </a:r>
            <a:r>
              <a:rPr sz="2000" b="0">
                <a:solidFill>
                  <a:srgbClr val="F5F5F7"/>
                </a:solidFill>
                <a:latin typeface="Mona Sans"/>
              </a:rPr>
              <a:t> — referências, exemplos e scripts necessários</a:t>
            </a:r>
          </a:p>
          <a:p>
            <a:pPr algn="l">
              <a:buNone/>
            </a:pPr>
            <a:r>
              <a:rPr sz="2000" b="1">
                <a:solidFill>
                  <a:srgbClr val="F5F5F7"/>
                </a:solidFill>
                <a:latin typeface="Mona Sans"/>
              </a:rPr>
              <a:t>Carregar por necessidade, não por inventário.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" sz="1600"/>
              <a:t>Carregando metadados, instruções e recursos somente quando necessários.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986389-DEE8-A9B6-5429-DB1B9C66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5" y="2352821"/>
            <a:ext cx="11744130" cy="215235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Script é evidência auxiliar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buNone/>
            </a:pPr>
            <a:r>
              <a:rPr sz="1550" b="1">
                <a:solidFill>
                  <a:srgbClr val="F5F5F7"/>
                </a:solidFill>
                <a:latin typeface="Mona Sans"/>
              </a:rPr>
              <a:t>Um script pode:</a:t>
            </a:r>
            <a:endParaRPr lang="" sz="2000"/>
          </a:p>
          <a:p>
            <a:pPr algn="l">
              <a:buNone/>
            </a:pPr>
            <a:r>
              <a:rPr sz="1550" b="0">
                <a:solidFill>
                  <a:srgbClr val="F5F5F7"/>
                </a:solidFill>
                <a:latin typeface="Mona Sans"/>
              </a:rPr>
              <a:t>• localizar padrões de forma reproduzível;</a:t>
            </a:r>
          </a:p>
          <a:p>
            <a:pPr algn="l">
              <a:buNone/>
            </a:pPr>
            <a:r>
              <a:rPr sz="1550" b="0">
                <a:solidFill>
                  <a:srgbClr val="F5F5F7"/>
                </a:solidFill>
                <a:latin typeface="Mona Sans"/>
              </a:rPr>
              <a:t>• reduzir inspeções manuais repetitivas;</a:t>
            </a:r>
          </a:p>
          <a:p>
            <a:pPr algn="l">
              <a:buNone/>
            </a:pPr>
            <a:r>
              <a:rPr sz="1550" b="0">
                <a:solidFill>
                  <a:srgbClr val="F5F5F7"/>
                </a:solidFill>
                <a:latin typeface="Mona Sans"/>
              </a:rPr>
              <a:t>• produzir sinais citáveis para a revisão.</a:t>
            </a:r>
          </a:p>
          <a:p>
            <a:pPr algn="l">
              <a:buNone/>
            </a:pPr>
            <a:r>
              <a:rPr sz="1550" b="1">
                <a:solidFill>
                  <a:srgbClr val="F5F5F7"/>
                </a:solidFill>
                <a:latin typeface="Mona Sans"/>
              </a:rPr>
              <a:t>Um script não pode, sozinho:</a:t>
            </a:r>
          </a:p>
          <a:p>
            <a:pPr algn="l">
              <a:buNone/>
            </a:pPr>
            <a:r>
              <a:rPr sz="1550" b="0">
                <a:solidFill>
                  <a:srgbClr val="F5F5F7"/>
                </a:solidFill>
                <a:latin typeface="Mona Sans"/>
              </a:rPr>
              <a:t>• compreender todo o contrato e o estado dos dados;</a:t>
            </a:r>
          </a:p>
          <a:p>
            <a:pPr algn="l">
              <a:buNone/>
            </a:pPr>
            <a:r>
              <a:rPr sz="1550" b="0">
                <a:solidFill>
                  <a:srgbClr val="F5F5F7"/>
                </a:solidFill>
                <a:latin typeface="Mona Sans"/>
              </a:rPr>
              <a:t>• provar segurança ou correção;</a:t>
            </a:r>
          </a:p>
          <a:p>
            <a:pPr algn="l">
              <a:buNone/>
            </a:pPr>
            <a:r>
              <a:rPr sz="1550" b="0">
                <a:solidFill>
                  <a:srgbClr val="F5F5F7"/>
                </a:solidFill>
                <a:latin typeface="Mona Sans"/>
              </a:rPr>
              <a:t>• autorizar sua própria execução.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11402568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en-US" sz="1600" err="1"/>
              <a:t>Scripts produzem resultados reproduzíveis, mas não substituem julgamento.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F8FD3E5-44BC-7BC1-6E3C-81860C5F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327" y="2158607"/>
            <a:ext cx="6169797" cy="38162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 wrap="square"/>
          <a:lstStyle/>
          <a:p>
            <a:pPr>
              <a:buNone/>
            </a:pPr>
            <a:r>
              <a:rPr lang="pt-BR" b="1"/>
              <a:t>Demo: revisão de migration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anchor="ctr">
            <a:normAutofit/>
          </a:bodyPr>
          <a:lstStyle/>
          <a:p>
            <a:pPr lvl="0"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Revisão de uma migration candidata do EF Core sem aplicá-la nem alterar o banco.</a:t>
            </a:r>
            <a:endParaRPr lang="" sz="2000"/>
          </a:p>
          <a:p>
            <a:pPr algn="l">
              <a:buNone/>
            </a:pPr>
            <a:r>
              <a:rPr sz="165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controle negativo com tarefa não relacionada;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descoberta por name e description;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carregamento de SKILL.md;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checklist e exemplo consultados sob demanda;</a:t>
            </a:r>
          </a:p>
          <a:p>
            <a:pPr algn="l">
              <a:buNone/>
            </a:pPr>
            <a:r>
              <a:rPr sz="1650" b="0">
                <a:solidFill>
                  <a:srgbClr val="F5F5F7"/>
                </a:solidFill>
                <a:latin typeface="Mona Sans"/>
              </a:rPr>
              <a:t>• script read-only revisado antes da execução.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11402568" cy="3611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en-US" sz="1600" err="1"/>
              <a:t>Demonstrando descoberta, carregamento progressivo e inspeção supervisionada.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5572875-948F-BD8C-A717-6BBC5BF59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804" y="2517204"/>
            <a:ext cx="5279444" cy="351214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/>
              <a:t>Hooks</a:t>
            </a:r>
            <a:endParaRPr lang="LID4096" sz="5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Orientação não é execução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Orientação influencia o modelo; hooks executam código.</a:t>
            </a:r>
            <a:endParaRPr lang="LID4096" sz="16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" y="2537460"/>
          <a:ext cx="114025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1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Orientar o modelo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Executar um hook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Instructions, prompts, agents e skills fornecem contexto e critérios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Um comando externo roda quando um evento configurado ocorre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 resposta continua dependente do modelo e do contexto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O script aplica lógica programática sobre uma entrada estruturada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Adequado para intenção, método e conhecimento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Adequado para observação, automação e decisões de controle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Deve ser validado pelo desenvolvedor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Também deve ser testado, protegido e monitorado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Ciclo de hooks no CLI e no cloud agent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lIns="0" tIns="27432" rIns="73152" bIns="27432" anchor="b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0" dirty="0" err="1">
                <a:solidFill>
                  <a:srgbClr val="F5F5F7"/>
                </a:solidFill>
                <a:latin typeface="Mona Sans"/>
              </a:rPr>
              <a:t>Diagrama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do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ciclo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: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sessão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→ prompt → ferramentas e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permissões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→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conclusão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, com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eventos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condicionais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de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contexto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,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subagentes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,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notificações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e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erros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F5F5F7"/>
                </a:solidFill>
                <a:latin typeface="Mona Sans"/>
              </a:rPr>
              <a:t>A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configuração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demonstra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14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eventos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;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uma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execução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normal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não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precisa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disparar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todos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eles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Visualizando os eventos do Copilot CLI e do cloud agent.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184EC50-D7D2-A23C-7A08-CBC98D0A2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328658"/>
            <a:ext cx="11588496" cy="22006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CLI: sessão, prompt e contexto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Relacionando eventos de sessão, prompt e compactação.</a:t>
            </a:r>
            <a:endParaRPr lang="LID4096" sz="16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" y="2253996"/>
          <a:ext cx="11402568" cy="3904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1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7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Evento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Momento observável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Uso possível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7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sessionStart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Sessão nova ou retomada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Inicializar, validar estado ou acrescentar contexto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7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userPromptSubmitted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Prompt enviado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Auditar a solicitação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7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userPromptTransformed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Conteúdo transformado antes de seguir ao modelo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Observar ou reescrever o conteúdo voltado ao modelo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7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preCompact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Antes da compactação manual ou automática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Registrar estado antes da redução de contexto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7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sessionEnd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Sessão encerrada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Limpar recursos ou concluir registros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CLI: ferramentas, agentes e operação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Interpretando eventos de tools, agentes e operação sem presumir sua ocorrência.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84702"/>
              </p:ext>
            </p:extLst>
          </p:nvPr>
        </p:nvGraphicFramePr>
        <p:xfrm>
          <a:off x="301752" y="2537460"/>
          <a:ext cx="114025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Grupo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Eventos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O que observar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Ferramentas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preToolUse, postToolUse, postToolUseFailure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Intenção, argumentos e resultado ou falha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Permissão</a:t>
                      </a:r>
                    </a:p>
                  </a:txBody>
                  <a:tcPr marR="73152" marT="27432" marB="27432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permissionRequest</a:t>
                      </a:r>
                    </a:p>
                  </a:txBody>
                  <a:tcPr marR="73152" marT="27432" marB="27432" anchor="ctr">
                    <a:solidFill>
                      <a:srgbClr val="1110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Decisão antes do fluxo normal de aprovação no CLI</a:t>
                      </a:r>
                    </a:p>
                  </a:txBody>
                  <a:tcPr marR="73152" marT="27432" marB="27432" anchor="ctr">
                    <a:solidFill>
                      <a:srgbClr val="11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Agentes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subagentStart, subagentStop, agentStop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Delegação e conclusão de um subagente ou turno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 gridSpan="3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Operação</a:t>
                      </a:r>
                    </a:p>
                  </a:txBody>
                  <a:tcPr marR="73152" marT="27432" marB="27432" anchor="ctr">
                    <a:solidFill>
                      <a:srgbClr val="11101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errorOccurred, notification</a:t>
                      </a:r>
                    </a:p>
                  </a:txBody>
                  <a:tcPr marR="73152" marT="27432" marB="27432" anchor="ctr"/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Erros e notificações assíncronas do CLI</a:t>
                      </a:r>
                    </a:p>
                  </a:txBody>
                  <a:tcPr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Ciclo de hooks no Agent mode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lIns="0" tIns="27432" rIns="73152" bIns="27432" anchor="b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0" dirty="0" err="1">
                <a:solidFill>
                  <a:srgbClr val="F5F5F7"/>
                </a:solidFill>
                <a:latin typeface="Mona Sans"/>
              </a:rPr>
              <a:t>Diagrama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do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ciclo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: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primeiro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prompt → ferramentas →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fim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da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execução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atual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, com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compactação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e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subagentes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quando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aplicáveis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F5F5F7"/>
                </a:solidFill>
                <a:latin typeface="Mona Sans"/>
              </a:rPr>
              <a:t>Stop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encerra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a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execução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atual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do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agente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;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não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significa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que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o chat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foi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fechado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Visualizando os eventos de hooks do Agent mode.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0CD5AA5-563F-5BD0-3BC2-DB2B004FF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901247"/>
            <a:ext cx="11588496" cy="105550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VS Code: oito eventos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Associando cada evento do VS Code ao seu momento e finalidade.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Evento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Quando ocorre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Uso típico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SessionStart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Primeiro prompt de uma nova sessão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Inicialização e contexto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UserPromptSubmit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Envio de um prompt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Auditoria e contexto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PreToolUse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Antes de uma ferramenta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Permitir, negar, pedir aprovação ou ajustar entrada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PostToolUse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Após sucesso da ferramenta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Registro, validação e contexto adicional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PreCompact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Antes da compactação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Preservação de estado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SubagentStart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Início de subagente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Contexto e rastreamento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SubagentStop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Conclusão de subagente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Validação e continuidade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Stop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Fim da execução atual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Verificação antes de concluir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Dois contratos, não duas grafias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CLI, cloud agent e VS Code usam contratos distintos.</a:t>
            </a:r>
            <a:endParaRPr lang="LID4096" sz="1600"/>
          </a:p>
        </p:txBody>
      </p:sp>
      <p:graphicFrame>
        <p:nvGraphicFramePr>
          <p:cNvPr id="5" name="Conteúdo — tabela"/>
          <p:cNvGraphicFramePr>
            <a:graphicFrameLocks noGrp="1"/>
          </p:cNvGraphicFramePr>
          <p:nvPr/>
        </p:nvGraphicFramePr>
        <p:xfrm>
          <a:off x="301752" y="2011680"/>
          <a:ext cx="11402568" cy="4389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4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Aspecto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Copilot CLI / cloud agent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VS Code Agent mode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Eventos da demo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14 nomes em camelCase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8 nomes em PascalCase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Versão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"version": 1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Sem campo version na configuração nativa da demo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Comandos por SO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bash, powershell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windows, linux, osx; command como padrão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Limite de execução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timeoutSec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timeout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Payload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camelCase: sessionId, toolName, toolArgs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snake_case: session_id, tool_name, tool_input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Decisão PreToolUse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permissionDecision no contrato CLI/cloud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hookSpecificOutput.permissionDecision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Entrada, decisão e saída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lIns="0" tIns="27432" rIns="73152" bIns="27432" anchor="b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0" dirty="0" err="1">
                <a:solidFill>
                  <a:srgbClr val="F5F5F7"/>
                </a:solidFill>
                <a:latin typeface="Mona Sans"/>
              </a:rPr>
              <a:t>Diagrama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do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contrato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: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evento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→ JSON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em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stdin → script →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diagnóstico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e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saída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estruturada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→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efeito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no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fluxo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F5F5F7"/>
                </a:solidFill>
                <a:latin typeface="Mona Sans"/>
              </a:rPr>
              <a:t>Um logger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observa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sem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decidir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; um guardrail devolve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exatamente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o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contrato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esperado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pela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superfície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Todo hook recebe uma entrada, toma uma decisão e produz uma saída.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DE60EF-124B-DFE4-B478-325F8AEDB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226921"/>
            <a:ext cx="11588496" cy="240415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Demo: Uma trilha, dois contratos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lIns="0" tIns="27432" rIns="73152" bIns="27432" anchor="t">
            <a:normAutofit/>
          </a:bodyPr>
          <a:lstStyle/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Eventos do agente registrados em JSONL para correlacionar prompt, ferramentas e conclusão.</a:t>
            </a:r>
            <a:endParaRPr lang="" sz="2000"/>
          </a:p>
          <a:p>
            <a:pPr algn="l"/>
            <a:r>
              <a:rPr sz="180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logger do Copilot CLI com eventos em camelCase;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correlação de chamadas e resultados por sessão;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comparação rápida com os oito eventos do VS Code;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diferenças de configuração e payload;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tratamento responsável de logs potencialmente sensíveis.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Observando uma única narrativa por meio de dois contratos.</a:t>
            </a:r>
            <a:endParaRPr lang="LID4096" sz="1600"/>
          </a:p>
        </p:txBody>
      </p:sp>
      <p:pic>
        <p:nvPicPr>
          <p:cNvPr id="5" name="Picture 4" descr="slide45-ch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248" y="3024474"/>
            <a:ext cx="4600000" cy="26126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Demo: Prevenir uma mutação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lIns="0" tIns="27432" rIns="73152" bIns="27432" anchor="t">
            <a:normAutofit/>
          </a:bodyPr>
          <a:lstStyle/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Uma política CLI/cloud agent bloqueia alterações em config/environments sem tornar o repositório inteiro somente leitura.</a:t>
            </a:r>
            <a:endParaRPr lang="" sz="2000"/>
          </a:p>
          <a:p>
            <a:pPr algn="l"/>
            <a:r>
              <a:rPr sz="180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matcher restrito a ferramentas de mutação;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leitura permitida na pasta protegida;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edição negada com justificativa;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escrita permitida fora da pasta protegida;</a:t>
            </a:r>
          </a:p>
          <a:p>
            <a:pPr algn="l"/>
            <a:r>
              <a:rPr sz="1800" b="0">
                <a:solidFill>
                  <a:srgbClr val="F5F5F7"/>
                </a:solidFill>
                <a:latin typeface="Mona Sans"/>
              </a:rPr>
              <a:t>• validação do arquivo e do diff após cada tentativa.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Bloqueando mutações seletivamente sem impedir operações de leitura.</a:t>
            </a:r>
            <a:endParaRPr lang="LID4096" sz="1600"/>
          </a:p>
        </p:txBody>
      </p:sp>
      <p:pic>
        <p:nvPicPr>
          <p:cNvPr id="5" name="Picture 4" descr="slide46-ch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76" y="2902051"/>
            <a:ext cx="3884343" cy="285748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Hook não é a barreira final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lIns="0" tIns="27432" rIns="73152" bIns="27432" anchor="b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0" dirty="0" err="1">
                <a:solidFill>
                  <a:srgbClr val="F5F5F7"/>
                </a:solidFill>
                <a:latin typeface="Mona Sans"/>
              </a:rPr>
              <a:t>Defesa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em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profundidade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: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permissões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mínimas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→ hook →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revisão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→ CI → CODEOWNERS → rulesets e branch protection.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F5F5F7"/>
                </a:solidFill>
                <a:latin typeface="Mona Sans"/>
              </a:rPr>
              <a:t>Cada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camada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cobre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falhas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e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caminhos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que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as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anteriores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não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controlam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Hooks complementam os controles do ambiente, da revisão e do repositório.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27A8EA4-C892-D38E-A5EE-9E452BA36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694340"/>
            <a:ext cx="11588496" cy="14693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/>
              <a:t>MCP</a:t>
            </a:r>
            <a:endParaRPr lang="LID4096" sz="5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Uma ponte explícita para capacidades externas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 lIns="0" tIns="27432" rIns="73152" bIns="27432" anchor="b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F5F5F7"/>
                </a:solidFill>
                <a:latin typeface="Mona Sans"/>
              </a:rPr>
              <a:t>Cliente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MCP: 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VS Code + Copilot Chat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em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Agent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F5F5F7"/>
                </a:solidFill>
                <a:latin typeface="Mona Sans"/>
              </a:rPr>
              <a:t>Servidor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 MCP: 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GitHub MCP Server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remoto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of</a:t>
            </a:r>
            <a:r>
              <a:rPr lang="pt-BR" sz="2000" b="0" dirty="0">
                <a:solidFill>
                  <a:srgbClr val="F5F5F7"/>
                </a:solidFill>
                <a:latin typeface="Mona Sans"/>
              </a:rPr>
              <a:t>f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icial</a:t>
            </a:r>
            <a:endParaRPr sz="2000" b="0" dirty="0">
              <a:solidFill>
                <a:srgbClr val="F5F5F7"/>
              </a:solidFill>
              <a:latin typeface="Mona San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F5F5F7"/>
                </a:solidFill>
                <a:latin typeface="Mona Sans"/>
              </a:rPr>
              <a:t>Tools: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operações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estruturadas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anunciadas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pelo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servidor</a:t>
            </a:r>
            <a:endParaRPr sz="2000" b="0" dirty="0">
              <a:solidFill>
                <a:srgbClr val="F5F5F7"/>
              </a:solidFill>
              <a:latin typeface="Mona San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F5F5F7"/>
                </a:solidFill>
                <a:latin typeface="Mona Sans"/>
              </a:rPr>
              <a:t>Sistema </a:t>
            </a:r>
            <a:r>
              <a:rPr sz="2000" b="1" dirty="0" err="1">
                <a:solidFill>
                  <a:srgbClr val="F5F5F7"/>
                </a:solidFill>
                <a:latin typeface="Mona Sans"/>
              </a:rPr>
              <a:t>externo</a:t>
            </a:r>
            <a:r>
              <a:rPr sz="2000" b="1" dirty="0">
                <a:solidFill>
                  <a:srgbClr val="F5F5F7"/>
                </a:solidFill>
                <a:latin typeface="Mona Sans"/>
              </a:rPr>
              <a:t>: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repositórios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, </a:t>
            </a:r>
            <a:r>
              <a:rPr sz="2000" b="0" dirty="0" err="1">
                <a:solidFill>
                  <a:srgbClr val="F5F5F7"/>
                </a:solidFill>
                <a:latin typeface="Mona Sans"/>
              </a:rPr>
              <a:t>arquivos</a:t>
            </a:r>
            <a:r>
              <a:rPr sz="2000" b="0" dirty="0">
                <a:solidFill>
                  <a:srgbClr val="F5F5F7"/>
                </a:solidFill>
                <a:latin typeface="Mona Sans"/>
              </a:rPr>
              <a:t> e issues no GitHub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Separando cliente, servidor, tools e sistema externo.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BE25539-8048-325E-D0DA-73DC7B996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597571"/>
            <a:ext cx="11588496" cy="166285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Quatro camadas, quatro perguntas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Identidade, OAuth, tools e confirmação são camadas distintas.</a:t>
            </a:r>
            <a:endParaRPr lang="LID4096" sz="16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" y="2537460"/>
          <a:ext cx="114025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1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Camada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5F7"/>
                          </a:solidFill>
                          <a:latin typeface="Mona Sans"/>
                        </a:rPr>
                        <a:t>Pergunta de controle</a:t>
                      </a:r>
                    </a:p>
                  </a:txBody>
                  <a:tcPr marR="73152" marT="27432" marB="27432" anchor="ctr">
                    <a:solidFill>
                      <a:srgbClr val="662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Identidade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Quem está autenticado e a quais recursos essa conta tem acesso?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Escopos OAuth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Quais operações a autorização concedida ao cliente pode solicitar?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Tools expostas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Quais capacidades o servidor apresenta ao agente nesta conexão?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3E6FF"/>
                          </a:solidFill>
                          <a:latin typeface="Mona Sans"/>
                        </a:rPr>
                        <a:t>Confirmação local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5F5F7"/>
                          </a:solidFill>
                          <a:latin typeface="Mona Sans"/>
                        </a:rPr>
                        <a:t>Esta chamada concreta, com este alvo e estes argumentos, será autorizada agora?</a:t>
                      </a:r>
                    </a:p>
                  </a:txBody>
                  <a:tcPr marR="73152" marT="27432" marB="27432" anchor="ctr">
                    <a:solidFill>
                      <a:srgbClr val="0B0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Demo: investigar antes de escrever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lIns="0" tIns="27432" rIns="73152" bIns="27432" anchor="t">
            <a:normAutofit/>
          </a:bodyPr>
          <a:lstStyle/>
          <a:p>
            <a:pPr algn="l">
              <a:buNone/>
            </a:pPr>
            <a:r>
              <a:rPr sz="1800" b="0">
                <a:solidFill>
                  <a:srgbClr val="F5F5F7"/>
                </a:solidFill>
                <a:latin typeface="Mona Sans"/>
              </a:rPr>
              <a:t>O mesmo pedido produz evidências diferentes conforme as capacidades disponíveis.</a:t>
            </a:r>
            <a:endParaRPr lang="" sz="2000"/>
          </a:p>
          <a:p>
            <a:pPr algn="l">
              <a:buNone/>
            </a:pPr>
            <a:r>
              <a:rPr sz="1800" b="1">
                <a:solidFill>
                  <a:srgbClr val="F5F5F7"/>
                </a:solidFill>
                <a:latin typeface="Mona Sans"/>
              </a:rPr>
              <a:t>O que será demonstrado:</a:t>
            </a:r>
          </a:p>
          <a:p>
            <a:pPr algn="l">
              <a:buNone/>
            </a:pPr>
            <a:r>
              <a:rPr sz="1800" b="0">
                <a:solidFill>
                  <a:srgbClr val="F5F5F7"/>
                </a:solidFill>
                <a:latin typeface="Mona Sans"/>
              </a:rPr>
              <a:t>• comparar o pedido sem tools, com tools internas e com MCP;</a:t>
            </a:r>
          </a:p>
          <a:p>
            <a:pPr algn="l">
              <a:buNone/>
            </a:pPr>
            <a:r>
              <a:rPr sz="1800" b="0">
                <a:solidFill>
                  <a:srgbClr val="F5F5F7"/>
                </a:solidFill>
                <a:latin typeface="Mona Sans"/>
              </a:rPr>
              <a:t>• ler evidências com get_file_contents;</a:t>
            </a:r>
          </a:p>
          <a:p>
            <a:pPr algn="l">
              <a:buNone/>
            </a:pPr>
            <a:r>
              <a:rPr sz="1800" b="0">
                <a:solidFill>
                  <a:srgbClr val="F5F5F7"/>
                </a:solidFill>
                <a:latin typeface="Mona Sans"/>
              </a:rPr>
              <a:t>• procurar duplicidade com search_issues;</a:t>
            </a:r>
          </a:p>
          <a:p>
            <a:pPr algn="l">
              <a:buNone/>
            </a:pPr>
            <a:r>
              <a:rPr sz="1800" b="0">
                <a:solidFill>
                  <a:srgbClr val="F5F5F7"/>
                </a:solidFill>
                <a:latin typeface="Mona Sans"/>
              </a:rPr>
              <a:t>• habilitar issue_write somente após rascunho e aprovação.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Investigando sistemas externos antes de produzir efeitos persistentes.</a:t>
            </a:r>
            <a:endParaRPr lang="LID4096" sz="1600"/>
          </a:p>
        </p:txBody>
      </p:sp>
      <p:pic>
        <p:nvPicPr>
          <p:cNvPr id="5" name="Picture 4" descr="slide52-ch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082" y="2990015"/>
            <a:ext cx="5344332" cy="268155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Menos tools não revogam permissões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wrap="square" lIns="0" tIns="27432" rIns="73152" bIns="27432" anchor="t">
            <a:normAutofit/>
          </a:bodyPr>
          <a:lstStyle/>
          <a:p>
            <a:pPr algn="l">
              <a:buNone/>
            </a:pPr>
            <a:r>
              <a:rPr sz="1900" b="1">
                <a:solidFill>
                  <a:srgbClr val="F5F5F7"/>
                </a:solidFill>
                <a:latin typeface="Mona Sans"/>
              </a:rPr>
              <a:t>Tools expostas:</a:t>
            </a:r>
            <a:r>
              <a:rPr sz="1900" b="0">
                <a:solidFill>
                  <a:srgbClr val="F5F5F7"/>
                </a:solidFill>
                <a:latin typeface="Mona Sans"/>
              </a:rPr>
              <a:t> limitam o catálogo que o agente pode selecionar nesta conexão.</a:t>
            </a:r>
            <a:endParaRPr lang="" sz="2000"/>
          </a:p>
          <a:p>
            <a:pPr algn="l">
              <a:buNone/>
            </a:pPr>
            <a:r>
              <a:rPr sz="1900" b="1">
                <a:solidFill>
                  <a:srgbClr val="F5F5F7"/>
                </a:solidFill>
                <a:latin typeface="Mona Sans"/>
              </a:rPr>
              <a:t>Escopos OAuth:</a:t>
            </a:r>
            <a:r>
              <a:rPr sz="1900" b="0">
                <a:solidFill>
                  <a:srgbClr val="F5F5F7"/>
                </a:solidFill>
                <a:latin typeface="Mona Sans"/>
              </a:rPr>
              <a:t> delimitam o que a autorização concedida ao cliente pode solicitar.</a:t>
            </a:r>
          </a:p>
          <a:p>
            <a:pPr algn="l">
              <a:buNone/>
            </a:pPr>
            <a:r>
              <a:rPr sz="1900" b="1">
                <a:solidFill>
                  <a:srgbClr val="F5F5F7"/>
                </a:solidFill>
                <a:latin typeface="Mona Sans"/>
              </a:rPr>
              <a:t>Identidade:</a:t>
            </a:r>
            <a:r>
              <a:rPr sz="1900" b="0">
                <a:solidFill>
                  <a:srgbClr val="F5F5F7"/>
                </a:solidFill>
                <a:latin typeface="Mona Sans"/>
              </a:rPr>
              <a:t> continua sujeita ao acesso da conta, do repositório e da organização.</a:t>
            </a:r>
          </a:p>
          <a:p>
            <a:pPr algn="l">
              <a:buNone/>
            </a:pPr>
            <a:r>
              <a:rPr sz="1900" b="1">
                <a:solidFill>
                  <a:srgbClr val="F5F5F7"/>
                </a:solidFill>
                <a:latin typeface="Mona Sans"/>
              </a:rPr>
              <a:t>Regra prática:</a:t>
            </a:r>
            <a:r>
              <a:rPr sz="1900" b="0">
                <a:solidFill>
                  <a:srgbClr val="F5F5F7"/>
                </a:solidFill>
                <a:latin typeface="Mona Sans"/>
              </a:rPr>
              <a:t> conceda o mínimo em todas as camadas; valide cada efeito no sistema de origem.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Menos tools reduzem a superfície do agente, mas não revogam permissões.</a:t>
            </a:r>
            <a:endParaRPr lang="LID4096" sz="1600"/>
          </a:p>
        </p:txBody>
      </p:sp>
      <p:pic>
        <p:nvPicPr>
          <p:cNvPr id="5" name="Picture 4" descr="slide53-ch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01" y="2344761"/>
            <a:ext cx="5958094" cy="39720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/>
              <a:t>LAB 02</a:t>
            </a:r>
            <a:endParaRPr lang="LID4096" sz="5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/>
              <a:t>Título</a:t>
            </a:r>
            <a:endParaRPr lang="LID4096" sz="5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Título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b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/>
              <a:t>Corpo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Subtítulo</a:t>
            </a:r>
            <a:endParaRPr lang="LID4096" sz="1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Título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Corpo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Subtítulo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902051"/>
            <a:ext cx="4600000" cy="28574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Mona Sans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0</TotalTime>
  <Words>10471</Words>
  <Application>Microsoft Office PowerPoint</Application>
  <PresentationFormat>Widescreen</PresentationFormat>
  <Paragraphs>1071</Paragraphs>
  <Slides>56</Slides>
  <Notes>53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1" baseType="lpstr">
      <vt:lpstr>Aptos</vt:lpstr>
      <vt:lpstr>Arial</vt:lpstr>
      <vt:lpstr>Consolas</vt:lpstr>
      <vt:lpstr>Mona Sans</vt:lpstr>
      <vt:lpstr>Dark Gradient</vt:lpstr>
      <vt:lpstr>Módulo 2 — Da personalização ao controle</vt:lpstr>
      <vt:lpstr>Agenda</vt:lpstr>
      <vt:lpstr>Escolhendo o Mecanismo</vt:lpstr>
      <vt:lpstr>Mapa das personalizações</vt:lpstr>
      <vt:lpstr>Apresentação do PowerPoint</vt:lpstr>
      <vt:lpstr>Instructions: contexto durável</vt:lpstr>
      <vt:lpstr>Instructions do repositório, por caminho e de agentes</vt:lpstr>
      <vt:lpstr>Instructions pessoais e organizacionais</vt:lpstr>
      <vt:lpstr>Onde está não determina onde se aplica</vt:lpstr>
      <vt:lpstr>Front matter de *.instructions.md</vt:lpstr>
      <vt:lpstr>Como uma instruction entra no contexto</vt:lpstr>
      <vt:lpstr>Composição não é precedência garantida</vt:lpstr>
      <vt:lpstr>Demo: Instructions e escopos</vt:lpstr>
      <vt:lpstr>Prompt Files</vt:lpstr>
      <vt:lpstr>Prompt file: um template de prompt reutilizável</vt:lpstr>
      <vt:lpstr>Front matter de prompt files</vt:lpstr>
      <vt:lpstr>Demo: Prompt Files</vt:lpstr>
      <vt:lpstr>Custom Agents, Subagents e Handoffs</vt:lpstr>
      <vt:lpstr>Custom agent não é apenas uma persona</vt:lpstr>
      <vt:lpstr>Front matter de custom agents (1/4)</vt:lpstr>
      <vt:lpstr>Front matter de custom agents (2/4)</vt:lpstr>
      <vt:lpstr>Front matter de custom agents (3/4)</vt:lpstr>
      <vt:lpstr>Front matter de custom agents (4/4)</vt:lpstr>
      <vt:lpstr>Coordenar, delegar e fazer handoff</vt:lpstr>
      <vt:lpstr>Demo: revisão delegada (1/3)</vt:lpstr>
      <vt:lpstr>Demo: revisão delegada (2/3) — Menor privilégio</vt:lpstr>
      <vt:lpstr>Demo: revisão delegada (3/3) — Evidência e julgamento</vt:lpstr>
      <vt:lpstr>Agent Skills</vt:lpstr>
      <vt:lpstr>Conhecimento sob demanda</vt:lpstr>
      <vt:lpstr>Instructions, skills ou agents?</vt:lpstr>
      <vt:lpstr>Anatomia de uma Agent Skill</vt:lpstr>
      <vt:lpstr>Front matter de SKILL.md</vt:lpstr>
      <vt:lpstr>Progressive disclosure</vt:lpstr>
      <vt:lpstr>Script é evidência auxiliar</vt:lpstr>
      <vt:lpstr>Demo: revisão de migration</vt:lpstr>
      <vt:lpstr>Hooks</vt:lpstr>
      <vt:lpstr>Orientação não é execução</vt:lpstr>
      <vt:lpstr>Ciclo de hooks no CLI e no cloud agent</vt:lpstr>
      <vt:lpstr>CLI: sessão, prompt e contexto</vt:lpstr>
      <vt:lpstr>CLI: ferramentas, agentes e operação</vt:lpstr>
      <vt:lpstr>Ciclo de hooks no Agent mode</vt:lpstr>
      <vt:lpstr>VS Code: oito eventos</vt:lpstr>
      <vt:lpstr>Dois contratos, não duas grafias</vt:lpstr>
      <vt:lpstr>Entrada, decisão e saída</vt:lpstr>
      <vt:lpstr>Demo: Uma trilha, dois contratos</vt:lpstr>
      <vt:lpstr>Demo: Prevenir uma mutação</vt:lpstr>
      <vt:lpstr>Hook não é a barreira final</vt:lpstr>
      <vt:lpstr>MCP</vt:lpstr>
      <vt:lpstr>Uma ponte explícita para capacidades externas</vt:lpstr>
      <vt:lpstr>Quatro camadas, quatro perguntas</vt:lpstr>
      <vt:lpstr>Demo: investigar antes de escrever</vt:lpstr>
      <vt:lpstr>Menos tools não revogam permissões</vt:lpstr>
      <vt:lpstr>LAB 02</vt:lpstr>
      <vt:lpstr>Título</vt:lpstr>
      <vt:lpstr>Título</vt:lpstr>
      <vt:lpstr>Título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Robson Rocha de Araújo</dc:creator>
  <cp:lastModifiedBy>Robson Rocha de Araújo</cp:lastModifiedBy>
  <cp:revision>2</cp:revision>
  <cp:lastPrinted>2026-08-19T14:31:04Z</cp:lastPrinted>
  <dcterms:created xsi:type="dcterms:W3CDTF">2026-08-16T23:08:48Z</dcterms:created>
  <dcterms:modified xsi:type="dcterms:W3CDTF">2026-09-09T17:05:22Z</dcterms:modified>
</cp:coreProperties>
</file>