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415E6-73EE-4D94-B193-CD6FC57F9EE7}" v="248" dt="2026-08-20T18:24:57.9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41123" autoAdjust="0"/>
  </p:normalViewPr>
  <p:slideViewPr>
    <p:cSldViewPr snapToGrid="0">
      <p:cViewPr varScale="1">
        <p:scale>
          <a:sx n="48" d="100"/>
          <a:sy n="48" d="100"/>
        </p:scale>
        <p:origin x="2820" y="42"/>
      </p:cViewPr>
      <p:guideLst/>
    </p:cSldViewPr>
  </p:slideViewPr>
  <p:outlineViewPr>
    <p:cViewPr>
      <p:scale>
        <a:sx n="33" d="100"/>
        <a:sy n="33" d="100"/>
      </p:scale>
      <p:origin x="0" y="-331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76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son Rocha de Araújo" userId="a2c6238e923675da" providerId="LiveId" clId="{6B507253-E232-478F-AB49-711AD90A2C31}"/>
    <pc:docChg chg="undo custSel addSld modSld addMainMaster delMainMaster modMainMaster modNotesMaster">
      <pc:chgData name="Robson Rocha de Araújo" userId="a2c6238e923675da" providerId="LiveId" clId="{6B507253-E232-478F-AB49-711AD90A2C31}" dt="2026-08-31T16:42:41.295" v="739" actId="729"/>
      <pc:docMkLst>
        <pc:docMk/>
      </pc:docMkLst>
      <pc:sldChg chg="addSp delSp modSp mod modNotes">
        <pc:chgData name="Robson Rocha de Araújo" userId="a2c6238e923675da" providerId="LiveId" clId="{6B507253-E232-478F-AB49-711AD90A2C31}" dt="2026-08-19T14:15:42.600" v="593"/>
        <pc:sldMkLst>
          <pc:docMk/>
          <pc:sldMk cId="1519702832" sldId="257"/>
        </pc:sldMkLst>
        <pc:spChg chg="mod">
          <ac:chgData name="Robson Rocha de Araújo" userId="a2c6238e923675da" providerId="LiveId" clId="{6B507253-E232-478F-AB49-711AD90A2C31}" dt="2026-08-17T00:45:06.439" v="48" actId="27636"/>
          <ac:spMkLst>
            <pc:docMk/>
            <pc:sldMk cId="1519702832" sldId="257"/>
            <ac:spMk id="2" creationId="{EDAF9CAA-476F-B9C4-0D9A-C492A563830B}"/>
          </ac:spMkLst>
        </pc:spChg>
        <pc:spChg chg="mod">
          <ac:chgData name="Robson Rocha de Araújo" userId="a2c6238e923675da" providerId="LiveId" clId="{6B507253-E232-478F-AB49-711AD90A2C31}" dt="2026-08-17T00:45:17.458" v="49" actId="2711"/>
          <ac:spMkLst>
            <pc:docMk/>
            <pc:sldMk cId="1519702832" sldId="257"/>
            <ac:spMk id="3" creationId="{63941730-526A-8504-22C8-E35E5D49478B}"/>
          </ac:spMkLst>
        </pc:spChg>
        <pc:picChg chg="add mod">
          <ac:chgData name="Robson Rocha de Araújo" userId="a2c6238e923675da" providerId="LiveId" clId="{6B507253-E232-478F-AB49-711AD90A2C31}" dt="2026-08-17T00:54:05.993" v="72" actId="1076"/>
          <ac:picMkLst>
            <pc:docMk/>
            <pc:sldMk cId="1519702832" sldId="257"/>
            <ac:picMk id="9" creationId="{65E65B51-6706-F579-7A56-41FCC0805770}"/>
          </ac:picMkLst>
        </pc:picChg>
      </pc:sldChg>
      <pc:sldChg chg="addSp modSp mod modNotes">
        <pc:chgData name="Robson Rocha de Araújo" userId="a2c6238e923675da" providerId="LiveId" clId="{6B507253-E232-478F-AB49-711AD90A2C31}" dt="2026-08-19T14:15:42.600" v="593"/>
        <pc:sldMkLst>
          <pc:docMk/>
          <pc:sldMk cId="3188337367" sldId="258"/>
        </pc:sldMkLst>
        <pc:picChg chg="add mod ord modCrop">
          <ac:chgData name="Robson Rocha de Araújo" userId="a2c6238e923675da" providerId="LiveId" clId="{6B507253-E232-478F-AB49-711AD90A2C31}" dt="2026-08-18T00:46:54.823" v="581" actId="732"/>
          <ac:picMkLst>
            <pc:docMk/>
            <pc:sldMk cId="3188337367" sldId="258"/>
            <ac:picMk id="4" creationId="{53E26E03-A1C0-C587-D598-ECBB69E1F61E}"/>
          </ac:picMkLst>
        </pc:picChg>
      </pc:sldChg>
      <pc:sldChg chg="addSp delSp modSp mod modNotes modNotesTx">
        <pc:chgData name="Robson Rocha de Araújo" userId="a2c6238e923675da" providerId="LiveId" clId="{6B507253-E232-478F-AB49-711AD90A2C31}" dt="2026-08-19T14:26:19.422" v="646"/>
        <pc:sldMkLst>
          <pc:docMk/>
          <pc:sldMk cId="772120614" sldId="259"/>
        </pc:sldMkLst>
        <pc:spChg chg="mod">
          <ac:chgData name="Robson Rocha de Araújo" userId="a2c6238e923675da" providerId="LiveId" clId="{6B507253-E232-478F-AB49-711AD90A2C31}" dt="2026-08-17T00:43:19.245" v="46" actId="1076"/>
          <ac:spMkLst>
            <pc:docMk/>
            <pc:sldMk cId="772120614" sldId="259"/>
            <ac:spMk id="2" creationId="{338FEEB8-0C36-73FD-39C5-BCDBB19B0D17}"/>
          </ac:spMkLst>
        </pc:spChg>
        <pc:spChg chg="mod">
          <ac:chgData name="Robson Rocha de Araújo" userId="a2c6238e923675da" providerId="LiveId" clId="{6B507253-E232-478F-AB49-711AD90A2C31}" dt="2026-08-17T20:08:21.408" v="122" actId="20577"/>
          <ac:spMkLst>
            <pc:docMk/>
            <pc:sldMk cId="772120614" sldId="259"/>
            <ac:spMk id="3" creationId="{A620470B-3487-F980-CBFA-1906691D3DEE}"/>
          </ac:spMkLst>
        </pc:spChg>
      </pc:sldChg>
      <pc:sldChg chg="modNotes modNotesTx">
        <pc:chgData name="Robson Rocha de Araújo" userId="a2c6238e923675da" providerId="LiveId" clId="{6B507253-E232-478F-AB49-711AD90A2C31}" dt="2026-08-19T14:26:27.842" v="647" actId="20577"/>
        <pc:sldMkLst>
          <pc:docMk/>
          <pc:sldMk cId="1270472377" sldId="260"/>
        </pc:sldMkLst>
      </pc:sldChg>
      <pc:sldChg chg="modNotes modNotesTx">
        <pc:chgData name="Robson Rocha de Araújo" userId="a2c6238e923675da" providerId="LiveId" clId="{6B507253-E232-478F-AB49-711AD90A2C31}" dt="2026-08-19T14:26:33.719" v="649" actId="20577"/>
        <pc:sldMkLst>
          <pc:docMk/>
          <pc:sldMk cId="990383832" sldId="261"/>
        </pc:sldMkLst>
      </pc:sldChg>
      <pc:sldChg chg="modNotes modNotesTx">
        <pc:chgData name="Robson Rocha de Araújo" userId="a2c6238e923675da" providerId="LiveId" clId="{6B507253-E232-478F-AB49-711AD90A2C31}" dt="2026-08-19T14:26:57.094" v="653" actId="404"/>
        <pc:sldMkLst>
          <pc:docMk/>
          <pc:sldMk cId="3127989437" sldId="262"/>
        </pc:sldMkLst>
      </pc:sldChg>
      <pc:sldChg chg="modNotes">
        <pc:chgData name="Robson Rocha de Araújo" userId="a2c6238e923675da" providerId="LiveId" clId="{6B507253-E232-478F-AB49-711AD90A2C31}" dt="2026-08-19T14:27:13.097" v="658" actId="404"/>
        <pc:sldMkLst>
          <pc:docMk/>
          <pc:sldMk cId="3518895066" sldId="263"/>
        </pc:sldMkLst>
      </pc:sldChg>
      <pc:sldChg chg="modNotes">
        <pc:chgData name="Robson Rocha de Araújo" userId="a2c6238e923675da" providerId="LiveId" clId="{6B507253-E232-478F-AB49-711AD90A2C31}" dt="2026-08-19T14:27:20.662" v="661" actId="20577"/>
        <pc:sldMkLst>
          <pc:docMk/>
          <pc:sldMk cId="3319051650" sldId="264"/>
        </pc:sldMkLst>
      </pc:sldChg>
      <pc:sldChg chg="addSp delSp modSp mod modNotes">
        <pc:chgData name="Robson Rocha de Araújo" userId="a2c6238e923675da" providerId="LiveId" clId="{6B507253-E232-478F-AB49-711AD90A2C31}" dt="2026-08-19T14:27:26.014" v="663" actId="20577"/>
        <pc:sldMkLst>
          <pc:docMk/>
          <pc:sldMk cId="2237203023" sldId="265"/>
        </pc:sldMkLst>
        <pc:spChg chg="mod">
          <ac:chgData name="Robson Rocha de Araújo" userId="a2c6238e923675da" providerId="LiveId" clId="{6B507253-E232-478F-AB49-711AD90A2C31}" dt="2026-08-17T20:21:23.805" v="213" actId="14100"/>
          <ac:spMkLst>
            <pc:docMk/>
            <pc:sldMk cId="2237203023" sldId="265"/>
            <ac:spMk id="3" creationId="{8D6E24A6-CCDF-401F-9CB8-C3B83F983750}"/>
          </ac:spMkLst>
        </pc:spChg>
        <pc:picChg chg="add mod">
          <ac:chgData name="Robson Rocha de Araújo" userId="a2c6238e923675da" providerId="LiveId" clId="{6B507253-E232-478F-AB49-711AD90A2C31}" dt="2026-08-17T20:21:28.741" v="214" actId="1076"/>
          <ac:picMkLst>
            <pc:docMk/>
            <pc:sldMk cId="2237203023" sldId="265"/>
            <ac:picMk id="9" creationId="{98246EB5-EF7F-F77E-488C-055860DE7309}"/>
          </ac:picMkLst>
        </pc:picChg>
      </pc:sldChg>
      <pc:sldChg chg="modNotes modNotesTx">
        <pc:chgData name="Robson Rocha de Araújo" userId="a2c6238e923675da" providerId="LiveId" clId="{6B507253-E232-478F-AB49-711AD90A2C31}" dt="2026-08-19T14:27:36.731" v="667" actId="20577"/>
        <pc:sldMkLst>
          <pc:docMk/>
          <pc:sldMk cId="3005870760" sldId="266"/>
        </pc:sldMkLst>
      </pc:sldChg>
      <pc:sldChg chg="modNotes">
        <pc:chgData name="Robson Rocha de Araújo" userId="a2c6238e923675da" providerId="LiveId" clId="{6B507253-E232-478F-AB49-711AD90A2C31}" dt="2026-08-19T14:27:42.556" v="669" actId="20577"/>
        <pc:sldMkLst>
          <pc:docMk/>
          <pc:sldMk cId="3738739704" sldId="267"/>
        </pc:sldMkLst>
      </pc:sldChg>
      <pc:sldChg chg="addSp modSp mod modNotes modNotesTx">
        <pc:chgData name="Robson Rocha de Araújo" userId="a2c6238e923675da" providerId="LiveId" clId="{6B507253-E232-478F-AB49-711AD90A2C31}" dt="2026-08-19T14:27:56.575" v="673" actId="404"/>
        <pc:sldMkLst>
          <pc:docMk/>
          <pc:sldMk cId="1169109814" sldId="268"/>
        </pc:sldMkLst>
        <pc:spChg chg="mod">
          <ac:chgData name="Robson Rocha de Araújo" userId="a2c6238e923675da" providerId="LiveId" clId="{6B507253-E232-478F-AB49-711AD90A2C31}" dt="2026-08-17T00:30:35.769" v="39" actId="26606"/>
          <ac:spMkLst>
            <pc:docMk/>
            <pc:sldMk cId="1169109814" sldId="268"/>
            <ac:spMk id="3" creationId="{841C6F6F-F7B0-4875-A048-B453D68D8E4F}"/>
          </ac:spMkLst>
        </pc:spChg>
        <pc:picChg chg="add mod">
          <ac:chgData name="Robson Rocha de Araújo" userId="a2c6238e923675da" providerId="LiveId" clId="{6B507253-E232-478F-AB49-711AD90A2C31}" dt="2026-08-17T00:31:19.357" v="40" actId="14826"/>
          <ac:picMkLst>
            <pc:docMk/>
            <pc:sldMk cId="1169109814" sldId="268"/>
            <ac:picMk id="30" creationId="{00000000-0000-0000-0000-000000000000}"/>
          </ac:picMkLst>
        </pc:picChg>
      </pc:sldChg>
      <pc:sldChg chg="modSp add mod modNotes modNotesTx">
        <pc:chgData name="Robson Rocha de Araújo" userId="a2c6238e923675da" providerId="LiveId" clId="{6B507253-E232-478F-AB49-711AD90A2C31}" dt="2026-08-19T14:28:01.527" v="675" actId="20577"/>
        <pc:sldMkLst>
          <pc:docMk/>
          <pc:sldMk cId="3266679978" sldId="269"/>
        </pc:sldMkLst>
        <pc:picChg chg="mod">
          <ac:chgData name="Robson Rocha de Araújo" userId="a2c6238e923675da" providerId="LiveId" clId="{6B507253-E232-478F-AB49-711AD90A2C31}" dt="2026-08-17T00:07:05.993" v="1" actId="14826"/>
          <ac:picMkLst>
            <pc:docMk/>
            <pc:sldMk cId="3266679978" sldId="269"/>
            <ac:picMk id="7" creationId="{00000000-0000-0000-0000-000000000000}"/>
          </ac:picMkLst>
        </pc:picChg>
      </pc:sldChg>
      <pc:sldChg chg="modSp add mod modShow modNotes">
        <pc:chgData name="Robson Rocha de Araújo" userId="a2c6238e923675da" providerId="LiveId" clId="{6B507253-E232-478F-AB49-711AD90A2C31}" dt="2026-08-31T16:42:41.295" v="739" actId="729"/>
        <pc:sldMkLst>
          <pc:docMk/>
          <pc:sldMk cId="2555114234" sldId="270"/>
        </pc:sldMkLst>
        <pc:picChg chg="mod">
          <ac:chgData name="Robson Rocha de Araújo" userId="a2c6238e923675da" providerId="LiveId" clId="{6B507253-E232-478F-AB49-711AD90A2C31}" dt="2026-08-17T00:07:40.661" v="2" actId="14826"/>
          <ac:picMkLst>
            <pc:docMk/>
            <pc:sldMk cId="2555114234" sldId="270"/>
            <ac:picMk id="7" creationId="{00000000-0000-0000-0000-000000000000}"/>
          </ac:picMkLst>
        </pc:picChg>
      </pc:sldChg>
      <pc:sldChg chg="modSp add mod modNotes">
        <pc:chgData name="Robson Rocha de Araújo" userId="a2c6238e923675da" providerId="LiveId" clId="{6B507253-E232-478F-AB49-711AD90A2C31}" dt="2026-08-19T14:28:12.328" v="678" actId="20577"/>
        <pc:sldMkLst>
          <pc:docMk/>
          <pc:sldMk cId="121434563" sldId="271"/>
        </pc:sldMkLst>
        <pc:picChg chg="mod">
          <ac:chgData name="Robson Rocha de Araújo" userId="a2c6238e923675da" providerId="LiveId" clId="{6B507253-E232-478F-AB49-711AD90A2C31}" dt="2026-08-17T00:08:03.282" v="3" actId="14826"/>
          <ac:picMkLst>
            <pc:docMk/>
            <pc:sldMk cId="121434563" sldId="271"/>
            <ac:picMk id="7" creationId="{00000000-0000-0000-0000-000000000000}"/>
          </ac:picMkLst>
        </pc:picChg>
      </pc:sldChg>
      <pc:sldChg chg="modSp add mod modNotes modNotesTx">
        <pc:chgData name="Robson Rocha de Araújo" userId="a2c6238e923675da" providerId="LiveId" clId="{6B507253-E232-478F-AB49-711AD90A2C31}" dt="2026-08-20T16:45:45.404" v="708"/>
        <pc:sldMkLst>
          <pc:docMk/>
          <pc:sldMk cId="3133454434" sldId="272"/>
        </pc:sldMkLst>
        <pc:picChg chg="mod">
          <ac:chgData name="Robson Rocha de Araújo" userId="a2c6238e923675da" providerId="LiveId" clId="{6B507253-E232-478F-AB49-711AD90A2C31}" dt="2026-08-17T00:08:40.764" v="4" actId="14826"/>
          <ac:picMkLst>
            <pc:docMk/>
            <pc:sldMk cId="3133454434" sldId="272"/>
            <ac:picMk id="7" creationId="{00000000-0000-0000-0000-000000000000}"/>
          </ac:picMkLst>
        </pc:picChg>
      </pc:sldChg>
      <pc:sldChg chg="modSp add mod modNotes">
        <pc:chgData name="Robson Rocha de Araújo" userId="a2c6238e923675da" providerId="LiveId" clId="{6B507253-E232-478F-AB49-711AD90A2C31}" dt="2026-08-19T14:28:28.058" v="683" actId="20577"/>
        <pc:sldMkLst>
          <pc:docMk/>
          <pc:sldMk cId="743261573" sldId="273"/>
        </pc:sldMkLst>
        <pc:picChg chg="mod">
          <ac:chgData name="Robson Rocha de Araújo" userId="a2c6238e923675da" providerId="LiveId" clId="{6B507253-E232-478F-AB49-711AD90A2C31}" dt="2026-08-17T00:09:19.924" v="5" actId="14826"/>
          <ac:picMkLst>
            <pc:docMk/>
            <pc:sldMk cId="743261573" sldId="273"/>
            <ac:picMk id="7" creationId="{00000000-0000-0000-0000-000000000000}"/>
          </ac:picMkLst>
        </pc:picChg>
      </pc:sldChg>
      <pc:sldChg chg="modSp add mod modNotes">
        <pc:chgData name="Robson Rocha de Araújo" userId="a2c6238e923675da" providerId="LiveId" clId="{6B507253-E232-478F-AB49-711AD90A2C31}" dt="2026-08-19T14:28:32.532" v="684" actId="20577"/>
        <pc:sldMkLst>
          <pc:docMk/>
          <pc:sldMk cId="1129394635" sldId="274"/>
        </pc:sldMkLst>
        <pc:picChg chg="mod">
          <ac:chgData name="Robson Rocha de Araújo" userId="a2c6238e923675da" providerId="LiveId" clId="{6B507253-E232-478F-AB49-711AD90A2C31}" dt="2026-08-17T00:09:53.658" v="6" actId="14826"/>
          <ac:picMkLst>
            <pc:docMk/>
            <pc:sldMk cId="1129394635" sldId="274"/>
            <ac:picMk id="7" creationId="{00000000-0000-0000-0000-000000000000}"/>
          </ac:picMkLst>
        </pc:picChg>
      </pc:sldChg>
      <pc:sldChg chg="modSp add mod modNotes">
        <pc:chgData name="Robson Rocha de Araújo" userId="a2c6238e923675da" providerId="LiveId" clId="{6B507253-E232-478F-AB49-711AD90A2C31}" dt="2026-08-19T14:28:36.868" v="685" actId="20577"/>
        <pc:sldMkLst>
          <pc:docMk/>
          <pc:sldMk cId="4038492025" sldId="275"/>
        </pc:sldMkLst>
        <pc:picChg chg="mod">
          <ac:chgData name="Robson Rocha de Araújo" userId="a2c6238e923675da" providerId="LiveId" clId="{6B507253-E232-478F-AB49-711AD90A2C31}" dt="2026-08-17T00:10:17.594" v="7" actId="14826"/>
          <ac:picMkLst>
            <pc:docMk/>
            <pc:sldMk cId="4038492025" sldId="275"/>
            <ac:picMk id="7" creationId="{00000000-0000-0000-0000-000000000000}"/>
          </ac:picMkLst>
        </pc:picChg>
      </pc:sldChg>
      <pc:sldChg chg="modSp add mod modNotes">
        <pc:chgData name="Robson Rocha de Araújo" userId="a2c6238e923675da" providerId="LiveId" clId="{6B507253-E232-478F-AB49-711AD90A2C31}" dt="2026-08-19T14:28:45.727" v="688" actId="20577"/>
        <pc:sldMkLst>
          <pc:docMk/>
          <pc:sldMk cId="2214187953" sldId="276"/>
        </pc:sldMkLst>
        <pc:picChg chg="mod">
          <ac:chgData name="Robson Rocha de Araújo" userId="a2c6238e923675da" providerId="LiveId" clId="{6B507253-E232-478F-AB49-711AD90A2C31}" dt="2026-08-17T00:10:51.506" v="8" actId="14826"/>
          <ac:picMkLst>
            <pc:docMk/>
            <pc:sldMk cId="2214187953" sldId="276"/>
            <ac:picMk id="7" creationId="{00000000-0000-0000-0000-000000000000}"/>
          </ac:picMkLst>
        </pc:picChg>
      </pc:sldChg>
      <pc:sldChg chg="addSp modSp add mod modNotes modNotesTx">
        <pc:chgData name="Robson Rocha de Araújo" userId="a2c6238e923675da" providerId="LiveId" clId="{6B507253-E232-478F-AB49-711AD90A2C31}" dt="2026-08-20T16:46:01.714" v="718" actId="20577"/>
        <pc:sldMkLst>
          <pc:docMk/>
          <pc:sldMk cId="1548162186" sldId="277"/>
        </pc:sldMkLst>
        <pc:spChg chg="mod">
          <ac:chgData name="Robson Rocha de Araújo" userId="a2c6238e923675da" providerId="LiveId" clId="{6B507253-E232-478F-AB49-711AD90A2C31}" dt="2026-08-17T00:30:35.769" v="39" actId="26606"/>
          <ac:spMkLst>
            <pc:docMk/>
            <pc:sldMk cId="1548162186" sldId="277"/>
            <ac:spMk id="3" creationId="{F301E348-A5C6-43AC-8CF3-C4D842756994}"/>
          </ac:spMkLst>
        </pc:spChg>
        <pc:picChg chg="add mod">
          <ac:chgData name="Robson Rocha de Araújo" userId="a2c6238e923675da" providerId="LiveId" clId="{6B507253-E232-478F-AB49-711AD90A2C31}" dt="2026-08-17T00:31:40.016" v="41" actId="14826"/>
          <ac:picMkLst>
            <pc:docMk/>
            <pc:sldMk cId="1548162186" sldId="277"/>
            <ac:picMk id="30" creationId="{00000000-0000-0000-0000-000000000000}"/>
          </ac:picMkLst>
        </pc:picChg>
      </pc:sldChg>
      <pc:sldChg chg="modSp add mod modNotes modNotesTx">
        <pc:chgData name="Robson Rocha de Araújo" userId="a2c6238e923675da" providerId="LiveId" clId="{6B507253-E232-478F-AB49-711AD90A2C31}" dt="2026-08-20T16:46:06.735" v="720" actId="20577"/>
        <pc:sldMkLst>
          <pc:docMk/>
          <pc:sldMk cId="3310305233" sldId="278"/>
        </pc:sldMkLst>
        <pc:picChg chg="mod">
          <ac:chgData name="Robson Rocha de Araújo" userId="a2c6238e923675da" providerId="LiveId" clId="{6B507253-E232-478F-AB49-711AD90A2C31}" dt="2026-08-17T00:11:51.857" v="9" actId="14826"/>
          <ac:picMkLst>
            <pc:docMk/>
            <pc:sldMk cId="3310305233" sldId="278"/>
            <ac:picMk id="7" creationId="{00000000-0000-0000-0000-000000000000}"/>
          </ac:picMkLst>
        </pc:picChg>
      </pc:sldChg>
      <pc:sldChg chg="modSp add mod modShow modNotes">
        <pc:chgData name="Robson Rocha de Araújo" userId="a2c6238e923675da" providerId="LiveId" clId="{6B507253-E232-478F-AB49-711AD90A2C31}" dt="2026-08-31T16:42:20.653" v="737" actId="729"/>
        <pc:sldMkLst>
          <pc:docMk/>
          <pc:sldMk cId="2733816628" sldId="279"/>
        </pc:sldMkLst>
        <pc:picChg chg="mod">
          <ac:chgData name="Robson Rocha de Araújo" userId="a2c6238e923675da" providerId="LiveId" clId="{6B507253-E232-478F-AB49-711AD90A2C31}" dt="2026-08-17T00:17:47.637" v="11" actId="14826"/>
          <ac:picMkLst>
            <pc:docMk/>
            <pc:sldMk cId="2733816628" sldId="279"/>
            <ac:picMk id="7" creationId="{00000000-0000-0000-0000-000000000000}"/>
          </ac:picMkLst>
        </pc:picChg>
      </pc:sldChg>
      <pc:sldChg chg="modSp add mod modNotes">
        <pc:chgData name="Robson Rocha de Araújo" userId="a2c6238e923675da" providerId="LiveId" clId="{6B507253-E232-478F-AB49-711AD90A2C31}" dt="2026-08-19T14:29:02.391" v="694" actId="20577"/>
        <pc:sldMkLst>
          <pc:docMk/>
          <pc:sldMk cId="3830800362" sldId="280"/>
        </pc:sldMkLst>
        <pc:picChg chg="mod">
          <ac:chgData name="Robson Rocha de Araújo" userId="a2c6238e923675da" providerId="LiveId" clId="{6B507253-E232-478F-AB49-711AD90A2C31}" dt="2026-08-17T00:18:04.389" v="12" actId="14826"/>
          <ac:picMkLst>
            <pc:docMk/>
            <pc:sldMk cId="3830800362" sldId="280"/>
            <ac:picMk id="7" creationId="{00000000-0000-0000-0000-000000000000}"/>
          </ac:picMkLst>
        </pc:picChg>
      </pc:sldChg>
      <pc:sldChg chg="addSp modSp add mod modNotes modNotesTx">
        <pc:chgData name="Robson Rocha de Araújo" userId="a2c6238e923675da" providerId="LiveId" clId="{6B507253-E232-478F-AB49-711AD90A2C31}" dt="2026-08-20T16:46:13.453" v="722" actId="20577"/>
        <pc:sldMkLst>
          <pc:docMk/>
          <pc:sldMk cId="2957400998" sldId="281"/>
        </pc:sldMkLst>
        <pc:spChg chg="mod">
          <ac:chgData name="Robson Rocha de Araújo" userId="a2c6238e923675da" providerId="LiveId" clId="{6B507253-E232-478F-AB49-711AD90A2C31}" dt="2026-08-17T00:30:35.769" v="39" actId="26606"/>
          <ac:spMkLst>
            <pc:docMk/>
            <pc:sldMk cId="2957400998" sldId="281"/>
            <ac:spMk id="3" creationId="{576ECBCC-302E-47B2-9CC7-E4EBB2A4DC6A}"/>
          </ac:spMkLst>
        </pc:spChg>
        <pc:picChg chg="add mod">
          <ac:chgData name="Robson Rocha de Araújo" userId="a2c6238e923675da" providerId="LiveId" clId="{6B507253-E232-478F-AB49-711AD90A2C31}" dt="2026-08-17T00:32:03.662" v="42" actId="14826"/>
          <ac:picMkLst>
            <pc:docMk/>
            <pc:sldMk cId="2957400998" sldId="281"/>
            <ac:picMk id="30" creationId="{00000000-0000-0000-0000-000000000000}"/>
          </ac:picMkLst>
        </pc:picChg>
      </pc:sldChg>
      <pc:sldChg chg="addSp modSp add mod modNotes modNotesTx">
        <pc:chgData name="Robson Rocha de Araújo" userId="a2c6238e923675da" providerId="LiveId" clId="{6B507253-E232-478F-AB49-711AD90A2C31}" dt="2026-08-20T16:46:20.287" v="724" actId="20577"/>
        <pc:sldMkLst>
          <pc:docMk/>
          <pc:sldMk cId="875321686" sldId="282"/>
        </pc:sldMkLst>
        <pc:spChg chg="mod">
          <ac:chgData name="Robson Rocha de Araújo" userId="a2c6238e923675da" providerId="LiveId" clId="{6B507253-E232-478F-AB49-711AD90A2C31}" dt="2026-08-17T00:26:49.249" v="33" actId="1076"/>
          <ac:spMkLst>
            <pc:docMk/>
            <pc:sldMk cId="875321686" sldId="282"/>
            <ac:spMk id="3" creationId="{9B2BA946-80BC-4A1F-A61A-53F9822578D8}"/>
          </ac:spMkLst>
        </pc:spChg>
        <pc:picChg chg="add mod">
          <ac:chgData name="Robson Rocha de Araújo" userId="a2c6238e923675da" providerId="LiveId" clId="{6B507253-E232-478F-AB49-711AD90A2C31}" dt="2026-08-17T00:27:17.555" v="38" actId="14100"/>
          <ac:picMkLst>
            <pc:docMk/>
            <pc:sldMk cId="875321686" sldId="282"/>
            <ac:picMk id="6" creationId="{F6BF9537-BAC2-9FD2-BED7-5294091707EE}"/>
          </ac:picMkLst>
        </pc:picChg>
      </pc:sldChg>
      <pc:sldChg chg="addSp modSp add mod modNotes">
        <pc:chgData name="Robson Rocha de Araújo" userId="a2c6238e923675da" providerId="LiveId" clId="{6B507253-E232-478F-AB49-711AD90A2C31}" dt="2026-08-19T14:29:14.304" v="700" actId="20577"/>
        <pc:sldMkLst>
          <pc:docMk/>
          <pc:sldMk cId="3174589495" sldId="283"/>
        </pc:sldMkLst>
        <pc:spChg chg="mod">
          <ac:chgData name="Robson Rocha de Araújo" userId="a2c6238e923675da" providerId="LiveId" clId="{6B507253-E232-478F-AB49-711AD90A2C31}" dt="2026-08-17T00:25:41.241" v="28" actId="403"/>
          <ac:spMkLst>
            <pc:docMk/>
            <pc:sldMk cId="3174589495" sldId="283"/>
            <ac:spMk id="3" creationId="{33DC585A-4153-4311-A1FA-9A9AE1289AEF}"/>
          </ac:spMkLst>
        </pc:spChg>
        <pc:picChg chg="add mod">
          <ac:chgData name="Robson Rocha de Araújo" userId="a2c6238e923675da" providerId="LiveId" clId="{6B507253-E232-478F-AB49-711AD90A2C31}" dt="2026-08-17T00:25:22.076" v="23" actId="1076"/>
          <ac:picMkLst>
            <pc:docMk/>
            <pc:sldMk cId="3174589495" sldId="283"/>
            <ac:picMk id="6" creationId="{0B90CC73-DA9B-501F-F5BA-2F457BC112AA}"/>
          </ac:picMkLst>
        </pc:picChg>
      </pc:sldChg>
      <pc:sldChg chg="modSp add mod modShow modNotes">
        <pc:chgData name="Robson Rocha de Araújo" userId="a2c6238e923675da" providerId="LiveId" clId="{6B507253-E232-478F-AB49-711AD90A2C31}" dt="2026-08-31T16:42:27.001" v="738" actId="729"/>
        <pc:sldMkLst>
          <pc:docMk/>
          <pc:sldMk cId="2491873240" sldId="284"/>
        </pc:sldMkLst>
        <pc:picChg chg="mod">
          <ac:chgData name="Robson Rocha de Araújo" userId="a2c6238e923675da" providerId="LiveId" clId="{6B507253-E232-478F-AB49-711AD90A2C31}" dt="2026-08-17T00:18:58.625" v="13" actId="14826"/>
          <ac:picMkLst>
            <pc:docMk/>
            <pc:sldMk cId="2491873240" sldId="284"/>
            <ac:picMk id="7" creationId="{00000000-0000-0000-0000-000000000000}"/>
          </ac:picMkLst>
        </pc:picChg>
      </pc:sldChg>
      <pc:sldChg chg="modSp add mod modNotes modNotesTx">
        <pc:chgData name="Robson Rocha de Araújo" userId="a2c6238e923675da" providerId="LiveId" clId="{6B507253-E232-478F-AB49-711AD90A2C31}" dt="2026-08-20T16:46:31.182" v="728" actId="20577"/>
        <pc:sldMkLst>
          <pc:docMk/>
          <pc:sldMk cId="709901800" sldId="285"/>
        </pc:sldMkLst>
        <pc:picChg chg="mod">
          <ac:chgData name="Robson Rocha de Araújo" userId="a2c6238e923675da" providerId="LiveId" clId="{6B507253-E232-478F-AB49-711AD90A2C31}" dt="2026-08-17T00:19:25.671" v="14" actId="14826"/>
          <ac:picMkLst>
            <pc:docMk/>
            <pc:sldMk cId="709901800" sldId="285"/>
            <ac:picMk id="7" creationId="{00000000-0000-0000-0000-000000000000}"/>
          </ac:picMkLst>
        </pc:picChg>
      </pc:sldChg>
      <pc:sldChg chg="addSp modSp add mod modNotes modNotesTx">
        <pc:chgData name="Robson Rocha de Araújo" userId="a2c6238e923675da" providerId="LiveId" clId="{6B507253-E232-478F-AB49-711AD90A2C31}" dt="2026-08-20T16:46:39.173" v="734" actId="20577"/>
        <pc:sldMkLst>
          <pc:docMk/>
          <pc:sldMk cId="1917534973" sldId="286"/>
        </pc:sldMkLst>
        <pc:picChg chg="add mod">
          <ac:chgData name="Robson Rocha de Araújo" userId="a2c6238e923675da" providerId="LiveId" clId="{6B507253-E232-478F-AB49-711AD90A2C31}" dt="2026-08-19T14:01:22.019" v="590" actId="1076"/>
          <ac:picMkLst>
            <pc:docMk/>
            <pc:sldMk cId="1917534973" sldId="286"/>
            <ac:picMk id="6" creationId="{00EB7684-4635-C6EB-9D50-6073AA603401}"/>
          </ac:picMkLst>
        </pc:picChg>
      </pc:sldChg>
      <pc:sldChg chg="modSp add mod modNotes modNotesTx">
        <pc:chgData name="Robson Rocha de Araújo" userId="a2c6238e923675da" providerId="LiveId" clId="{6B507253-E232-478F-AB49-711AD90A2C31}" dt="2026-08-20T16:46:45.186" v="736" actId="20577"/>
        <pc:sldMkLst>
          <pc:docMk/>
          <pc:sldMk cId="831887113" sldId="287"/>
        </pc:sldMkLst>
        <pc:picChg chg="mod">
          <ac:chgData name="Robson Rocha de Araújo" userId="a2c6238e923675da" providerId="LiveId" clId="{6B507253-E232-478F-AB49-711AD90A2C31}" dt="2026-08-17T00:20:01.485" v="15" actId="14826"/>
          <ac:picMkLst>
            <pc:docMk/>
            <pc:sldMk cId="831887113" sldId="287"/>
            <ac:picMk id="7" creationId="{00000000-0000-0000-0000-000000000000}"/>
          </ac:picMkLst>
        </pc:picChg>
      </pc:sldChg>
      <pc:sldChg chg="addSp delSp modSp add mod modNotes">
        <pc:chgData name="Robson Rocha de Araújo" userId="a2c6238e923675da" providerId="LiveId" clId="{6B507253-E232-478F-AB49-711AD90A2C31}" dt="2026-08-19T14:15:42.600" v="593"/>
        <pc:sldMkLst>
          <pc:docMk/>
          <pc:sldMk cId="4207468907" sldId="288"/>
        </pc:sldMkLst>
        <pc:spChg chg="mod">
          <ac:chgData name="Robson Rocha de Araújo" userId="a2c6238e923675da" providerId="LiveId" clId="{6B507253-E232-478F-AB49-711AD90A2C31}" dt="2026-08-18T00:00:40.328" v="385" actId="6549"/>
          <ac:spMkLst>
            <pc:docMk/>
            <pc:sldMk cId="4207468907" sldId="288"/>
            <ac:spMk id="3" creationId="{5AD4FA1F-05B4-4310-8965-B3C91D6981BB}"/>
          </ac:spMkLst>
        </pc:spChg>
        <pc:picChg chg="add mod">
          <ac:chgData name="Robson Rocha de Araújo" userId="a2c6238e923675da" providerId="LiveId" clId="{6B507253-E232-478F-AB49-711AD90A2C31}" dt="2026-08-18T00:07:59.601" v="400" actId="29295"/>
          <ac:picMkLst>
            <pc:docMk/>
            <pc:sldMk cId="4207468907" sldId="288"/>
            <ac:picMk id="9" creationId="{B4A80133-4400-F3B0-B573-8BB00D4400A2}"/>
          </ac:picMkLst>
        </pc:picChg>
      </pc:sldChg>
      <pc:sldChg chg="modSp add mod modNotes">
        <pc:chgData name="Robson Rocha de Araújo" userId="a2c6238e923675da" providerId="LiveId" clId="{6B507253-E232-478F-AB49-711AD90A2C31}" dt="2026-08-19T14:29:31.178" v="704" actId="6549"/>
        <pc:sldMkLst>
          <pc:docMk/>
          <pc:sldMk cId="3940332737" sldId="289"/>
        </pc:sldMkLst>
        <pc:picChg chg="mod">
          <ac:chgData name="Robson Rocha de Araújo" userId="a2c6238e923675da" providerId="LiveId" clId="{6B507253-E232-478F-AB49-711AD90A2C31}" dt="2026-08-17T00:22:28.531" v="16" actId="14826"/>
          <ac:picMkLst>
            <pc:docMk/>
            <pc:sldMk cId="3940332737" sldId="289"/>
            <ac:picMk id="7" creationId="{00000000-0000-0000-0000-000000000000}"/>
          </ac:picMkLst>
        </pc:picChg>
      </pc:sldChg>
      <pc:sldChg chg="modSp add mod modNotes">
        <pc:chgData name="Robson Rocha de Araújo" userId="a2c6238e923675da" providerId="LiveId" clId="{6B507253-E232-478F-AB49-711AD90A2C31}" dt="2026-08-19T14:29:40.258" v="707" actId="20577"/>
        <pc:sldMkLst>
          <pc:docMk/>
          <pc:sldMk cId="602065709" sldId="290"/>
        </pc:sldMkLst>
        <pc:picChg chg="mod">
          <ac:chgData name="Robson Rocha de Araújo" userId="a2c6238e923675da" providerId="LiveId" clId="{6B507253-E232-478F-AB49-711AD90A2C31}" dt="2026-08-17T00:22:44.529" v="17" actId="14826"/>
          <ac:picMkLst>
            <pc:docMk/>
            <pc:sldMk cId="602065709" sldId="290"/>
            <ac:picMk id="7" creationId="{00000000-0000-0000-0000-000000000000}"/>
          </ac:picMkLst>
        </pc:picChg>
      </pc:sldChg>
      <pc:sldMasterChg chg="addSp modSp add mod addSldLayout delSldLayout modSldLayout sldLayoutOrd">
        <pc:chgData name="Robson Rocha de Araújo" userId="a2c6238e923675da" providerId="LiveId" clId="{6B507253-E232-478F-AB49-711AD90A2C31}" dt="2026-08-19T14:13:45.375" v="592" actId="167"/>
        <pc:sldMasterMkLst>
          <pc:docMk/>
          <pc:sldMasterMk cId="1759801583" sldId="2147483660"/>
        </pc:sldMasterMkLst>
        <pc:picChg chg="add mod">
          <ac:chgData name="Robson Rocha de Araújo" userId="a2c6238e923675da" providerId="LiveId" clId="{6B507253-E232-478F-AB49-711AD90A2C31}" dt="2026-08-18T00:11:05.498" v="498" actId="1076"/>
          <ac:picMkLst>
            <pc:docMk/>
            <pc:sldMasterMk cId="1759801583" sldId="2147483660"/>
            <ac:picMk id="8" creationId="{2C43D761-4191-D0FA-B603-6A6EEB97C9B7}"/>
          </ac:picMkLst>
        </pc:pic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262517913" sldId="2147483661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2517913" sldId="2147483661"/>
              <ac:spMk id="6" creationId="{F7DA815B-BFAB-3E8D-D7E1-E7F9DE0A7703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2517913" sldId="2147483661"/>
              <ac:spMk id="9" creationId="{37C87932-7DAB-7F93-5E51-7AEEA5AC7FEA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2517913" sldId="2147483661"/>
              <ac:spMk id="11" creationId="{A03BE6F4-76AC-1913-6858-8449FC30A22C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2517913" sldId="2147483661"/>
              <ac:spMk id="12" creationId="{3A959F0E-1234-A029-DD14-0642D1457559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2517913" sldId="2147483661"/>
              <ac:spMk id="14" creationId="{42107F04-5566-3CCB-8B23-B8B3ECBA5457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2517913" sldId="2147483661"/>
              <ac:spMk id="15" creationId="{57758407-B9B8-FC90-BBF1-B9013F196E21}"/>
            </ac:spMkLst>
          </pc:spChg>
        </pc:sldLayoutChg>
        <pc:sldLayoutChg chg="addSp modSp mod ord">
          <pc:chgData name="Robson Rocha de Araújo" userId="a2c6238e923675da" providerId="LiveId" clId="{6B507253-E232-478F-AB49-711AD90A2C31}" dt="2026-08-19T14:13:45.375" v="592" actId="167"/>
          <pc:sldLayoutMkLst>
            <pc:docMk/>
            <pc:sldMasterMk cId="1759801583" sldId="2147483660"/>
            <pc:sldLayoutMk cId="1456055961" sldId="2147483662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456055961" sldId="2147483662"/>
              <ac:spMk id="2" creationId="{BC7433D9-FD02-59E2-0F81-A0B7201D2DA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456055961" sldId="2147483662"/>
              <ac:spMk id="3" creationId="{45602332-ECCE-37C9-0CA1-1743D107C8E3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456055961" sldId="2147483662"/>
              <ac:spMk id="7" creationId="{CA8E192A-D6F1-1585-7133-0041C85402E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456055961" sldId="2147483662"/>
              <ac:spMk id="8" creationId="{C6F072A2-EBC7-B7EA-DA98-BAC0AA46E7A4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456055961" sldId="2147483662"/>
              <ac:spMk id="9" creationId="{8437B541-595D-1700-6A76-9AF7590B1866}"/>
            </ac:spMkLst>
          </pc:spChg>
          <pc:spChg chg="add ord">
            <ac:chgData name="Robson Rocha de Araújo" userId="a2c6238e923675da" providerId="LiveId" clId="{6B507253-E232-478F-AB49-711AD90A2C31}" dt="2026-08-19T14:13:45.375" v="592" actId="167"/>
            <ac:spMkLst>
              <pc:docMk/>
              <pc:sldMasterMk cId="1759801583" sldId="2147483660"/>
              <pc:sldLayoutMk cId="1456055961" sldId="2147483662"/>
              <ac:spMk id="10" creationId="{A2642196-7198-0EF5-F2F7-5B8F2AE5EE3B}"/>
            </ac:spMkLst>
          </pc:spChg>
          <pc:spChg chg="add ord">
            <ac:chgData name="Robson Rocha de Araújo" userId="a2c6238e923675da" providerId="LiveId" clId="{6B507253-E232-478F-AB49-711AD90A2C31}" dt="2026-08-19T14:13:45.375" v="592" actId="167"/>
            <ac:spMkLst>
              <pc:docMk/>
              <pc:sldMasterMk cId="1759801583" sldId="2147483660"/>
              <pc:sldLayoutMk cId="1456055961" sldId="2147483662"/>
              <ac:spMk id="12" creationId="{0F26256C-BA24-8D66-B910-9DEA53303425}"/>
            </ac:spMkLst>
          </pc:spChg>
          <pc:picChg chg="add mod ord modCrop">
            <ac:chgData name="Robson Rocha de Araújo" userId="a2c6238e923675da" providerId="LiveId" clId="{6B507253-E232-478F-AB49-711AD90A2C31}" dt="2026-08-18T00:15:31.749" v="580" actId="29295"/>
            <ac:picMkLst>
              <pc:docMk/>
              <pc:sldMasterMk cId="1759801583" sldId="2147483660"/>
              <pc:sldLayoutMk cId="1456055961" sldId="2147483662"/>
              <ac:picMk id="6" creationId="{A71875E4-4A42-2C6B-C742-9019C3453BA6}"/>
            </ac:picMkLst>
          </pc:pic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269903875" sldId="2147483663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9903875" sldId="2147483663"/>
              <ac:spMk id="5" creationId="{D54B625A-114F-C2DE-F195-EF26EC052662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9903875" sldId="2147483663"/>
              <ac:spMk id="7" creationId="{0F001462-21CF-5988-0554-7DB1C494B04E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9903875" sldId="2147483663"/>
              <ac:spMk id="8" creationId="{E972D5EE-6935-237E-C4A2-C61261249F33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9903875" sldId="2147483663"/>
              <ac:spMk id="9" creationId="{37C87932-7DAB-7F93-5E51-7AEEA5AC7FEA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9903875" sldId="2147483663"/>
              <ac:spMk id="10" creationId="{D35AE1E4-9BA4-415B-370F-31BCBBC952D7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269903875" sldId="2147483663"/>
              <ac:spMk id="13" creationId="{C81CEA4D-A8A1-D4D2-8F28-C83469372446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3243759133" sldId="2147483664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243759133" sldId="2147483664"/>
              <ac:spMk id="5" creationId="{06A70A2D-6A6F-D8FD-B860-1F184E1B5E94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243759133" sldId="2147483664"/>
              <ac:spMk id="7" creationId="{D95EA3D9-98A4-3891-668D-DF99CC18D7AC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243759133" sldId="2147483664"/>
              <ac:spMk id="15" creationId="{4E1D7382-6629-2CE5-9CD1-12C42772E0D2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243759133" sldId="2147483664"/>
              <ac:spMk id="16" creationId="{04D3FCD7-2C92-02D9-B65F-03119FF6915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243759133" sldId="2147483664"/>
              <ac:spMk id="17" creationId="{6825B394-7F27-6399-8BDB-45CADE4F48C2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825914993" sldId="2147483665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825914993" sldId="2147483665"/>
              <ac:spMk id="2" creationId="{8892EA34-13CC-54C1-DE3D-4F1D5D55C9A7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825914993" sldId="2147483665"/>
              <ac:spMk id="3" creationId="{3FCA76BF-5E58-9143-643F-6B06864B8735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825914993" sldId="2147483665"/>
              <ac:spMk id="4" creationId="{006C9F8B-DAAC-4FD9-5257-842E1B079B6D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825914993" sldId="2147483665"/>
              <ac:spMk id="8" creationId="{DEF8E261-B260-D169-5279-F4153543A76C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469827833" sldId="2147483666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469827833" sldId="2147483666"/>
              <ac:spMk id="7" creationId="{28C8B19A-6FC1-2B71-0BFB-9274CBF396B9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469827833" sldId="2147483666"/>
              <ac:spMk id="8" creationId="{5F9BCED7-6A0B-12F0-730B-5623879C9495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469827833" sldId="2147483666"/>
              <ac:spMk id="13" creationId="{E14FBD3E-3A09-5EF4-6941-FFF3E03D539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469827833" sldId="2147483666"/>
              <ac:spMk id="14" creationId="{362D8C0B-F931-385E-61C9-0E7226053F0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469827833" sldId="2147483666"/>
              <ac:spMk id="15" creationId="{07E96BDD-FAA3-3ABD-453F-3A62D97801B5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710676831" sldId="2147483667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10676831" sldId="2147483667"/>
              <ac:spMk id="5" creationId="{B4D63E47-B71F-605F-2462-F6F2ED4F115C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10676831" sldId="2147483667"/>
              <ac:spMk id="6" creationId="{C3B19A28-AC79-CF20-C703-D6B27C01698A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10676831" sldId="2147483667"/>
              <ac:spMk id="7" creationId="{28C8B19A-6FC1-2B71-0BFB-9274CBF396B9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10676831" sldId="2147483667"/>
              <ac:spMk id="8" creationId="{19E554EC-D104-642A-5E42-E4CFB243523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10676831" sldId="2147483667"/>
              <ac:spMk id="9" creationId="{47E23A16-5291-F71A-D460-81EE611EA8B8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10676831" sldId="2147483667"/>
              <ac:spMk id="15" creationId="{C9B8CAF0-3749-D1CF-0FDA-20F4B5EE9862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3374199584" sldId="2147483668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74199584" sldId="2147483668"/>
              <ac:spMk id="2" creationId="{BC7433D9-FD02-59E2-0F81-A0B7201D2DA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74199584" sldId="2147483668"/>
              <ac:spMk id="4" creationId="{2BF3AD86-30C4-61DF-3300-53A4A4BB6D4D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74199584" sldId="2147483668"/>
              <ac:spMk id="5" creationId="{B40ED380-F3FA-F88A-4719-014588A2E13B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74199584" sldId="2147483668"/>
              <ac:spMk id="6" creationId="{A218F7C8-EA2A-EA2C-5113-86B95AACB171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74199584" sldId="2147483668"/>
              <ac:spMk id="8" creationId="{C6F072A2-EBC7-B7EA-DA98-BAC0AA46E7A4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303836182" sldId="2147483669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03836182" sldId="2147483669"/>
              <ac:spMk id="2" creationId="{BC7433D9-FD02-59E2-0F81-A0B7201D2DA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03836182" sldId="2147483669"/>
              <ac:spMk id="3" creationId="{11C4CAAF-9048-5116-D3C8-15E595C3BC25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03836182" sldId="2147483669"/>
              <ac:spMk id="7" creationId="{F3B715D2-E75C-A2E6-CE7A-70CE2EFA5E82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03836182" sldId="2147483669"/>
              <ac:spMk id="8" creationId="{8C71126E-AEFA-B45A-CD39-AC1315E03339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03836182" sldId="2147483669"/>
              <ac:spMk id="9" creationId="{CBF8E49B-DD4C-66AF-8D2C-52110DB227F6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3360815420" sldId="2147483670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60815420" sldId="2147483670"/>
              <ac:spMk id="2" creationId="{FAF3BB49-A328-F121-7F27-DEB7C3CC2B0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60815420" sldId="2147483670"/>
              <ac:spMk id="3" creationId="{99BE2343-B677-7565-070B-CEED0B0D5463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60815420" sldId="2147483670"/>
              <ac:spMk id="4" creationId="{8D8C8E1E-13A9-668C-1F5C-BC271E6A05C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60815420" sldId="2147483670"/>
              <ac:spMk id="8" creationId="{6E0D00CE-C191-6DE5-9D82-7EFB59BC3739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60815420" sldId="2147483670"/>
              <ac:spMk id="9" creationId="{394BC881-6669-50F2-64F2-57BD81A93BCE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3360815420" sldId="2147483670"/>
              <ac:spMk id="10" creationId="{F93A3E8A-C3F5-3D0B-FDE4-68B52DFE7196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397720360" sldId="2147483671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97720360" sldId="2147483671"/>
              <ac:spMk id="2" creationId="{FAF3BB49-A328-F121-7F27-DEB7C3CC2B0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97720360" sldId="2147483671"/>
              <ac:spMk id="4" creationId="{1C17E7B2-E2F9-D41D-D140-E89E0C3F5B9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97720360" sldId="2147483671"/>
              <ac:spMk id="5" creationId="{897D0B7E-1A60-DA52-6965-92412B1C2F9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97720360" sldId="2147483671"/>
              <ac:spMk id="6" creationId="{C2BDD5A2-CE3E-3215-6DAA-F75C0D1229DA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97720360" sldId="2147483671"/>
              <ac:spMk id="7" creationId="{B1B822F1-284A-1786-FAF2-72129E2FE64D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397720360" sldId="2147483671"/>
              <ac:spMk id="8" creationId="{C3D15418-1E32-0501-0E66-54FC2DD08E39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721389310" sldId="2147483672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21389310" sldId="2147483672"/>
              <ac:spMk id="2" creationId="{FAF3BB49-A328-F121-7F27-DEB7C3CC2B0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21389310" sldId="2147483672"/>
              <ac:spMk id="4" creationId="{1762B38A-33A6-F8AC-C9B9-FA400D29071B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21389310" sldId="2147483672"/>
              <ac:spMk id="8" creationId="{6E0D00CE-C191-6DE5-9D82-7EFB59BC3739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21389310" sldId="2147483672"/>
              <ac:spMk id="11" creationId="{6F5CC625-CD4F-F9C5-5E5D-05B78AE7CEE1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21389310" sldId="2147483672"/>
              <ac:spMk id="12" creationId="{F8A45037-DD9A-9287-B37A-49CD4CC3CAFB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21389310" sldId="2147483672"/>
              <ac:spMk id="13" creationId="{E5B1B358-15B5-2BEF-0B1B-0BC9F05FFA1A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660707561" sldId="2147483673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660707561" sldId="2147483673"/>
              <ac:spMk id="2" creationId="{FAF3BB49-A328-F121-7F27-DEB7C3CC2B0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660707561" sldId="2147483673"/>
              <ac:spMk id="4" creationId="{1C17E7B2-E2F9-D41D-D140-E89E0C3F5B9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660707561" sldId="2147483673"/>
              <ac:spMk id="5" creationId="{897D0B7E-1A60-DA52-6965-92412B1C2F9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660707561" sldId="2147483673"/>
              <ac:spMk id="6" creationId="{C2BDD5A2-CE3E-3215-6DAA-F75C0D1229DA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660707561" sldId="2147483673"/>
              <ac:spMk id="7" creationId="{B1B822F1-284A-1786-FAF2-72129E2FE64D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660707561" sldId="2147483673"/>
              <ac:spMk id="8" creationId="{C3D15418-1E32-0501-0E66-54FC2DD08E39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1647898397" sldId="2147483674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647898397" sldId="2147483674"/>
              <ac:spMk id="2" creationId="{FAF3BB49-A328-F121-7F27-DEB7C3CC2B0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647898397" sldId="2147483674"/>
              <ac:spMk id="3" creationId="{FB8772B0-B493-B608-E389-35329DEF201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647898397" sldId="2147483674"/>
              <ac:spMk id="4" creationId="{15A7BF66-FFF1-E318-9AFE-331E011D59C1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647898397" sldId="2147483674"/>
              <ac:spMk id="8" creationId="{8BAC3300-BF12-B200-9F06-8D5AC45CB7E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647898397" sldId="2147483674"/>
              <ac:spMk id="12" creationId="{0BFB2EA8-AADE-E8CD-890F-EA9F9968B253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647898397" sldId="2147483674"/>
              <ac:spMk id="13" creationId="{D854D38F-A697-A216-CCCB-0C1A9DCBD2FC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4215956031" sldId="2147483675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4215956031" sldId="2147483675"/>
              <ac:spMk id="2" creationId="{FAF3BB49-A328-F121-7F27-DEB7C3CC2B0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4215956031" sldId="2147483675"/>
              <ac:spMk id="3" creationId="{3907AE70-2FE3-1872-0811-BC089F612855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4215956031" sldId="2147483675"/>
              <ac:spMk id="4" creationId="{37497486-A221-C6D1-050D-0B3DB326465B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4215956031" sldId="2147483675"/>
              <ac:spMk id="8" creationId="{747AED59-1A26-9C13-8482-7857E7DEFE52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4215956031" sldId="2147483675"/>
              <ac:spMk id="9" creationId="{193EE6EB-FF56-B8A3-1408-5C43C49B256E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4215956031" sldId="2147483675"/>
              <ac:spMk id="10" creationId="{EE2866F3-0262-FC88-23E2-359D75EA8A79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1996390291" sldId="2147483676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996390291" sldId="2147483676"/>
              <ac:spMk id="2" creationId="{FAF3BB49-A328-F121-7F27-DEB7C3CC2B0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996390291" sldId="2147483676"/>
              <ac:spMk id="4" creationId="{3DA51E54-3166-19CA-EB55-5DFFB9426CAD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996390291" sldId="2147483676"/>
              <ac:spMk id="8" creationId="{C3D15418-1E32-0501-0E66-54FC2DD08E39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996390291" sldId="2147483676"/>
              <ac:spMk id="13" creationId="{9AA293A1-7F80-90D9-D8FF-27238ADD795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996390291" sldId="2147483676"/>
              <ac:spMk id="14" creationId="{3BD91724-58CE-FA68-1E24-9CD57621C129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996390291" sldId="2147483676"/>
              <ac:spMk id="15" creationId="{3B9AC797-2D9B-C7AC-550D-157FEDA3800D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108998348" sldId="2147483677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108998348" sldId="2147483677"/>
              <ac:spMk id="2" creationId="{BC7433D9-FD02-59E2-0F81-A0B7201D2DA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108998348" sldId="2147483677"/>
              <ac:spMk id="3" creationId="{45602332-ECCE-37C9-0CA1-1743D107C8E3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108998348" sldId="2147483677"/>
              <ac:spMk id="7" creationId="{CA8E192A-D6F1-1585-7133-0041C85402E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108998348" sldId="2147483677"/>
              <ac:spMk id="8" creationId="{C6F072A2-EBC7-B7EA-DA98-BAC0AA46E7A4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108998348" sldId="2147483677"/>
              <ac:spMk id="9" creationId="{8437B541-595D-1700-6A76-9AF7590B186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108998348" sldId="2147483677"/>
              <ac:spMk id="11" creationId="{5F24C464-705C-DC78-DD20-9EFEB717ED27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1756537313" sldId="2147483678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756537313" sldId="2147483678"/>
              <ac:spMk id="2" creationId="{BC7433D9-FD02-59E2-0F81-A0B7201D2DA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756537313" sldId="2147483678"/>
              <ac:spMk id="3" creationId="{45602332-ECCE-37C9-0CA1-1743D107C8E3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756537313" sldId="2147483678"/>
              <ac:spMk id="7" creationId="{CA8E192A-D6F1-1585-7133-0041C85402E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756537313" sldId="2147483678"/>
              <ac:spMk id="8" creationId="{C6F072A2-EBC7-B7EA-DA98-BAC0AA46E7A4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756537313" sldId="2147483678"/>
              <ac:spMk id="9" creationId="{8437B541-595D-1700-6A76-9AF7590B186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756537313" sldId="2147483678"/>
              <ac:spMk id="11" creationId="{5F24C464-705C-DC78-DD20-9EFEB717ED27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1058192489" sldId="2147483679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058192489" sldId="2147483679"/>
              <ac:spMk id="3" creationId="{86ADE8C0-7863-A0F4-9EFB-60B2F8DD221E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058192489" sldId="2147483679"/>
              <ac:spMk id="4" creationId="{0AE20381-0150-ABDF-3C66-3E77DA79EEC4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058192489" sldId="2147483679"/>
              <ac:spMk id="5" creationId="{33AD7FDD-1157-5BB4-4A9F-3F35CE7FF47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058192489" sldId="2147483679"/>
              <ac:spMk id="10" creationId="{5B446035-33B1-F0D9-18B1-58E177267E3A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058192489" sldId="2147483679"/>
              <ac:spMk id="11" creationId="{6BF28860-8FEF-73E6-FEDF-176AC5D70A0F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856566654" sldId="2147483680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856566654" sldId="2147483680"/>
              <ac:spMk id="2" creationId="{A7221EB5-8556-FBD7-00D5-D69AC8E7E73A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856566654" sldId="2147483680"/>
              <ac:spMk id="6" creationId="{E9E12D21-0607-5120-F81C-6E1DA0652CFB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856566654" sldId="2147483680"/>
              <ac:spMk id="8" creationId="{E0E9E314-CB58-F3CE-7C32-D6103621A2D5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856566654" sldId="2147483680"/>
              <ac:spMk id="9" creationId="{20A1B35F-4D88-6EA9-8D55-4133CD961AF1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856566654" sldId="2147483680"/>
              <ac:spMk id="10" creationId="{88124DA4-1249-371C-65BA-0AAC0239D4C1}"/>
            </ac:spMkLst>
          </pc:spChg>
        </pc:sldLayoutChg>
        <pc:sldLayoutChg chg="ad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364999920" sldId="2147483681"/>
          </pc:sldLayoutMkLst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782863178" sldId="2147483682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82863178" sldId="2147483682"/>
              <ac:spMk id="2" creationId="{BC7433D9-FD02-59E2-0F81-A0B7201D2DA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82863178" sldId="2147483682"/>
              <ac:spMk id="4" creationId="{5C52CF0D-DCF6-2401-8AD6-ED12BCF0D0F7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82863178" sldId="2147483682"/>
              <ac:spMk id="5" creationId="{A67F5585-231E-4B46-143C-086AE5C56D2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82863178" sldId="2147483682"/>
              <ac:spMk id="6" creationId="{90CE8D9E-59BD-DBC5-F43C-8A6A21AE2F1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782863178" sldId="2147483682"/>
              <ac:spMk id="8" creationId="{C7E1FCC9-2D1D-9C6B-8C9A-E3D0A77DBEF0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1566247537" sldId="2147483683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66247537" sldId="2147483683"/>
              <ac:spMk id="2" creationId="{BC7433D9-FD02-59E2-0F81-A0B7201D2DA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66247537" sldId="2147483683"/>
              <ac:spMk id="3" creationId="{7CAECC89-C65D-CAD6-3F7F-24F67D81DCF1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66247537" sldId="2147483683"/>
              <ac:spMk id="7" creationId="{053FFEDA-E57B-DF13-2394-A1514E15F85A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66247537" sldId="2147483683"/>
              <ac:spMk id="8" creationId="{F664FAF8-D2CD-617D-EEE4-AFE7E979984A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66247537" sldId="2147483683"/>
              <ac:spMk id="9" creationId="{B0DB779D-8A81-935C-F850-6C0DCAD5E6D1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96447256" sldId="2147483684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96447256" sldId="2147483684"/>
              <ac:spMk id="2" creationId="{FAF3BB49-A328-F121-7F27-DEB7C3CC2B0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96447256" sldId="2147483684"/>
              <ac:spMk id="3" creationId="{EC2184DE-1D38-B3AE-D560-557B3726B547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96447256" sldId="2147483684"/>
              <ac:spMk id="4" creationId="{392A082C-5D4A-4A20-87E3-9906B5F3BAF4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96447256" sldId="2147483684"/>
              <ac:spMk id="7" creationId="{80A35E0D-62A8-3554-9B0A-F98F410BA73C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96447256" sldId="2147483684"/>
              <ac:spMk id="8" creationId="{AD66BE47-AC20-1061-07AD-89A41D02F482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96447256" sldId="2147483684"/>
              <ac:spMk id="10" creationId="{59B3B287-1823-BE94-2755-A041E87636AD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1507217593" sldId="2147483685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07217593" sldId="2147483685"/>
              <ac:spMk id="2" creationId="{41FEE969-634D-6E32-D227-18E9282C6F9E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07217593" sldId="2147483685"/>
              <ac:spMk id="3" creationId="{61CD26D4-290A-F0ED-7D62-41EDA6FEC2B9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07217593" sldId="2147483685"/>
              <ac:spMk id="5" creationId="{06536620-C4F3-EEC3-DBF1-05196B1CBB55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07217593" sldId="2147483685"/>
              <ac:spMk id="6" creationId="{13701989-F794-F145-FEEE-631718E4D69C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07217593" sldId="2147483685"/>
              <ac:spMk id="8" creationId="{A3BB3E04-BBB2-1EB1-AF01-EFE05E004270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07217593" sldId="2147483685"/>
              <ac:spMk id="15" creationId="{705EA491-E08A-48B5-7211-33514A94530C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07217593" sldId="2147483685"/>
              <ac:spMk id="16" creationId="{259980DF-BFB1-0E16-FE9E-D2D30ED180E7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1507217593" sldId="2147483685"/>
              <ac:spMk id="17" creationId="{6EA97154-58A7-DD75-CD73-93F442F34125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623562235" sldId="2147483686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623562235" sldId="2147483686"/>
              <ac:spMk id="2" creationId="{666A9F42-7FF7-F803-C075-BC4968D35E34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623562235" sldId="2147483686"/>
              <ac:spMk id="3" creationId="{E89E8268-7232-2944-F1BD-399F9419B563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623562235" sldId="2147483686"/>
              <ac:spMk id="4" creationId="{6B968DDD-323F-89A1-84E3-DDBA626D9386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623562235" sldId="2147483686"/>
              <ac:spMk id="5" creationId="{98FBDC76-671D-1671-DCE2-D5658BD40E29}"/>
            </ac:spMkLst>
          </pc:spChg>
        </pc:sldLayoutChg>
        <pc:sldLayoutChg chg="modSp mod ord">
          <pc:chgData name="Robson Rocha de Araújo" userId="a2c6238e923675da" providerId="LiveId" clId="{6B507253-E232-478F-AB49-711AD90A2C31}" dt="2026-08-17T00:56:47.272" v="74" actId="26606"/>
          <pc:sldLayoutMkLst>
            <pc:docMk/>
            <pc:sldMasterMk cId="1759801583" sldId="2147483660"/>
            <pc:sldLayoutMk cId="2784807080" sldId="2147483687"/>
          </pc:sldLayoutMkLst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784807080" sldId="2147483687"/>
              <ac:spMk id="2" creationId="{49BC4D82-0182-501C-9231-46767680476E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784807080" sldId="2147483687"/>
              <ac:spMk id="3" creationId="{10EAA6C9-A7F3-19F1-D17C-A1D83FAF553F}"/>
            </ac:spMkLst>
          </pc:spChg>
          <pc:spChg chg="mod">
            <ac:chgData name="Robson Rocha de Araújo" userId="a2c6238e923675da" providerId="LiveId" clId="{6B507253-E232-478F-AB49-711AD90A2C31}" dt="2026-08-17T00:56:47.272" v="74" actId="26606"/>
            <ac:spMkLst>
              <pc:docMk/>
              <pc:sldMasterMk cId="1759801583" sldId="2147483660"/>
              <pc:sldLayoutMk cId="2784807080" sldId="2147483687"/>
              <ac:spMk id="4" creationId="{34EBB816-1B94-116F-92D4-6043AE9E0C6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CF45EBC-EB04-D21B-79DE-F49CB2500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1111D4D-C714-097E-B3CD-3C71041FE0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C488E-B00C-4048-8979-EAD45543408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429A06-46F8-8A14-6C8E-887CBA5DA0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E9F835-23D1-2EDC-C9E4-4B279D7262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33C8F-C504-4A87-8610-6B913BB327AD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6542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C14ADF37-6ACD-7A81-F412-EAC0080BF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LID4096"/>
          </a:p>
        </p:txBody>
      </p:sp>
      <p:sp>
        <p:nvSpPr>
          <p:cNvPr id="6" name="Espaço Reservado para Imagem de Slide 5">
            <a:extLst>
              <a:ext uri="{FF2B5EF4-FFF2-40B4-BE49-F238E27FC236}">
                <a16:creationId xmlns:a16="http://schemas.microsoft.com/office/drawing/2014/main" id="{0BB892F3-52AF-6649-2D19-0A9D0EB69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47CD51E-C243-9CAA-6DDC-EADA6DB58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0AC41-B04E-4FDE-B661-87FB11128912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124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pacta-ghcp-eng-moderna/01-desenvolvimento-assistido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tools/ai-tools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prompting/prompt-engineering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earn.microsoft.com/en-us/dotnet/ai/conceptual/zero-shot-learning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get-started/best-practice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eveloper.microsoft.com/blog/spec-driven-development-ai-native-engineering/" TargetMode="External"/><Relationship Id="rId4" Type="http://schemas.openxmlformats.org/officeDocument/2006/relationships/hyperlink" Target="https://code.visualstudio.com/docs/agent-customization/custom-instructions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agent-customization/custom-instruction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github.com/en/copilot/concepts/prompting/response-customization" TargetMode="External"/><Relationship Id="rId5" Type="http://schemas.openxmlformats.org/officeDocument/2006/relationships/hyperlink" Target="https://docs.github.com/en/copilot/how-tos/configure-custom-instructions/add-repository-instructions" TargetMode="External"/><Relationship Id="rId4" Type="http://schemas.openxmlformats.org/officeDocument/2006/relationships/hyperlink" Target="https://docs.github.com/en/copilot/reference/customization-cheat-sheet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completions/code-suggestions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github.com/en/copilot/concepts/agents/cloud-agent/about-custom-agents" TargetMode="External"/><Relationship Id="rId4" Type="http://schemas.openxmlformats.org/officeDocument/2006/relationships/hyperlink" Target="https://docs.github.com/en/copilot/how-tos/chat-with-copilot/chat-in-ide#copilot-chat-agents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fundamentals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earn.microsoft.com/en-us/aspnet/core/blazor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copilot/overview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github.com/en/copilot/concepts/context/content-exclusion" TargetMode="External"/><Relationship Id="rId5" Type="http://schemas.openxmlformats.org/officeDocument/2006/relationships/hyperlink" Target="https://docs.github.com/en/copilot/concepts/prompting/response-customization?tool=vscode" TargetMode="External"/><Relationship Id="rId4" Type="http://schemas.openxmlformats.org/officeDocument/2006/relationships/hyperlink" Target="https://learn.microsoft.com/en-us/dotnet/core/introduction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web-api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earn.microsoft.com/en-us/aspnet/core/web-api/handle-errors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get-started/best-practices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learn.microsoft.com/en-us/aspnet/core/fundamentals/openapi/using-openapi-documents" TargetMode="External"/><Relationship Id="rId4" Type="http://schemas.openxmlformats.org/officeDocument/2006/relationships/hyperlink" Target="https://docs.github.com/en/copilot/concepts/prompting/prompt-engineering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icrosoft.com/blog/spec-driven-development-ai-native-engineerin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rfc-editor.org/rfc/rfc9110.html#name-client-error-4xx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agent-customization/prompt-file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github.com/en/copilot/concepts/agents/about-agent-skills" TargetMode="External"/><Relationship Id="rId4" Type="http://schemas.openxmlformats.org/officeDocument/2006/relationships/hyperlink" Target="https://docs.github.com/en/copilot/tutorials/customization-library/prompt-files/your-first-prompt-file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agent-customization/prompt-files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github.com/en/copilot/get-started/best-practices" TargetMode="External"/><Relationship Id="rId4" Type="http://schemas.openxmlformats.org/officeDocument/2006/relationships/hyperlink" Target="https://docs.github.com/en/copilot/tutorials/customization-library/prompt-files/your-first-prompt-file" TargetMode="Externa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responsible-ai-with-github-copilot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cs.github.com/en/copilot/concepts/context/content-exclusion#limitations-of-content-exclusion" TargetMode="Externa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get-started/best-practices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completions/code-suggestions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f/core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github.com/en/copilot/concepts/prompting/prompt-engineering" TargetMode="External"/><Relationship Id="rId4" Type="http://schemas.openxmlformats.org/officeDocument/2006/relationships/hyperlink" Target="https://learn.microsoft.com/en-us/ef/core/managing-schemas/migrations/" TargetMode="Externa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f/core/get-started/overview/first-app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github.com/en/copilot/concepts/prompting" TargetMode="External"/><Relationship Id="rId4" Type="http://schemas.openxmlformats.org/officeDocument/2006/relationships/hyperlink" Target="https://docs.github.com/en/copilot/concepts/agents/about-agent-skills" TargetMode="Externa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f/core/managing-schemas/migrations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blazor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earn.microsoft.com/en-us/aspnet/core/blazor/call-web-api" TargetMode="Externa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blazor/call-web-api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cs.github.com/en/copilot/how-tos/chat-with-copilot/chat-in-ide" TargetMode="Externa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get-started/best-practices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develop-unit-tests-using-github-copilot-tools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learn.microsoft.com/en-us/aspnet/core/fundamentals/openapi/overview" TargetMode="External"/><Relationship Id="rId4" Type="http://schemas.openxmlformats.org/officeDocument/2006/relationships/hyperlink" Target="https://docs.github.com/en/actions/how-tos/use-cases-and-examples/building-and-testing/building-and-testing-net" TargetMode="Externa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ctions/how-tos/use-cases-and-examples/building-and-testing/building-and-testing-net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cs.github.com/en/actions/how-tos/security-for-github-actions/security-guides/automatic-token-authentication" TargetMode="External"/><Relationship Id="rId4" Type="http://schemas.openxmlformats.org/officeDocument/2006/relationships/hyperlink" Target="https://docs.github.com/en/actions/reference/workflows-and-actions/workflow-syntax" TargetMode="Externa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ore/testing/" TargetMode="External"/><Relationship Id="rId7" Type="http://schemas.openxmlformats.org/officeDocument/2006/relationships/hyperlink" Target="https://docs.github.com/en/copilot/reference/custom-agentes-configuration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github.com/en/copilot/reference/customization-cheat-sheet" TargetMode="External"/><Relationship Id="rId5" Type="http://schemas.openxmlformats.org/officeDocument/2006/relationships/hyperlink" Target="https://docs.github.com/en/copilot/concepts/agents/cloud-agent/about-custom-agents" TargetMode="External"/><Relationship Id="rId4" Type="http://schemas.openxmlformats.org/officeDocument/2006/relationships/hyperlink" Target="https://docs.github.com/en/actions" TargetMode="Externa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icrosoft.com/blog/spec-driven-development-ai-native-engineerin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eveloper.microsoft.com/blog/spec-driven-development-ai-native-engineering/" TargetMode="External"/><Relationship Id="rId4" Type="http://schemas.openxmlformats.org/officeDocument/2006/relationships/hyperlink" Target="https://learn.microsoft.com/en-us/training/paths/copilot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97164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10201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lIns="96661" tIns="48331" rIns="96661" bIns="48331"/>
          <a:lstStyle/>
          <a:p>
            <a:pPr defTabSz="966612">
              <a:defRPr/>
            </a:pPr>
            <a:br>
              <a:rPr lang="pt-BR" dirty="0"/>
            </a:br>
            <a:r>
              <a:rPr lang="pt-BR" b="1" dirty="0"/>
              <a:t>Walkthrough:</a:t>
            </a:r>
            <a:br>
              <a:rPr lang="pt-BR" dirty="0"/>
            </a:br>
            <a:r>
              <a:rPr lang="pt-BR" dirty="0"/>
              <a:t>Após copiar o repositório, execute a “</a:t>
            </a:r>
            <a:r>
              <a:rPr lang="" b="1" dirty="0">
                <a:effectLst/>
              </a:rPr>
              <a:t>Passo 1 - Preparar o Codespace</a:t>
            </a:r>
            <a:r>
              <a:rPr lang="pt-BR" dirty="0"/>
              <a:t>”</a:t>
            </a:r>
            <a:br>
              <a:rPr lang="pt-BR" dirty="0"/>
            </a:br>
            <a:br>
              <a:rPr lang="pt-BR" dirty="0"/>
            </a:br>
            <a:r>
              <a:rPr lang="pt-BR" dirty="0">
                <a:latin typeface="Aptos" panose="020B0004020202020204" pitchFamily="34" charset="0"/>
                <a:hlinkClick r:id="rId3"/>
              </a:rPr>
              <a:t>https://github.com/impacta-ghcp-eng-moderna/01-desenvolvimento-assistido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03150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Não apresente ainda uma solução técnica detalhada. Comece pela necessidade: pessoas precisam manter e consultar um catálogo confiável.</a:t>
            </a:r>
          </a:p>
          <a:p>
            <a:r>
              <a:rPr lang="pt-BR" dirty="0"/>
              <a:t>Explique que o CRUD é deliberadamente simples. A riqueza pedagógica está na conexão entre requisito, contratos, camadas, validação e entrega.</a:t>
            </a:r>
          </a:p>
          <a:p>
            <a:r>
              <a:rPr lang="pt-BR" dirty="0"/>
              <a:t>Execute uma exploração curta no agente Ask para tornar visíveis decisões ainda abertas. Não aceite as perguntas como requisitos: responda e registre apenas o que fizer sentido para o cenário.</a:t>
            </a:r>
          </a:p>
          <a:p>
            <a:br>
              <a:rPr lang="pt-BR" dirty="0"/>
            </a:br>
            <a:r>
              <a:rPr lang="pt-BR" dirty="0"/>
              <a:t>Walkthrough:</a:t>
            </a:r>
            <a:br>
              <a:rPr lang="pt-BR" dirty="0"/>
            </a:br>
            <a:r>
              <a:rPr lang="pt-BR" dirty="0"/>
              <a:t>Passo 2 - Explorar ambiguidades do cenário</a:t>
            </a:r>
            <a:br>
              <a:rPr lang="pt-BR" dirty="0"/>
            </a:br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Escolher a ferramenta de IA adequada à tarefa — </a:t>
            </a:r>
            <a:r>
              <a:rPr lang="pt-BR" dirty="0">
                <a:hlinkClick r:id="rId3"/>
              </a:rPr>
              <a:t>https://docs.github.com/en/copilot/concepts/tools/ai-tools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48731E30-4AC6-64E2-4072-A40BD87BA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Compare duas solicitações para a mesma tarefa: propor respostas para data ausente e carga horária igual a zero. Use o mesmo modelo e o mesmo contexto, mas abra chats separados para que a primeira resposta não influencie a segunda.</a:t>
            </a:r>
          </a:p>
          <a:p>
            <a:r>
              <a:rPr lang="pt-BR" dirty="0"/>
              <a:t>No primeiro chat, execute o zero-shot sem exemplos. No segundo, repita a tarefa acrescentando exemplos de erro para título e descrição ausentes. Compare estrutura, consistência e aderência ao padrão. A única variável intencional deve ser a presença dos exemplos.</a:t>
            </a:r>
          </a:p>
          <a:p>
            <a:r>
              <a:rPr lang="pt-BR" dirty="0"/>
              <a:t>Não apresente few-shot como garantia de correção. O exemplo orienta o padrão, mas ainda pode carregar erros ou induzir generalizações inadequadas.</a:t>
            </a:r>
          </a:p>
          <a:p>
            <a:br>
              <a:rPr lang="pt-BR" dirty="0"/>
            </a:br>
            <a:r>
              <a:rPr lang="pt-BR" dirty="0"/>
              <a:t>Walkthrough:</a:t>
            </a:r>
            <a:br>
              <a:rPr lang="pt-BR" dirty="0"/>
            </a:br>
            <a:r>
              <a:rPr lang="pt-BR" dirty="0"/>
              <a:t>Passo 3 - Propor erros sem exemplo</a:t>
            </a:r>
            <a:br>
              <a:rPr lang="pt-BR" dirty="0"/>
            </a:br>
            <a:r>
              <a:rPr lang="pt-BR" dirty="0"/>
              <a:t>Passo 4 - Indicar um padrão com exemplos</a:t>
            </a:r>
            <a:br>
              <a:rPr lang="pt-BR" dirty="0"/>
            </a:br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Engenharia de prompts para o GitHub Copilot — </a:t>
            </a:r>
            <a:r>
              <a:rPr lang="pt-BR" dirty="0">
                <a:hlinkClick r:id="rId3"/>
              </a:rPr>
              <a:t>https://docs.github.com/en/copilot/concepts/prompting/prompt-engineering</a:t>
            </a:r>
            <a:r>
              <a:rPr lang="pt-BR" dirty="0"/>
              <a:t> </a:t>
            </a:r>
          </a:p>
          <a:p>
            <a:r>
              <a:rPr lang="pt-BR" dirty="0"/>
              <a:t>Zero-shot e few-shot — </a:t>
            </a:r>
            <a:r>
              <a:rPr lang="pt-BR" dirty="0">
                <a:hlinkClick r:id="rId4"/>
              </a:rPr>
              <a:t>https://learn.microsoft.com/en-us/dotnet/ai/conceptual/zero-shot-learning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03E8CCDD-1429-985C-42E8-0CC4E445D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50" dirty="0"/>
              <a:t>Organize duplas ou trios. Peça que usem o cenário e as decisões anteriores para escrever objetivo, escopo, dados, critérios de aceitação e evidências. Não discutam arquitetura nem tentem antecipar todo o CRUD.</a:t>
            </a:r>
          </a:p>
          <a:p>
            <a:r>
              <a:rPr lang="pt-BR" sz="1050" dirty="0"/>
              <a:t>Ao final dos três minutos, escolha um rascunho e execute mod-01-slide-06-prompt-01.md. O Copilot deve apontar lacunas sem reescrever a especificação ou decidir pela turma. Colete duas ou três decisões e compare com mod-01-slide-06-example.md.</a:t>
            </a:r>
          </a:p>
          <a:p>
            <a:r>
              <a:rPr lang="pt-BR" sz="1050" dirty="0"/>
              <a:t>No repositório do walkthrough, salve a versão aprovada como docs/specs/training-catalog-vertical-slice.md. Em .github/copilot-instructions.md, adicione uma instrução curta com link Markdown para essa especificação: antes de planejar ou alterar o catálogo, lê-la e sinalizar conflitos. Não duplique todo o contrato nas instructions.</a:t>
            </a:r>
          </a:p>
          <a:p>
            <a:r>
              <a:rPr lang="pt-BR" sz="1050" dirty="0"/>
              <a:t>Explique que o link torna a fonte localizável para o Copilot no VS Code, mas os prompts seguintes também citarão a especificação explicitamente. O documento é vivo: mudanças aprovadas atualizam primeiro a especificação e depois código e testes.</a:t>
            </a:r>
          </a:p>
          <a:p>
            <a:br>
              <a:rPr lang="pt-BR" sz="1050" dirty="0"/>
            </a:br>
            <a:r>
              <a:rPr lang="pt-BR" sz="1050" dirty="0"/>
              <a:t>Walkthrough:</a:t>
            </a:r>
            <a:br>
              <a:rPr lang="pt-BR" sz="1050" dirty="0"/>
            </a:br>
            <a:r>
              <a:rPr lang="pt-BR" sz="1050" dirty="0"/>
              <a:t>Passo 5 - Rascunhar a especificação da fatia vertical (Dinâmica)</a:t>
            </a:r>
          </a:p>
          <a:p>
            <a:r>
              <a:rPr lang="pt-BR" sz="1050" dirty="0"/>
              <a:t>Passo 6 - Revisar a especificação com o </a:t>
            </a:r>
            <a:r>
              <a:rPr lang="pt-BR" sz="1050" dirty="0" err="1"/>
              <a:t>Copilot</a:t>
            </a:r>
            <a:br>
              <a:rPr lang="pt-BR" sz="1050" dirty="0"/>
            </a:br>
            <a:r>
              <a:rPr lang="pt-BR" sz="1050" dirty="0"/>
              <a:t>Passo 7 - Criar as instruções do repositório</a:t>
            </a:r>
            <a:br>
              <a:rPr lang="pt-BR" sz="1050" dirty="0"/>
            </a:br>
            <a:endParaRPr lang="pt-BR" sz="1050" dirty="0"/>
          </a:p>
          <a:p>
            <a:r>
              <a:rPr lang="pt-BR" sz="1050" dirty="0"/>
              <a:t>Links de apoio</a:t>
            </a:r>
          </a:p>
          <a:p>
            <a:r>
              <a:rPr lang="pt-BR" sz="1050" dirty="0"/>
              <a:t>Boas práticas para usar o GitHub Copilot — </a:t>
            </a:r>
            <a:r>
              <a:rPr lang="pt-BR" sz="1050" dirty="0">
                <a:hlinkClick r:id="rId3"/>
              </a:rPr>
              <a:t>https://docs.github.com/en/copilot/get-started/best-practices</a:t>
            </a:r>
            <a:r>
              <a:rPr lang="pt-BR" sz="1050" dirty="0"/>
              <a:t> </a:t>
            </a:r>
          </a:p>
          <a:p>
            <a:r>
              <a:rPr lang="pt-BR" sz="1050" dirty="0"/>
              <a:t>Custom instructions e referências Markdown no VS Code — </a:t>
            </a:r>
            <a:r>
              <a:rPr lang="pt-BR" sz="1050" dirty="0">
                <a:hlinkClick r:id="rId4"/>
              </a:rPr>
              <a:t>https://code.visualstudio.com/docs/agent-customization/custom-instructions</a:t>
            </a:r>
            <a:r>
              <a:rPr lang="pt-BR" sz="1050" dirty="0"/>
              <a:t> </a:t>
            </a:r>
          </a:p>
          <a:p>
            <a:r>
              <a:rPr lang="pt-BR" sz="1050" dirty="0"/>
              <a:t>Spec-Driven Development — </a:t>
            </a:r>
            <a:r>
              <a:rPr lang="pt-BR" sz="1050" dirty="0">
                <a:hlinkClick r:id="rId5"/>
              </a:rPr>
              <a:t>https://developer.microsoft.com/blog/spec-driven-development-ai-native-engineering/</a:t>
            </a:r>
            <a:r>
              <a:rPr lang="pt-BR" sz="1050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AAE27E19-A59F-8543-ED23-8DAD5CE2E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100" dirty="0"/>
              <a:t>Retome a instrução adicionada no slide anterior. A especificação contém o contrato detalhado; as repository instructions dizem ao Copilot que deve consultá-la antes de alterar o catálogo; o prompt descreve a tarefa atual. Não copie a especificação inteira para as instructions.</a:t>
            </a:r>
          </a:p>
          <a:p>
            <a:r>
              <a:rPr lang="pt-BR" sz="1100" dirty="0"/>
              <a:t>Explique que o VS Code detecta .github/copilot-instructions.md na raiz do workspace e inclui seu conteúdo automaticamente nas solicitações do Copilot Chat. O arquivo não é aplicado às sugestões inline enquanto o desenvolvedor digita.</a:t>
            </a:r>
          </a:p>
          <a:p>
            <a:r>
              <a:rPr lang="pt-BR" sz="1100" dirty="0"/>
              <a:t>Use repository instructions para padrões, arquitetura, restrições e comandos que devem permanecer válidos em muitas tarefas. Evite pedidos temporários, detalhes de uma única implementação, regras contraditórias e conteúdo excessivo. No Módulo 2, serão aprofundadas instructions específicas por caminho e outras formas de personalização.</a:t>
            </a:r>
          </a:p>
          <a:p>
            <a:endParaRPr lang="pt-BR" sz="1100" dirty="0"/>
          </a:p>
          <a:p>
            <a:r>
              <a:rPr lang="pt-BR" sz="1100" dirty="0"/>
              <a:t>Links de apoio</a:t>
            </a:r>
          </a:p>
          <a:p>
            <a:r>
              <a:rPr lang="pt-BR" sz="1100" dirty="0"/>
              <a:t>Custom instructions no VS Code — </a:t>
            </a:r>
            <a:r>
              <a:rPr lang="pt-BR" sz="1100" dirty="0">
                <a:hlinkClick r:id="rId3"/>
              </a:rPr>
              <a:t>https://code.visualstudio.com/docs/agent-customization/custom-instructions</a:t>
            </a:r>
            <a:r>
              <a:rPr lang="pt-BR" sz="1100" dirty="0"/>
              <a:t> </a:t>
            </a:r>
          </a:p>
          <a:p>
            <a:r>
              <a:rPr lang="pt-BR" sz="1100" dirty="0"/>
              <a:t>Copilot customization cheat sheet — </a:t>
            </a:r>
            <a:r>
              <a:rPr lang="pt-BR" sz="1100" dirty="0">
                <a:hlinkClick r:id="rId4"/>
              </a:rPr>
              <a:t>https://docs.github.com/en/copilot/reference/customization-cheat-sheet</a:t>
            </a:r>
            <a:r>
              <a:rPr lang="pt-BR" sz="1100" dirty="0"/>
              <a:t> </a:t>
            </a:r>
          </a:p>
          <a:p>
            <a:r>
              <a:rPr lang="pt-BR" sz="1100" dirty="0"/>
              <a:t>Adicionar repository instructions ao GitHub Copilot — </a:t>
            </a:r>
            <a:r>
              <a:rPr lang="pt-BR" sz="1100" dirty="0">
                <a:hlinkClick r:id="rId5"/>
              </a:rPr>
              <a:t>https://docs.github.com/en/copilot/how-tos/configure-custom-instructions/add-repository-instructions</a:t>
            </a:r>
            <a:r>
              <a:rPr lang="pt-BR" sz="1100" dirty="0"/>
              <a:t> </a:t>
            </a:r>
          </a:p>
          <a:p>
            <a:r>
              <a:rPr lang="pt-BR" sz="1100" dirty="0"/>
              <a:t>Personalização das respostas do GitHub Copilot — </a:t>
            </a:r>
            <a:r>
              <a:rPr lang="pt-BR" sz="1100" dirty="0">
                <a:hlinkClick r:id="rId6"/>
              </a:rPr>
              <a:t>https://docs.github.com/en/copilot/concepts/prompting/response-customization</a:t>
            </a:r>
            <a:r>
              <a:rPr lang="pt-BR" sz="1100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0A29CFEC-EEFE-1F32-AD9C-D6EE6AC37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Explique que mais autonomia não significa automaticamente melhor resultado. Ask, Plan e Agent são selecionados no dropdown do Chat; inline chat, sugestões e smart actions atendem interações locais.</a:t>
            </a:r>
          </a:p>
          <a:p>
            <a:r>
              <a:rPr lang="pt-BR" dirty="0"/>
              <a:t>Para iniciar a solução, usaremos Plan e depois Agent. Sugestões inline aparecerão em ajustes locais. Custom agents especializam comportamento e ferramentas; não são automaticamente melhores que os agentes incorporados.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Sugestões de código na IDE — </a:t>
            </a:r>
            <a:r>
              <a:rPr lang="pt-BR" dirty="0">
                <a:hlinkClick r:id="rId3"/>
              </a:rPr>
              <a:t>https://docs.github.com/en/copilot/concepts/completions/code-suggestions</a:t>
            </a:r>
            <a:r>
              <a:rPr lang="pt-BR" dirty="0"/>
              <a:t> </a:t>
            </a:r>
          </a:p>
          <a:p>
            <a:r>
              <a:rPr lang="pt-BR" dirty="0"/>
              <a:t>Ask, Plan e Agent no VS Code — </a:t>
            </a:r>
            <a:r>
              <a:rPr lang="pt-BR" dirty="0">
                <a:hlinkClick r:id="rId4"/>
              </a:rPr>
              <a:t>https://docs.github.com/en/copilot/how-tos/chat-with-copilot/chat-in-ide#copilot-chat-agents</a:t>
            </a:r>
            <a:r>
              <a:rPr lang="pt-BR" dirty="0"/>
              <a:t> </a:t>
            </a:r>
          </a:p>
          <a:p>
            <a:r>
              <a:rPr lang="pt-BR" dirty="0"/>
              <a:t>Custom agents — </a:t>
            </a:r>
            <a:r>
              <a:rPr lang="pt-BR" dirty="0">
                <a:hlinkClick r:id="rId5"/>
              </a:rPr>
              <a:t>https://docs.github.com/en/copilot/concepts/agents/cloud-agent/about-custom-agents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540A8C99-F08A-B1D7-646D-330C6551B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Percorra o diagrama da esquerda para a direita. O primeiro resultado útil não é “uma API pronta” nem “uma tela pronta”, mas um comportamento completo e testável.</a:t>
            </a:r>
          </a:p>
          <a:p>
            <a:r>
              <a:rPr lang="pt-BR" dirty="0"/>
              <a:t>Explique que a arquitetura é uma hipótese inicial. O Copilot pode sugerir estruturas, mas a turma avaliará se elas atendem aos limites definidos.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Visão geral do ASP.NET Core — </a:t>
            </a:r>
            <a:r>
              <a:rPr lang="pt-BR" dirty="0">
                <a:hlinkClick r:id="rId3"/>
              </a:rPr>
              <a:t>https://learn.microsoft.com/en-us/aspnet/core/fundamentals/</a:t>
            </a:r>
            <a:r>
              <a:rPr lang="pt-BR" dirty="0"/>
              <a:t> </a:t>
            </a:r>
          </a:p>
          <a:p>
            <a:r>
              <a:rPr lang="pt-BR" dirty="0"/>
              <a:t>Blazor — </a:t>
            </a:r>
            <a:r>
              <a:rPr lang="pt-BR" dirty="0">
                <a:hlinkClick r:id="rId4"/>
              </a:rPr>
              <a:t>https://learn.microsoft.com/en-us/aspnet/core/blazor/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7D8BFB43-FBC3-3665-78FC-439EEF883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dirty="0"/>
              <a:t>Crie quatro repository instructions curtas: propósito, plataforma, comandos de validação e consulta à especificação versionada. Faça uma pergunta zero-shot ao agente Plan para revelar ambiguidades e, após revisar o plano, transicione para Agent usando o prompt estruturado da etapa.</a:t>
            </a:r>
          </a:p>
          <a:p>
            <a:r>
              <a:rPr lang="pt-BR" sz="1000" dirty="0"/>
              <a:t>Reserve no máximo um minuto para explicar content exclusion, sem simular ou usar captura como se fosse uma execução real. Declare que o ambiente do instrutor não possui a configuração administrativa necessária e que o tema será aprofundado conceitualmente no Módulo 2. Explique que o recurso reduz o uso de determinados conteúdos pelo Copilot, possui limitações por superfície e não substitui controles de acesso.</a:t>
            </a:r>
          </a:p>
          <a:p>
            <a:r>
              <a:rPr lang="pt-BR" sz="1000" dirty="0"/>
              <a:t>Revise comandos antes de executá-los. Ao final, compile e mostre a estrutura criada. Se houver desvio irrelevante, discuta-o sem buscar igualdade com o ensaio.</a:t>
            </a:r>
          </a:p>
          <a:p>
            <a:r>
              <a:rPr lang="pt-BR" sz="1000" dirty="0"/>
              <a:t>Compare as instruções aprovadas com mod-01-slide-10-example.md. O arquivo oferece uma referência pronta para .github/copilot-instructions.md, mas não substitui a revisão da saída obtida ao vivo. Destaque que as justificativas do Copilot apoiam a decisão humana e não precisam ser copiadas para o arquivo.</a:t>
            </a:r>
          </a:p>
          <a:p>
            <a:r>
              <a:rPr lang="pt-BR" sz="1000" dirty="0"/>
              <a:t>Se o tempo estiver comprometido, mostre a estrutura final pelo Explorer e preserve a revisão do plano e do build.</a:t>
            </a:r>
          </a:p>
          <a:p>
            <a:br>
              <a:rPr lang="pt-BR" sz="1000" dirty="0"/>
            </a:br>
            <a:r>
              <a:rPr lang="pt-BR" sz="1000" dirty="0"/>
              <a:t>Walkthrough:</a:t>
            </a:r>
            <a:br>
              <a:rPr lang="pt-BR" sz="1000" dirty="0"/>
            </a:br>
            <a:r>
              <a:rPr lang="pt-BR" sz="1000" dirty="0"/>
              <a:t>Passo 8 - Propor </a:t>
            </a:r>
            <a:r>
              <a:rPr lang="pt-BR" sz="1000" dirty="0" err="1"/>
              <a:t>repository</a:t>
            </a:r>
            <a:r>
              <a:rPr lang="pt-BR" sz="1000" dirty="0"/>
              <a:t> </a:t>
            </a:r>
            <a:r>
              <a:rPr lang="pt-BR" sz="1000" dirty="0" err="1"/>
              <a:t>instructions</a:t>
            </a:r>
            <a:r>
              <a:rPr lang="pt-BR" sz="1000" dirty="0"/>
              <a:t> mínimas</a:t>
            </a:r>
          </a:p>
          <a:p>
            <a:r>
              <a:rPr lang="pt-BR" sz="1000" dirty="0"/>
              <a:t>Passo 9 - Atualizar .github/copilot-instructions.md</a:t>
            </a:r>
            <a:br>
              <a:rPr lang="pt-BR" sz="1000" dirty="0"/>
            </a:br>
            <a:r>
              <a:rPr lang="pt-BR" sz="1000" dirty="0"/>
              <a:t>Passo 10 - Planejar a base da solução</a:t>
            </a:r>
            <a:br>
              <a:rPr lang="pt-BR" sz="1000" dirty="0"/>
            </a:br>
            <a:r>
              <a:rPr lang="pt-BR" sz="1000" dirty="0"/>
              <a:t>Passo 11 - Criar a base da solução</a:t>
            </a:r>
            <a:br>
              <a:rPr lang="pt-BR" sz="1000" dirty="0"/>
            </a:br>
            <a:endParaRPr lang="pt-BR" sz="1000" dirty="0"/>
          </a:p>
          <a:p>
            <a:r>
              <a:rPr lang="pt-BR" sz="1000" dirty="0"/>
              <a:t>Links de apoio</a:t>
            </a:r>
          </a:p>
          <a:p>
            <a:r>
              <a:rPr lang="pt-BR" sz="1000" dirty="0"/>
              <a:t>GitHub Copilot no VS Code — </a:t>
            </a:r>
            <a:r>
              <a:rPr lang="pt-BR" sz="1000" dirty="0">
                <a:hlinkClick r:id="rId3"/>
              </a:rPr>
              <a:t>https://code.visualstudio.com/docs/copilot/overview</a:t>
            </a:r>
            <a:r>
              <a:rPr lang="pt-BR" sz="1000" dirty="0"/>
              <a:t> </a:t>
            </a:r>
          </a:p>
          <a:p>
            <a:r>
              <a:rPr lang="pt-BR" sz="1000" dirty="0"/>
              <a:t>Visão geral do .NET — </a:t>
            </a:r>
            <a:r>
              <a:rPr lang="pt-BR" sz="1000" dirty="0">
                <a:hlinkClick r:id="rId4"/>
              </a:rPr>
              <a:t>https://learn.microsoft.com/en-us/dotnet/core/introduction</a:t>
            </a:r>
            <a:r>
              <a:rPr lang="pt-BR" sz="1000" dirty="0"/>
              <a:t> </a:t>
            </a:r>
          </a:p>
          <a:p>
            <a:r>
              <a:rPr lang="pt-BR" sz="1000" dirty="0"/>
              <a:t>Repository instructions — </a:t>
            </a:r>
            <a:r>
              <a:rPr lang="pt-BR" sz="1000" dirty="0">
                <a:hlinkClick r:id="rId5"/>
              </a:rPr>
              <a:t>https://docs.github.com/en/copilot/concepts/prompting/response-customization?tool=vscode</a:t>
            </a:r>
            <a:r>
              <a:rPr lang="pt-BR" sz="1000" dirty="0"/>
              <a:t> </a:t>
            </a:r>
          </a:p>
          <a:p>
            <a:r>
              <a:rPr lang="pt-BR" sz="1000" dirty="0"/>
              <a:t>Content exclusion — </a:t>
            </a:r>
            <a:r>
              <a:rPr lang="pt-BR" sz="1000" dirty="0">
                <a:hlinkClick r:id="rId6"/>
              </a:rPr>
              <a:t>https://docs.github.com/en/copilot/concepts/context/content-exclusion</a:t>
            </a:r>
            <a:r>
              <a:rPr lang="pt-BR" sz="1000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A7A360BD-2FB4-4D13-B797-57DD040F3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Explique que o contrato é mais importante do que a forma interna do código. Discuta tipos, obrigatoriedade e consistência das mensagens de erro.</a:t>
            </a:r>
          </a:p>
          <a:p>
            <a:r>
              <a:rPr lang="pt-BR" dirty="0"/>
              <a:t>Não tente ensinar toda a semântica HTTP. Use apenas o suficiente para revisar a sugestão do Copilot.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Criar APIs Web com ASP.NET Core — </a:t>
            </a:r>
            <a:r>
              <a:rPr lang="pt-BR" dirty="0">
                <a:hlinkClick r:id="rId3"/>
              </a:rPr>
              <a:t>https://learn.microsoft.com/en-us/aspnet/core/web-api/</a:t>
            </a:r>
            <a:r>
              <a:rPr lang="pt-BR" dirty="0"/>
              <a:t> </a:t>
            </a:r>
          </a:p>
          <a:p>
            <a:r>
              <a:rPr lang="pt-BR" dirty="0"/>
              <a:t>Tratamento de erros em APIs ASP.NET Core — </a:t>
            </a:r>
            <a:r>
              <a:rPr lang="pt-BR" dirty="0">
                <a:hlinkClick r:id="rId4"/>
              </a:rPr>
              <a:t>https://learn.microsoft.com/en-us/aspnet/core/web-api/handle-errors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1542B8A9-23E4-26D3-7428-209FCD8CC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50" dirty="0"/>
              <a:t>Use o primeiro prompt com os critérios do slide anterior e um exemplo do formato de erro esperado. Continue na mesma conversa porque ainda estamos refinando o mesmo incremento e o histórico permanece relevante. Antes de aceitar, examine DTO, endpoint, códigos HTTP e dependências.</a:t>
            </a:r>
          </a:p>
          <a:p>
            <a:r>
              <a:rPr lang="pt-BR" sz="1050" dirty="0"/>
              <a:t>Em seguida, use o segundo prompt para inspecionar a configuração OpenAPI existente e adicionar Swagger UI somente no ambiente de desenvolvimento. Explique que o documento OpenAPI descreve a API, enquanto Swagger UI é uma das interfaces capazes de visualizá-lo e executar requisições.</a:t>
            </a:r>
          </a:p>
          <a:p>
            <a:r>
              <a:rPr lang="pt-BR" sz="1050" dirty="0"/>
              <a:t>Abra a interface no navegador e execute um caso válido e um inválido. Se o resultado compilar, mas violar o contrato, trate isso como falha. Evite ferramentas externas nesta primeira validação para que os alunos possam reproduzir o fluxo diretamente no Codespace.</a:t>
            </a:r>
          </a:p>
          <a:p>
            <a:r>
              <a:rPr lang="pt-BR" sz="1050" dirty="0"/>
              <a:t>Em caso de atraso, use a configuração Swagger UI preparada no checkpoint, mas preserve um caso válido, um inválido e a inspeção do diff.</a:t>
            </a:r>
          </a:p>
          <a:p>
            <a:br>
              <a:rPr lang="pt-BR" sz="1050" dirty="0"/>
            </a:br>
            <a:r>
              <a:rPr lang="pt-BR" sz="1050" dirty="0"/>
              <a:t>Walkthrough:</a:t>
            </a:r>
            <a:br>
              <a:rPr lang="pt-BR" sz="1050" dirty="0"/>
            </a:br>
            <a:r>
              <a:rPr lang="pt-BR" sz="1050" dirty="0"/>
              <a:t>Passo 12 - Implementar o primeiro </a:t>
            </a:r>
            <a:r>
              <a:rPr lang="pt-BR" sz="1050" dirty="0" err="1"/>
              <a:t>endpoint</a:t>
            </a:r>
            <a:br>
              <a:rPr lang="pt-BR" sz="1050" dirty="0"/>
            </a:br>
            <a:r>
              <a:rPr lang="pt-BR" sz="1050" dirty="0"/>
              <a:t>Passo 13 - Adicionar Swagger UI</a:t>
            </a:r>
          </a:p>
          <a:p>
            <a:endParaRPr lang="pt-BR" sz="1050" dirty="0"/>
          </a:p>
          <a:p>
            <a:r>
              <a:rPr lang="pt-BR" sz="1050" dirty="0"/>
              <a:t>Links de apoio</a:t>
            </a:r>
          </a:p>
          <a:p>
            <a:r>
              <a:rPr lang="pt-BR" sz="1050" dirty="0"/>
              <a:t>Boas práticas para usar o GitHub Copilot — </a:t>
            </a:r>
            <a:r>
              <a:rPr lang="pt-BR" sz="1050" dirty="0">
                <a:hlinkClick r:id="rId3"/>
              </a:rPr>
              <a:t>https://docs.github.com/en/copilot/get-started/best-practices</a:t>
            </a:r>
            <a:r>
              <a:rPr lang="pt-BR" sz="1050" dirty="0"/>
              <a:t> </a:t>
            </a:r>
          </a:p>
          <a:p>
            <a:r>
              <a:rPr lang="pt-BR" sz="1050" dirty="0"/>
              <a:t>Engenharia de prompts — </a:t>
            </a:r>
            <a:r>
              <a:rPr lang="pt-BR" sz="1050" dirty="0">
                <a:hlinkClick r:id="rId4"/>
              </a:rPr>
              <a:t>https://docs.github.com/en/copilot/concepts/prompting/prompt-engineering</a:t>
            </a:r>
            <a:r>
              <a:rPr lang="pt-BR" sz="1050" dirty="0"/>
              <a:t> </a:t>
            </a:r>
          </a:p>
          <a:p>
            <a:r>
              <a:rPr lang="pt-BR" sz="1050" dirty="0"/>
              <a:t>Usar documentos OpenAPI e Swagger UI no ASP.NET Core — </a:t>
            </a:r>
            <a:r>
              <a:rPr lang="pt-BR" sz="1050" dirty="0">
                <a:hlinkClick r:id="rId5"/>
              </a:rPr>
              <a:t>https://learn.microsoft.com/en-us/aspnet/core/fundamentals/openapi/using-openapi-documents</a:t>
            </a:r>
            <a:r>
              <a:rPr lang="pt-BR" sz="1050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58164EAA-2240-6503-5354-566B5FE08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100" dirty="0"/>
              <a:t>Pela Swagger UI, envie dois treinamentos com a mesma data. Mostre que ambos recebem 201 Created. Pergunte à turma se isso é um bug e consulte a especificação: como a exclusividade não foi definida, a implementação atual não viola o contrato.</a:t>
            </a:r>
          </a:p>
          <a:p>
            <a:r>
              <a:rPr lang="pt-BR" sz="1100" dirty="0"/>
              <a:t>Explique que “não foi isso que eu pedi” frequentemente revela uma expectativa implícita, não uma falha de implementação. Decida com a turma adicionar a regra de que dois treinamentos não podem ter a mesma data de início. Antes de editar o código, execute mod-01-slide-13-prompt-01.md, revise a proposta e aprove o contrato para o conflito.</a:t>
            </a:r>
          </a:p>
          <a:p>
            <a:r>
              <a:rPr lang="pt-BR" sz="1100" dirty="0"/>
              <a:t>Atualize primeiro a especificação, depois crie o teste e somente então ajuste o endpoint. Repita o cenário pela Swagger UI: a primeira criação deve continuar válida e a segunda deve atender ao novo contrato. Destaque que a especificação é viva, mas mudanças precisam ser deliberadas e versionadas.</a:t>
            </a:r>
          </a:p>
          <a:p>
            <a:r>
              <a:rPr lang="pt-BR" sz="1100" dirty="0"/>
              <a:t>Se o tempo estiver curto, mostre a primeira evidência e use um diff preparado para comparar especificação, teste e implementação.</a:t>
            </a:r>
          </a:p>
          <a:p>
            <a:br>
              <a:rPr lang="pt-BR" sz="1100" dirty="0"/>
            </a:br>
            <a:r>
              <a:rPr lang="pt-BR" sz="1100" dirty="0"/>
              <a:t>Walkthrough:</a:t>
            </a:r>
            <a:br>
              <a:rPr lang="pt-BR" sz="1100" dirty="0"/>
            </a:br>
            <a:r>
              <a:rPr lang="pt-BR" sz="1100" dirty="0"/>
              <a:t>Passo 14 - Validar o primeiro </a:t>
            </a:r>
            <a:r>
              <a:rPr lang="pt-BR" sz="1100" dirty="0" err="1"/>
              <a:t>endpoint</a:t>
            </a:r>
            <a:r>
              <a:rPr lang="pt-BR" sz="1100" dirty="0"/>
              <a:t> na Swagger UI</a:t>
            </a:r>
            <a:br>
              <a:rPr lang="pt-BR" sz="1100" dirty="0"/>
            </a:br>
            <a:r>
              <a:rPr lang="pt-BR" sz="1100" dirty="0"/>
              <a:t>Passo 15 - Explicitar a nova regra de </a:t>
            </a:r>
            <a:r>
              <a:rPr lang="pt-BR" sz="1100" dirty="0" err="1"/>
              <a:t>startDate</a:t>
            </a:r>
            <a:br>
              <a:rPr lang="pt-BR" sz="1100" dirty="0"/>
            </a:br>
            <a:r>
              <a:rPr lang="pt-BR" sz="1100" dirty="0"/>
              <a:t>Passo 16 - Aprovar o plano do agente</a:t>
            </a:r>
            <a:br>
              <a:rPr lang="pt-BR" sz="1100" dirty="0"/>
            </a:br>
            <a:endParaRPr lang="pt-BR" sz="1100" dirty="0"/>
          </a:p>
          <a:p>
            <a:r>
              <a:rPr lang="pt-BR" sz="1100" dirty="0"/>
              <a:t>Links de apoio</a:t>
            </a:r>
          </a:p>
          <a:p>
            <a:r>
              <a:rPr lang="pt-BR" sz="1100" dirty="0"/>
              <a:t>Spec-Driven Development — </a:t>
            </a:r>
            <a:r>
              <a:rPr lang="pt-BR" sz="1100" dirty="0">
                <a:hlinkClick r:id="rId3"/>
              </a:rPr>
              <a:t>https://developer.microsoft.com/blog/spec-driven-development-ai-native-engineering/</a:t>
            </a:r>
            <a:r>
              <a:rPr lang="pt-BR" sz="1100" dirty="0"/>
              <a:t> </a:t>
            </a:r>
          </a:p>
          <a:p>
            <a:r>
              <a:rPr lang="pt-BR" sz="1100" dirty="0"/>
              <a:t>Códigos de status HTTP — </a:t>
            </a:r>
            <a:r>
              <a:rPr lang="pt-BR" sz="1100" dirty="0">
                <a:hlinkClick r:id="rId4"/>
              </a:rPr>
              <a:t>https://www.rfc-editor.org/rfc/rfc9110.html#name-client-error-4xx</a:t>
            </a:r>
            <a:r>
              <a:rPr lang="pt-BR" sz="1100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17DA4BE8-B78A-A48C-B1E5-C41F62FF7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Confirme o horário de retorno. Ajude rapidamente quem precisa recuperar o Codespace, sem iniciar explicações novas.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0B72D094-C9A8-79B8-169C-8CB28A93B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Não crie a abstração antes de entender a primeira ocorrência. O POST forneceu padrões concretos de contrato, estrutura, revisão e validação que agora podem ser generalizados.</a:t>
            </a:r>
          </a:p>
          <a:p>
            <a:r>
              <a:rPr lang="pt-BR" dirty="0"/>
              <a:t>Explique a escolha: prompt file representa uma tarefa explícita e manualmente invocada; skill empacota conhecimento e recursos que o agente carrega quando relevantes. Prompt files continuam em preview e, no VS Code, são usados pelos agentes locais, não pelos agentes executados no Agent Host.</a:t>
            </a:r>
          </a:p>
          <a:p>
            <a:r>
              <a:rPr lang="pt-BR" dirty="0"/>
              <a:t>Reuso não significa resultado idêntico. Cada invocação ainda exige parâmetros, contexto, revisão do plano, inspeção do diff e validação.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Usar prompt files no VS Code — </a:t>
            </a:r>
            <a:r>
              <a:rPr lang="pt-BR" dirty="0">
                <a:hlinkClick r:id="rId3"/>
              </a:rPr>
              <a:t>https://code.visualstudio.com/docs/agent-customization/prompt-files</a:t>
            </a:r>
            <a:r>
              <a:rPr lang="pt-BR" dirty="0"/>
              <a:t> </a:t>
            </a:r>
          </a:p>
          <a:p>
            <a:r>
              <a:rPr lang="pt-BR" dirty="0"/>
              <a:t>Primeiro prompt file do GitHub Copilot — </a:t>
            </a:r>
            <a:r>
              <a:rPr lang="pt-BR" dirty="0">
                <a:hlinkClick r:id="rId4"/>
              </a:rPr>
              <a:t>https://docs.github.com/en/copilot/tutorials/customization-library/prompt-files/your-first-prompt-file</a:t>
            </a:r>
            <a:r>
              <a:rPr lang="pt-BR" dirty="0"/>
              <a:t> </a:t>
            </a:r>
          </a:p>
          <a:p>
            <a:r>
              <a:rPr lang="pt-BR" dirty="0"/>
              <a:t>Agent skills — </a:t>
            </a:r>
            <a:r>
              <a:rPr lang="pt-BR" dirty="0">
                <a:hlinkClick r:id="rId5"/>
              </a:rPr>
              <a:t>https://docs.github.com/en/copilot/concepts/agents/about-agent-skills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DD059F44-3118-3263-A8EB-AE3290F6B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50" dirty="0"/>
              <a:t>Peça ao Copilot para transformar o fluxo recém-validado em um prompt file. Compare a resposta com mod-01-slide-16-prompt-02.md e revise nome, agente, entradas, limites e validação antes de salvar.</a:t>
            </a:r>
          </a:p>
          <a:p>
            <a:r>
              <a:rPr lang="pt-BR" sz="1050" dirty="0"/>
              <a:t>Execute ao vivo as invocações para listar treinamentos e buscar por identificador. Antes de cada execução, confirme operação, rota, contrato e evidência esperada. Mostre que o prompt file reduz repetição, mas não elimina decisões.</a:t>
            </a:r>
          </a:p>
          <a:p>
            <a:r>
              <a:rPr lang="pt-BR" sz="1050" dirty="0"/>
              <a:t>Use o mesmo arquivo para criar atualização e exclusão. Todos os endpoints devem compartilhar o armazenamento temporário por meio da abstração criada com o POST. Se o tempo estiver em risco, mostre essas duas invocações preparadas e avance para o checkpoint somente depois de relacionar cada endpoint ao contrato e à validação.</a:t>
            </a:r>
          </a:p>
          <a:p>
            <a:br>
              <a:rPr lang="pt-BR" sz="1050" dirty="0"/>
            </a:br>
            <a:r>
              <a:rPr lang="pt-BR" sz="1050" dirty="0"/>
              <a:t>Walkthrough:</a:t>
            </a:r>
            <a:br>
              <a:rPr lang="pt-BR" sz="1050" dirty="0"/>
            </a:br>
            <a:r>
              <a:rPr lang="pt-BR" sz="1050" dirty="0"/>
              <a:t>Passo 17 - Propor o prompt file reutilizável</a:t>
            </a:r>
            <a:br>
              <a:rPr lang="pt-BR" sz="1050" dirty="0"/>
            </a:br>
            <a:r>
              <a:rPr lang="en-US" sz="1050" dirty="0"/>
              <a:t>Passo 18 - </a:t>
            </a:r>
            <a:r>
              <a:rPr lang="en-US" sz="1050" dirty="0" err="1"/>
              <a:t>Criar</a:t>
            </a:r>
            <a:r>
              <a:rPr lang="en-US" sz="1050" dirty="0"/>
              <a:t> create-training-endpoint.prompt.md</a:t>
            </a:r>
            <a:br>
              <a:rPr lang="en-US" sz="1050" dirty="0"/>
            </a:br>
            <a:r>
              <a:rPr lang="pt-BR" sz="1050" dirty="0"/>
              <a:t>Passo 19 - Utilizar o prompt file para completar o CRUD da API</a:t>
            </a:r>
          </a:p>
          <a:p>
            <a:r>
              <a:rPr lang="pt-BR" sz="1050" dirty="0"/>
              <a:t>Links de apoio</a:t>
            </a:r>
          </a:p>
          <a:p>
            <a:r>
              <a:rPr lang="pt-BR" sz="1050" dirty="0"/>
              <a:t>Usar prompt files no VS Code — </a:t>
            </a:r>
            <a:r>
              <a:rPr lang="pt-BR" sz="1050" dirty="0">
                <a:hlinkClick r:id="rId3"/>
              </a:rPr>
              <a:t>https://code.visualstudio.com/docs/agent-customization/prompt-files</a:t>
            </a:r>
            <a:r>
              <a:rPr lang="pt-BR" sz="1050" dirty="0"/>
              <a:t> </a:t>
            </a:r>
          </a:p>
          <a:p>
            <a:r>
              <a:rPr lang="pt-BR" sz="1050" dirty="0"/>
              <a:t>Criar e testar um prompt file — </a:t>
            </a:r>
            <a:r>
              <a:rPr lang="pt-BR" sz="1050" dirty="0">
                <a:hlinkClick r:id="rId4"/>
              </a:rPr>
              <a:t>https://docs.github.com/en/copilot/tutorials/customization-library/prompt-files/your-first-prompt-file</a:t>
            </a:r>
            <a:r>
              <a:rPr lang="pt-BR" sz="1050" dirty="0"/>
              <a:t> </a:t>
            </a:r>
          </a:p>
          <a:p>
            <a:r>
              <a:rPr lang="pt-BR" sz="1050" dirty="0"/>
              <a:t>Boas práticas para usar o GitHub Copilot — </a:t>
            </a:r>
            <a:r>
              <a:rPr lang="pt-BR" sz="1050" dirty="0">
                <a:hlinkClick r:id="rId5"/>
              </a:rPr>
              <a:t>https://docs.github.com/en/copilot/get-started/best-practices</a:t>
            </a:r>
            <a:r>
              <a:rPr lang="pt-BR" sz="1050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FAEE2FDC-7844-3E98-4CA1-838FA6569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Mostre que “o agente terminou” não é critério de sucesso. Revise o diff, execute os casos e relacione cada resultado aos critérios.</a:t>
            </a:r>
          </a:p>
          <a:p>
            <a:r>
              <a:rPr lang="pt-BR" dirty="0"/>
              <a:t>Peça à turma que identifique um risco ainda não coberto. Registre-o para os módulos de testes e segurança, sem ampliar a etapa atual.</a:t>
            </a:r>
          </a:p>
          <a:p>
            <a:r>
              <a:rPr lang="pt-BR" dirty="0"/>
              <a:t>Retome a informação conceitual sobre exclusão: ela reduz o uso de determinados conteúdos pelo Copilot, mas possui limites por superfície e não substitui revisão, permissões ou práticas de segurança.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Uso responsável de IA com GitHub Copilot — </a:t>
            </a:r>
            <a:r>
              <a:rPr lang="pt-BR" dirty="0">
                <a:hlinkClick r:id="rId3"/>
              </a:rPr>
              <a:t>https://learn.microsoft.com/en-us/training/modules/responsible-ai-with-github-copilot/</a:t>
            </a:r>
            <a:r>
              <a:rPr lang="pt-BR" dirty="0"/>
              <a:t> </a:t>
            </a:r>
          </a:p>
          <a:p>
            <a:r>
              <a:rPr lang="pt-BR" dirty="0"/>
              <a:t>Limitações de content exclusion — </a:t>
            </a:r>
            <a:r>
              <a:rPr lang="pt-BR" dirty="0">
                <a:hlinkClick r:id="rId4"/>
              </a:rPr>
              <a:t>https://docs.github.com/en/copilot/concepts/context/content-exclusion#limitations-of-content-exclusion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79F6A1DA-BB06-1EFE-E5D7-78B3F85BA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Explique que o mesmo prompt e modelo não garantem código idêntico. O checkpoint contém uma base ensaiada para preservar tempo e dependências, não uma “resposta correta”.</a:t>
            </a:r>
          </a:p>
          <a:p>
            <a:r>
              <a:rPr lang="pt-BR" dirty="0"/>
              <a:t>Se for necessário trocar, declare a diferença e mostre rapidamente os contratos preservados. As operações que não couberam na execução ao vivo podem vir no checkpoint, mas suas invocações e critérios já devem ter sido apresentados.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Boas práticas para usar o GitHub Copilot — </a:t>
            </a:r>
            <a:r>
              <a:rPr lang="pt-BR" dirty="0">
                <a:hlinkClick r:id="rId3"/>
              </a:rPr>
              <a:t>https://docs.github.com/en/copilot/get-started/best-practices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1AE1D07E-7927-91DA-973E-2771E4808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Compare resultados da turma ou duas variantes ensaiadas. Pergunte quais diferenças são de estilo, arquitetura ou comportamento.</a:t>
            </a:r>
          </a:p>
          <a:p>
            <a:r>
              <a:rPr lang="pt-BR" dirty="0"/>
              <a:t>Mostre brevemente que o Copilot atende várias linguagens, mas mantenha C#/.NET como caminho principal. Use dois minutos para a comparação e preserve os três minutos finais para dúvidas e transição.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Sugestões de código do GitHub Copilot — </a:t>
            </a:r>
            <a:r>
              <a:rPr lang="pt-BR" dirty="0">
                <a:hlinkClick r:id="rId3"/>
              </a:rPr>
              <a:t>https://docs.github.com/en/copilot/concepts/completions/code-suggestions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C7D12E7B-E66A-D131-1055-E5AB1EA50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Explique brevemente entidade, DbContext e migration. Não ensine Entity Framework Core em profundidade.</a:t>
            </a:r>
          </a:p>
          <a:p>
            <a:r>
              <a:rPr lang="pt-BR" dirty="0"/>
              <a:t>Pergunte o que pode dar errado: nulabilidade divergente, data inadequada, migration não aplicada ou detalhes de banco vazando pelo contrato.</a:t>
            </a:r>
          </a:p>
          <a:p>
            <a:r>
              <a:rPr lang="pt-BR" dirty="0"/>
              <a:t>Explique a decisão de iniciar um novo chat: o histórico anterior já cumpriu seu papel e pode introduzir ruído. A especificação, as instructions e os arquivos relevantes carregam as decisões duráveis para a nova fase. Reutilize a conversa quando estiver refinando a mesma intenção; inicie outra quando objetivo, contexto relevante ou premissas mudarem.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Entity Framework Core — </a:t>
            </a:r>
            <a:r>
              <a:rPr lang="pt-BR" dirty="0">
                <a:hlinkClick r:id="rId3"/>
              </a:rPr>
              <a:t>https://learn.microsoft.com/en-us/ef/core/</a:t>
            </a:r>
            <a:r>
              <a:rPr lang="pt-BR" dirty="0"/>
              <a:t> </a:t>
            </a:r>
          </a:p>
          <a:p>
            <a:r>
              <a:rPr lang="pt-BR" dirty="0"/>
              <a:t>Migrations no Entity Framework Core — </a:t>
            </a:r>
            <a:r>
              <a:rPr lang="pt-BR" dirty="0">
                <a:hlinkClick r:id="rId4"/>
              </a:rPr>
              <a:t>https://learn.microsoft.com/en-us/ef/core/managing-schemas/migrations/</a:t>
            </a:r>
            <a:r>
              <a:rPr lang="pt-BR" dirty="0"/>
              <a:t> </a:t>
            </a:r>
          </a:p>
          <a:p>
            <a:r>
              <a:rPr lang="pt-BR" dirty="0"/>
              <a:t>Prompt engineering e histórico de chat — </a:t>
            </a:r>
            <a:r>
              <a:rPr lang="pt-BR" dirty="0">
                <a:hlinkClick r:id="rId5"/>
              </a:rPr>
              <a:t>https://docs.github.com/en/copilot/concepts/prompting/prompt-engineering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A5F7B0E3-FC76-5D8D-9C24-0A30B1A52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900" dirty="0"/>
              <a:t>Antes da aula, copie o arquivo de referência de mod-01-slide-21-example.md para .github/skills/review-ef-migration/SKILL.md ou inclua-o no checkpoint anterior. Não construa a skill ao vivo: abra o arquivo pronto e mostre brevemente seu nome, sua descrição e as verificações que contém.</a:t>
            </a:r>
          </a:p>
          <a:p>
            <a:r>
              <a:rPr lang="pt-BR" sz="900" dirty="0"/>
              <a:t>Explique que a descrição informa o que a skill faz e quando ela é relevante. O Copilot pode então carregar suas instruções contextualmente, ao contrário de um custom agent selecionado manualmente. Neste módulo, o objetivo é reconhecer e usar uma skill fornecida; sua criação será aprofundada posteriormente.</a:t>
            </a:r>
          </a:p>
          <a:p>
            <a:r>
              <a:rPr lang="pt-BR" sz="900" dirty="0"/>
              <a:t>Use o prompt da etapa para substituir o armazenamento temporário por EF Core sem alterar os contratos públicos. Peça a revisão da migration segundo a skill e inspecione pacotes, configuração e entidade.</a:t>
            </a:r>
          </a:p>
          <a:p>
            <a:r>
              <a:rPr lang="pt-BR" sz="900" dirty="0"/>
              <a:t>Use mod-01-slide-21-prompt-03.md para confirmar alvo, comando e migrations pendentes antes de aplicar a migration. Depois, use mod-01-slide-21-prompt-04.md para executar um teste funcional direcionado que percorra criação, consulta, atualização e exclusão na mesma persistência e confirme também um erro de validação ou recurso inexistente. Se a geração introduzir abstrações desnecessárias, questione seu custo.</a:t>
            </a:r>
          </a:p>
          <a:p>
            <a:r>
              <a:rPr lang="pt-BR" sz="900" dirty="0"/>
              <a:t>Se houver atraso, use o checkpoint depois de revisar entidade e migration; não omita a comprovação da persistência.</a:t>
            </a:r>
          </a:p>
          <a:p>
            <a:endParaRPr lang="pt-BR" sz="900" dirty="0"/>
          </a:p>
          <a:p>
            <a:r>
              <a:rPr lang="pt-BR" sz="900" dirty="0"/>
              <a:t>Walkthrough:</a:t>
            </a:r>
            <a:br>
              <a:rPr lang="pt-BR" sz="900" dirty="0"/>
            </a:br>
            <a:r>
              <a:rPr lang="pt-BR" sz="900" dirty="0"/>
              <a:t>Passo 20 - Iniciar a persistência</a:t>
            </a:r>
            <a:br>
              <a:rPr lang="pt-BR" sz="900" dirty="0"/>
            </a:br>
            <a:r>
              <a:rPr lang="pt-BR" sz="900" dirty="0"/>
              <a:t>Passo 21 - Criar a skill de revisão de </a:t>
            </a:r>
            <a:r>
              <a:rPr lang="pt-BR" sz="900" dirty="0" err="1"/>
              <a:t>migration</a:t>
            </a:r>
            <a:br>
              <a:rPr lang="pt-BR" sz="900" dirty="0"/>
            </a:br>
            <a:r>
              <a:rPr lang="pt-BR" sz="900" dirty="0"/>
              <a:t>Passo 22 - Revisar a </a:t>
            </a:r>
            <a:r>
              <a:rPr lang="pt-BR" sz="900" dirty="0" err="1"/>
              <a:t>migration</a:t>
            </a:r>
            <a:r>
              <a:rPr lang="pt-BR" sz="900" dirty="0"/>
              <a:t> com a skill</a:t>
            </a:r>
            <a:br>
              <a:rPr lang="pt-BR" sz="900" dirty="0"/>
            </a:br>
            <a:r>
              <a:rPr lang="pt-BR" sz="900" dirty="0"/>
              <a:t>Passo 23 - Aplicar a </a:t>
            </a:r>
            <a:r>
              <a:rPr lang="pt-BR" sz="900" dirty="0" err="1"/>
              <a:t>migration</a:t>
            </a:r>
            <a:r>
              <a:rPr lang="pt-BR" sz="900" dirty="0"/>
              <a:t> revisada</a:t>
            </a:r>
            <a:br>
              <a:rPr lang="pt-BR" sz="900" dirty="0"/>
            </a:br>
            <a:r>
              <a:rPr lang="pt-BR" sz="900" dirty="0"/>
              <a:t>Passo 24 - Comprovar o CRUD persistido</a:t>
            </a:r>
          </a:p>
          <a:p>
            <a:endParaRPr lang="pt-BR" sz="900" dirty="0"/>
          </a:p>
          <a:p>
            <a:r>
              <a:rPr lang="pt-BR" sz="900" dirty="0"/>
              <a:t>Links de apoio</a:t>
            </a:r>
          </a:p>
          <a:p>
            <a:r>
              <a:rPr lang="pt-BR" sz="900" dirty="0"/>
              <a:t>Introdução ao Entity Framework Core — </a:t>
            </a:r>
            <a:r>
              <a:rPr lang="pt-BR" sz="900" dirty="0">
                <a:hlinkClick r:id="rId3"/>
              </a:rPr>
              <a:t>https://learn.microsoft.com/en-us/ef/core/get-started/overview/first-app</a:t>
            </a:r>
            <a:r>
              <a:rPr lang="pt-BR" sz="900" dirty="0"/>
              <a:t> </a:t>
            </a:r>
          </a:p>
          <a:p>
            <a:r>
              <a:rPr lang="pt-BR" sz="900" dirty="0"/>
              <a:t>Agent skills — </a:t>
            </a:r>
            <a:r>
              <a:rPr lang="pt-BR" sz="900" dirty="0">
                <a:hlinkClick r:id="rId4"/>
              </a:rPr>
              <a:t>https://docs.github.com/en/copilot/concepts/agents/about-agent-skills</a:t>
            </a:r>
            <a:r>
              <a:rPr lang="pt-BR" sz="900" dirty="0"/>
              <a:t> </a:t>
            </a:r>
          </a:p>
          <a:p>
            <a:r>
              <a:rPr lang="pt-BR" sz="900" dirty="0"/>
              <a:t>Gerenciar contexto no Copilot — </a:t>
            </a:r>
            <a:r>
              <a:rPr lang="pt-BR" sz="900" dirty="0">
                <a:hlinkClick r:id="rId5"/>
              </a:rPr>
              <a:t>https://docs.github.com/en/copilot/concepts/prompting</a:t>
            </a:r>
            <a:r>
              <a:rPr lang="pt-BR" sz="900" dirty="0"/>
              <a:t> </a:t>
            </a:r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C910C522-9741-D1D9-C7EC-0257BF6C9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Relacione cada evidência ao requisito. Compilar não comprova que o banco foi atualizado, e uma tabela criada não comprova que todos os endpoints usam a mesma fonte. Cadastre, consulte, atualize e exclua; reinicie a API em um ponto adequado para diferenciar persistência de memória.</a:t>
            </a:r>
          </a:p>
          <a:p>
            <a:r>
              <a:rPr lang="pt-BR" dirty="0"/>
              <a:t>Se necessário, use o checkpoint de persistência para garantir uma base estável para a UI. Declare qualquer diferença relevante.</a:t>
            </a:r>
          </a:p>
          <a:p>
            <a:br>
              <a:rPr lang="pt-BR" dirty="0"/>
            </a:br>
            <a:r>
              <a:rPr lang="pt-BR" dirty="0"/>
              <a:t>Walkthrough:</a:t>
            </a:r>
            <a:br>
              <a:rPr lang="pt-BR" dirty="0"/>
            </a:br>
            <a:r>
              <a:rPr lang="pt-BR" dirty="0"/>
              <a:t>Passo 25 - Validar manualmente a persistência</a:t>
            </a:r>
            <a:br>
              <a:rPr lang="pt-BR" dirty="0"/>
            </a:br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Gerenciar esquemas com migrations — </a:t>
            </a:r>
            <a:r>
              <a:rPr lang="pt-BR" dirty="0">
                <a:hlinkClick r:id="rId3"/>
              </a:rPr>
              <a:t>https://learn.microsoft.com/en-us/ef/core/managing-schemas/migrations/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2A725164-1D56-68F3-038A-3EE2F734A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Ajude quem precisa recuperar o ambiente ou alinhar o checkpoint. Evite iniciar a interface durante o intervalo.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9F4C0715-4F01-E3C6-5DEB-E85ADCE97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Mostre que “criar um formulário” é insuficiente. Estados e feedback fazem parte do critério de aceitação.</a:t>
            </a:r>
          </a:p>
          <a:p>
            <a:r>
              <a:rPr lang="pt-BR" dirty="0"/>
              <a:t>Defina a integração mínima da fatia vertical: enviar um treinamento, interpretar a resposta e atualizar a lista.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Blazor — </a:t>
            </a:r>
            <a:r>
              <a:rPr lang="pt-BR" dirty="0">
                <a:hlinkClick r:id="rId3"/>
              </a:rPr>
              <a:t>https://learn.microsoft.com/en-us/aspnet/core/blazor/</a:t>
            </a:r>
            <a:r>
              <a:rPr lang="pt-BR" dirty="0"/>
              <a:t> </a:t>
            </a:r>
          </a:p>
          <a:p>
            <a:r>
              <a:rPr lang="pt-BR" dirty="0"/>
              <a:t>Chamar uma API Web no Blazor — </a:t>
            </a:r>
            <a:r>
              <a:rPr lang="pt-BR" dirty="0">
                <a:hlinkClick r:id="rId4"/>
              </a:rPr>
              <a:t>https://learn.microsoft.com/en-us/aspnet/core/blazor/call-web-api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918590A1-0004-92E1-DE57-1B3A7455D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Inicie um novo chat porque a fase e os arquivos relevantes mudaram. Referencie explicitamente o contrato da API e os componentes da UI. Use o agente padrão: a tarefa exige edição e execução, mas ainda não precisa de uma persona especializada.</a:t>
            </a:r>
          </a:p>
          <a:p>
            <a:r>
              <a:rPr lang="pt-BR" dirty="0"/>
              <a:t>Execute primeiro o caminho feliz e depois provoque um erro. Mostre que a interface precisa representar ambos. Não implemente ao vivo todos os formulários CRUD.</a:t>
            </a:r>
          </a:p>
          <a:p>
            <a:r>
              <a:rPr lang="pt-BR" dirty="0"/>
              <a:t>Confirme previamente portas e CORS entre o Blazor WebAssembly e a API. Se a integração falhar por configuração ambiental, recupere pelo checkpoint preparado e explique a causa sem depurar toda a infraestrutura ao vivo.</a:t>
            </a:r>
          </a:p>
          <a:p>
            <a:endParaRPr lang="pt-BR" dirty="0"/>
          </a:p>
          <a:p>
            <a:r>
              <a:rPr lang="pt-BR" dirty="0"/>
              <a:t>Walkthrough:</a:t>
            </a:r>
            <a:br>
              <a:rPr lang="pt-BR" dirty="0"/>
            </a:br>
            <a:r>
              <a:rPr lang="pt-BR" dirty="0"/>
              <a:t>Passo 26 - Conectar com a interface</a:t>
            </a:r>
            <a:br>
              <a:rPr lang="pt-BR" dirty="0"/>
            </a:br>
            <a:br>
              <a:rPr lang="pt-BR" dirty="0"/>
            </a:br>
            <a:r>
              <a:rPr lang="pt-BR" dirty="0"/>
              <a:t>Links de apoio</a:t>
            </a:r>
          </a:p>
          <a:p>
            <a:r>
              <a:rPr lang="pt-BR" dirty="0"/>
              <a:t>Chamar uma API Web no Blazor — </a:t>
            </a:r>
            <a:r>
              <a:rPr lang="pt-BR" dirty="0">
                <a:hlinkClick r:id="rId3"/>
              </a:rPr>
              <a:t>https://learn.microsoft.com/en-us/aspnet/core/blazor/call-web-api</a:t>
            </a:r>
            <a:r>
              <a:rPr lang="pt-BR" dirty="0"/>
              <a:t> </a:t>
            </a:r>
          </a:p>
          <a:p>
            <a:r>
              <a:rPr lang="pt-BR" dirty="0"/>
              <a:t>Chat no VS Code — </a:t>
            </a:r>
            <a:r>
              <a:rPr lang="pt-BR" dirty="0">
                <a:hlinkClick r:id="rId4"/>
              </a:rPr>
              <a:t>https://docs.github.com/en/copilot/how-tos/chat-with-copilot/chat-in-ide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A7A36461-CD5A-0C11-3F5C-67A66E0EF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Refaça os critérios do slide 06. Peça à turma que indique a evidência de cada um.</a:t>
            </a:r>
          </a:p>
          <a:p>
            <a:r>
              <a:rPr lang="pt-BR" dirty="0"/>
              <a:t>Mostre rapidamente o checkpoint com edição e exclusão completas. Explique que ele aplica padrões semelhantes, mas não confunda essa apresentação com validação profunda dessas operações.</a:t>
            </a:r>
          </a:p>
          <a:p>
            <a:br>
              <a:rPr lang="pt-BR" dirty="0"/>
            </a:br>
            <a:r>
              <a:rPr lang="pt-BR" dirty="0"/>
              <a:t>Walkthrough:</a:t>
            </a:r>
            <a:br>
              <a:rPr lang="pt-BR" dirty="0"/>
            </a:br>
            <a:r>
              <a:rPr lang="pt-BR" dirty="0"/>
              <a:t>Passo 27 - Ajustar a integração da interface</a:t>
            </a:r>
            <a:br>
              <a:rPr lang="pt-BR" dirty="0"/>
            </a:br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Boas práticas para usar o GitHub Copilot — </a:t>
            </a:r>
            <a:r>
              <a:rPr lang="pt-BR" dirty="0">
                <a:hlinkClick r:id="rId3"/>
              </a:rPr>
              <a:t>https://docs.github.com/en/copilot/get-started/best-practices</a:t>
            </a:r>
            <a:r>
              <a:rPr lang="pt-BR" dirty="0"/>
              <a:t> </a:t>
            </a:r>
          </a:p>
        </p:txBody>
      </p:sp>
      <p:sp>
        <p:nvSpPr>
          <p:cNvPr id="7" name="Espaço Reservado para Imagem de Slide 6">
            <a:extLst>
              <a:ext uri="{FF2B5EF4-FFF2-40B4-BE49-F238E27FC236}">
                <a16:creationId xmlns:a16="http://schemas.microsoft.com/office/drawing/2014/main" id="{6935CE3A-FC5E-EDC7-70E0-95675E36A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Explique que nenhum desses artefatos garante qualidade isoladamente. Eles criam sinais complementares.</a:t>
            </a:r>
          </a:p>
          <a:p>
            <a:r>
              <a:rPr lang="pt-BR" dirty="0"/>
              <a:t>O aprofundamento sobre estratégia de testes, documentação e segurança do pipeline ocorrerá no Módulo 4. Aqui queremos apenas fechar a jornada.</a:t>
            </a:r>
          </a:p>
          <a:p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Testes com GitHub Copilot — </a:t>
            </a:r>
            <a:r>
              <a:rPr lang="pt-BR" dirty="0">
                <a:hlinkClick r:id="rId3"/>
              </a:rPr>
              <a:t>https://learn.microsoft.com/en-us/training/modules/develop-unit-tests-using-github-copilot-tools/</a:t>
            </a:r>
            <a:r>
              <a:rPr lang="pt-BR" dirty="0"/>
              <a:t> </a:t>
            </a:r>
          </a:p>
          <a:p>
            <a:r>
              <a:rPr lang="pt-BR" dirty="0"/>
              <a:t>GitHub Actions para .NET — </a:t>
            </a:r>
            <a:r>
              <a:rPr lang="pt-BR" dirty="0">
                <a:hlinkClick r:id="rId4"/>
              </a:rPr>
              <a:t>https://docs.github.com/en/actions/how-tos/use-cases-and-examples/building-and-testing/building-and-testing-net</a:t>
            </a:r>
            <a:r>
              <a:rPr lang="pt-BR" dirty="0"/>
              <a:t> </a:t>
            </a:r>
          </a:p>
          <a:p>
            <a:r>
              <a:rPr lang="pt-BR" dirty="0"/>
              <a:t>OpenAPI no ASP.NET Core — </a:t>
            </a:r>
            <a:r>
              <a:rPr lang="pt-BR" dirty="0">
                <a:hlinkClick r:id="rId5"/>
              </a:rPr>
              <a:t>https://learn.microsoft.com/en-us/aspnet/core/fundamentals/openapi/overview</a:t>
            </a:r>
            <a:r>
              <a:rPr lang="pt-BR" dirty="0"/>
              <a:t> </a:t>
            </a:r>
          </a:p>
        </p:txBody>
      </p:sp>
      <p:sp>
        <p:nvSpPr>
          <p:cNvPr id="7" name="Espaço Reservado para Imagem de Slide 6">
            <a:extLst>
              <a:ext uri="{FF2B5EF4-FFF2-40B4-BE49-F238E27FC236}">
                <a16:creationId xmlns:a16="http://schemas.microsoft.com/office/drawing/2014/main" id="{A4B0F4F4-BD0C-64D4-ADBA-CC7E03BFC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Confirme o checkpoint funcional e prepare a branch que será usada para criar o workflow. Se alguém estiver acompanhando, este é um ponto de recuperação antes do fechamento da entrega.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C1F7A5F5-A419-C2F0-630D-E68459056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50" dirty="0"/>
              <a:t>Execute mod-01-slide-29-prompt-01.md para inspecionar a solução e transformar os comandos já validados em um plano de CI. Revise gatilhos, versão do .NET, arquivo de solução, configuração de build e projeto de testes antes de gerar YAML.</a:t>
            </a:r>
          </a:p>
          <a:p>
            <a:r>
              <a:rPr lang="pt-BR" sz="1050" dirty="0"/>
              <a:t>Depois da aprovação, execute mod-01-slide-29-prompt-02.md. Inspecione .github/workflows/ci.yml, especialmente permissions, versões das actions, ordem dos passos e ausência de segredos ou permissões desnecessárias.</a:t>
            </a:r>
          </a:p>
          <a:p>
            <a:r>
              <a:rPr lang="pt-BR" sz="1050" dirty="0"/>
              <a:t>Execute localmente os mesmos comandos definidos no workflow. Explique que isso verifica os comandos, mas não substitui uma execução real no GitHub. Depois de versionar e enviar a branch, abra a execução do GitHub Actions e relacione eventual falha ao passo correspondente.</a:t>
            </a:r>
          </a:p>
          <a:p>
            <a:r>
              <a:rPr lang="pt-BR" sz="1050" dirty="0"/>
              <a:t>Se não houver tempo ou acesso para disparar uma execução nova, use uma execução conhecida do checkpoint. Não apresente somente um YAML sem evidência de que ele pode executar.</a:t>
            </a:r>
          </a:p>
          <a:p>
            <a:br>
              <a:rPr lang="pt-BR" sz="1050" dirty="0"/>
            </a:br>
            <a:r>
              <a:rPr lang="pt-BR" sz="1050" dirty="0"/>
              <a:t>Walkthrough:</a:t>
            </a:r>
            <a:br>
              <a:rPr lang="pt-BR" sz="1050" dirty="0"/>
            </a:br>
            <a:r>
              <a:rPr lang="pt-BR" sz="1050" dirty="0"/>
              <a:t>Passo 28 - Planejar CI</a:t>
            </a:r>
            <a:br>
              <a:rPr lang="pt-BR" sz="1050" dirty="0"/>
            </a:br>
            <a:r>
              <a:rPr lang="pt-BR" sz="1050" dirty="0"/>
              <a:t>Passo 29 - Criar CI e validar PR</a:t>
            </a:r>
            <a:br>
              <a:rPr lang="pt-BR" sz="1050" dirty="0"/>
            </a:br>
            <a:endParaRPr lang="pt-BR" sz="1050" dirty="0"/>
          </a:p>
          <a:p>
            <a:r>
              <a:rPr lang="pt-BR" sz="1050" dirty="0"/>
              <a:t>Links de apoio</a:t>
            </a:r>
          </a:p>
          <a:p>
            <a:r>
              <a:rPr lang="pt-BR" sz="1050" dirty="0"/>
              <a:t>Criar e testar aplicações .NET com GitHub Actions — </a:t>
            </a:r>
            <a:r>
              <a:rPr lang="pt-BR" sz="1050" dirty="0">
                <a:hlinkClick r:id="rId3"/>
              </a:rPr>
              <a:t>https://docs.github.com/en/actions/how-tos/use-cases-and-examples/building-and-testing/building-and-testing-net</a:t>
            </a:r>
            <a:r>
              <a:rPr lang="pt-BR" sz="1050" dirty="0"/>
              <a:t> </a:t>
            </a:r>
          </a:p>
          <a:p>
            <a:r>
              <a:rPr lang="pt-BR" sz="1050" dirty="0"/>
              <a:t>Sintaxe de workflows — </a:t>
            </a:r>
            <a:r>
              <a:rPr lang="pt-BR" sz="1050" dirty="0">
                <a:hlinkClick r:id="rId4"/>
              </a:rPr>
              <a:t>https://docs.github.com/en/actions/reference/workflows-and-actions/workflow-syntax</a:t>
            </a:r>
            <a:r>
              <a:rPr lang="pt-BR" sz="1050" dirty="0"/>
              <a:t> </a:t>
            </a:r>
          </a:p>
          <a:p>
            <a:r>
              <a:rPr lang="pt-BR" sz="1050" dirty="0"/>
              <a:t>Permissões de GITHUB_TOKEN — </a:t>
            </a:r>
            <a:r>
              <a:rPr lang="pt-BR" sz="1050" dirty="0">
                <a:hlinkClick r:id="rId5"/>
              </a:rPr>
              <a:t>https://docs.github.com/en/actions/how-tos/security-for-github-actions/security-guides/automatic-token-authentication</a:t>
            </a:r>
            <a:r>
              <a:rPr lang="pt-BR" sz="1050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5334285E-B7E3-1901-262A-CD420706B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900" dirty="0"/>
              <a:t>Execute mod-01-slide-30-prompt-01.md para propor o perfil mínimo e revise nome, propósito, instruções e ferramentas. Compare o resultado com mod-01-slide-30-example.md. Depois da aprovação, use mod-01-slide-30-prompt-02.md para criar .github/agents/revisor-entrega.md. Abra o arquivo e confirme que o custom agent aparece no seletor do Chat antes de prosseguir.</a:t>
            </a:r>
          </a:p>
          <a:p>
            <a:r>
              <a:rPr lang="pt-BR" sz="900" dirty="0"/>
              <a:t>Selecione manualmente revisor-entrega e então execute mod-01-slide-30-prompt-03.md para executar um teste relevante, iniciar a API, obter o documento OpenAPI gerado e revisar o workflow criado no slide anterior. Explique a diferença: instructions são contexto automático, skills são carregadas quando relevantes e custom agents representam papéis escolhidos para uma tarefa.</a:t>
            </a:r>
          </a:p>
          <a:p>
            <a:r>
              <a:rPr lang="pt-BR" sz="900" dirty="0"/>
              <a:t>Explique que o documento OpenAPI é produzido em runtime, não um arquivo que precisa estar versionado no projeto. A ferramenta execute permite ao agent rodar o teste, iniciar a API e obter esse documento por uma requisição a localhost, sem conceder edição. Revise os comandos antes de aprová-los e destaque que a ampliação da capacidade também aumenta o risco. Compare o JSON obtido com a Swagger UI e inspecione a primeira execução do workflow. O YAML já foi criado e validado no slide anterior; aqui o foco é relacionar cada evidência aos critérios da entrega.</a:t>
            </a:r>
          </a:p>
          <a:p>
            <a:r>
              <a:rPr lang="pt-BR" sz="900" dirty="0"/>
              <a:t>Mostre também onde o README registra pré-requisitos e comandos de execução. Se o tempo estiver curto, use artefatos preparados e preserve a relação entre critério, teste e pipeline.</a:t>
            </a:r>
          </a:p>
          <a:p>
            <a:r>
              <a:rPr lang="pt-BR" sz="900" dirty="0"/>
              <a:t>Se a criação ao vivo falhar ou comprometer o tempo, copie o conteúdo de referência de mod-01-slide-30-example.md, confirme a descoberta do agent e prossiga para o prompt 03. Não omita a explicação das ferramentas, da aprovação dos comandos e dos limites da execução local.</a:t>
            </a:r>
          </a:p>
          <a:p>
            <a:br>
              <a:rPr lang="pt-BR" sz="900" dirty="0"/>
            </a:br>
            <a:r>
              <a:rPr lang="pt-BR" sz="900" dirty="0"/>
              <a:t>Walkthrough:</a:t>
            </a:r>
            <a:br>
              <a:rPr lang="pt-BR" sz="900" dirty="0"/>
            </a:br>
            <a:r>
              <a:rPr lang="pt-BR" sz="900" dirty="0"/>
              <a:t>Passo 30 - Propor o </a:t>
            </a:r>
            <a:r>
              <a:rPr lang="pt-BR" sz="900" dirty="0" err="1"/>
              <a:t>custom</a:t>
            </a:r>
            <a:r>
              <a:rPr lang="pt-BR" sz="900" dirty="0"/>
              <a:t> agente</a:t>
            </a:r>
            <a:br>
              <a:rPr lang="pt-BR" sz="900" dirty="0"/>
            </a:br>
            <a:r>
              <a:rPr lang="pt-BR" sz="900" dirty="0"/>
              <a:t>Passo 31 - Criar o </a:t>
            </a:r>
            <a:r>
              <a:rPr lang="pt-BR" sz="900" dirty="0" err="1"/>
              <a:t>custom</a:t>
            </a:r>
            <a:r>
              <a:rPr lang="pt-BR" sz="900" dirty="0"/>
              <a:t> </a:t>
            </a:r>
            <a:r>
              <a:rPr lang="pt-BR" sz="900" dirty="0" err="1"/>
              <a:t>agent</a:t>
            </a:r>
            <a:r>
              <a:rPr lang="pt-BR" sz="900" dirty="0"/>
              <a:t> ou usar a alternativa</a:t>
            </a:r>
          </a:p>
          <a:p>
            <a:r>
              <a:rPr lang="pt-BR" sz="900" dirty="0"/>
              <a:t>Passo 32 - Executar a revisão final com o agente</a:t>
            </a:r>
            <a:br>
              <a:rPr lang="pt-BR" sz="900" dirty="0"/>
            </a:br>
            <a:endParaRPr lang="pt-BR" sz="900" dirty="0"/>
          </a:p>
          <a:p>
            <a:r>
              <a:rPr lang="pt-BR" sz="900" dirty="0"/>
              <a:t>Links de apoio</a:t>
            </a:r>
          </a:p>
          <a:p>
            <a:r>
              <a:rPr lang="pt-BR" sz="900" dirty="0"/>
              <a:t>Testes no .NET — </a:t>
            </a:r>
            <a:r>
              <a:rPr lang="pt-BR" sz="900" dirty="0">
                <a:hlinkClick r:id="rId3"/>
              </a:rPr>
              <a:t>https://learn.microsoft.com/en-us/dotnet/core/testing/</a:t>
            </a:r>
            <a:r>
              <a:rPr lang="pt-BR" sz="900" dirty="0"/>
              <a:t> </a:t>
            </a:r>
          </a:p>
          <a:p>
            <a:r>
              <a:rPr lang="pt-BR" sz="900" dirty="0"/>
              <a:t>GitHub Actions — </a:t>
            </a:r>
            <a:r>
              <a:rPr lang="pt-BR" sz="900" dirty="0">
                <a:hlinkClick r:id="rId4"/>
              </a:rPr>
              <a:t>https://docs.github.com/en/actions</a:t>
            </a:r>
            <a:r>
              <a:rPr lang="pt-BR" sz="900" dirty="0"/>
              <a:t> </a:t>
            </a:r>
          </a:p>
          <a:p>
            <a:r>
              <a:rPr lang="pt-BR" sz="900" dirty="0"/>
              <a:t>Custom agents — </a:t>
            </a:r>
            <a:r>
              <a:rPr lang="pt-BR" sz="900" dirty="0">
                <a:hlinkClick r:id="rId5"/>
              </a:rPr>
              <a:t>https://docs.github.com/en/copilot/concepts/agents/cloud-agent/about-custom-agents</a:t>
            </a:r>
            <a:r>
              <a:rPr lang="pt-BR" sz="900" dirty="0"/>
              <a:t> </a:t>
            </a:r>
          </a:p>
          <a:p>
            <a:r>
              <a:rPr lang="pt-BR" sz="900" dirty="0"/>
              <a:t>Cheat sheet de customização — </a:t>
            </a:r>
            <a:r>
              <a:rPr lang="pt-BR" sz="900" dirty="0">
                <a:hlinkClick r:id="rId6"/>
              </a:rPr>
              <a:t>https://docs.github.com/en/copilot/reference/customization-cheat-sheet</a:t>
            </a:r>
            <a:r>
              <a:rPr lang="pt-BR" sz="900" dirty="0"/>
              <a:t> </a:t>
            </a:r>
          </a:p>
          <a:p>
            <a:r>
              <a:rPr lang="pt-BR" sz="900" dirty="0"/>
              <a:t>Configuração de Custom Agents — </a:t>
            </a:r>
            <a:r>
              <a:rPr lang="pt-BR" sz="900" dirty="0">
                <a:hlinkClick r:id="rId7"/>
              </a:rPr>
              <a:t>https://docs.github.com/en/copilot/reference/custom-agentes-configuration</a:t>
            </a:r>
            <a:r>
              <a:rPr lang="pt-BR" sz="900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25C922AB-B1FB-6C5F-ABB4-D0C65D1E8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Peça à turma que identifique onde o Copilot ajudou e onde o julgamento humano foi indispensável.</a:t>
            </a:r>
          </a:p>
          <a:p>
            <a:r>
              <a:rPr lang="pt-BR" dirty="0"/>
              <a:t>Reforce que o produto final é consequência do método. O curso aprofundará contexto, agentes, testes e operação sem abandonar esse ciclo.</a:t>
            </a:r>
          </a:p>
          <a:p>
            <a:r>
              <a:rPr lang="pt-BR" dirty="0"/>
              <a:t>Planeje apresentar a síntese em dois minutos e preserve um minuto para dúvidas e comparação de resultados.</a:t>
            </a:r>
          </a:p>
          <a:p>
            <a:br>
              <a:rPr lang="pt-BR" dirty="0"/>
            </a:br>
            <a:r>
              <a:rPr lang="pt-BR" dirty="0"/>
              <a:t>Walkthrough:</a:t>
            </a:r>
            <a:br>
              <a:rPr lang="pt-BR" dirty="0"/>
            </a:br>
            <a:r>
              <a:rPr lang="pt-BR" dirty="0"/>
              <a:t>Passo 33 - Encerramento</a:t>
            </a:r>
            <a:br>
              <a:rPr lang="pt-BR" dirty="0"/>
            </a:br>
            <a:endParaRPr lang="pt-BR" dirty="0"/>
          </a:p>
          <a:p>
            <a:r>
              <a:rPr lang="pt-BR" dirty="0"/>
              <a:t>Links de apoio</a:t>
            </a:r>
          </a:p>
          <a:p>
            <a:r>
              <a:rPr lang="pt-BR" dirty="0"/>
              <a:t>Spec-Driven Development — </a:t>
            </a:r>
            <a:r>
              <a:rPr lang="pt-BR" dirty="0">
                <a:hlinkClick r:id="rId3"/>
              </a:rPr>
              <a:t>https://developer.microsoft.com/blog/spec-driven-development-ai-native-engineering/</a:t>
            </a:r>
            <a:r>
              <a:rPr lang="pt-BR" dirty="0"/>
              <a:t> </a:t>
            </a:r>
          </a:p>
        </p:txBody>
      </p:sp>
      <p:sp>
        <p:nvSpPr>
          <p:cNvPr id="5" name="Espaço Reservado para Imagem de Slide 4">
            <a:extLst>
              <a:ext uri="{FF2B5EF4-FFF2-40B4-BE49-F238E27FC236}">
                <a16:creationId xmlns:a16="http://schemas.microsoft.com/office/drawing/2014/main" id="{307BF87D-2311-242B-293D-C0E4B022F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731520" y="4620578"/>
            <a:ext cx="5852160" cy="4320540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rPr lang="pt-BR" dirty="0"/>
              <a:t>Mostre o QR code e mantenha o link clicável para quem estiver usando o recurso Present in Teams do PowerPoint. Confirme que todos conseguiram abrir antes de iniciar o cronômetro.</a:t>
            </a:r>
          </a:p>
          <a:p>
            <a:r>
              <a:rPr lang="pt-BR" dirty="0"/>
              <a:t>Não revele as respostas durante esta etapa. Observe apenas a distribuição agregada para orientar a correção. Explique antes de começar que as questões 06 a 10 extrapolam deliberadamente o conteúdo apresentado e não pressupõem conhecimento prévio.</a:t>
            </a:r>
          </a:p>
          <a:p>
            <a:endParaRPr lang="pt-BR" dirty="0"/>
          </a:p>
          <a:p>
            <a:r>
              <a:rPr lang="pt-BR" b="1" dirty="0"/>
              <a:t>Links de apoio</a:t>
            </a:r>
          </a:p>
          <a:p>
            <a:r>
              <a:rPr lang="pt-BR" dirty="0"/>
              <a:t>Link do Microsoft Forms — a definir após a criação do formulário.</a:t>
            </a:r>
          </a:p>
        </p:txBody>
      </p:sp>
      <p:sp>
        <p:nvSpPr>
          <p:cNvPr id="3" name="Espaço Reservado para Imagem de Slide 2">
            <a:extLst>
              <a:ext uri="{FF2B5EF4-FFF2-40B4-BE49-F238E27FC236}">
                <a16:creationId xmlns:a16="http://schemas.microsoft.com/office/drawing/2014/main" id="{D832A71B-0C8E-9152-6787-C2657141E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731520" y="4620578"/>
            <a:ext cx="5852160" cy="4320540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rPr lang="pt-BR" dirty="0"/>
              <a:t>Use os arquivos mod-01-slide-32-question-01.md a mod-01-slide-32-question-10.md como roteiro. Dedique aproximadamente dois minutos a cada questão. Nas questões 06 a 10, não pressuponha domínio prévio: peça primeiro a justificativa da turma, explique a resposta e indique em qual módulo o tema será aprofundado.</a:t>
            </a:r>
          </a:p>
          <a:p>
            <a:r>
              <a:rPr lang="pt-BR" dirty="0"/>
              <a:t>Não trate o percentual de acertos como avaliação da turma. Use os distratores para identificar confusões sobre requisitos, validação, formas de interação, evidências e variabilidade das saídas.</a:t>
            </a:r>
          </a:p>
        </p:txBody>
      </p:sp>
      <p:sp>
        <p:nvSpPr>
          <p:cNvPr id="3" name="Espaço Reservado para Imagem de Slide 2">
            <a:extLst>
              <a:ext uri="{FF2B5EF4-FFF2-40B4-BE49-F238E27FC236}">
                <a16:creationId xmlns:a16="http://schemas.microsoft.com/office/drawing/2014/main" id="{E1C072C7-FEC8-7011-BCBE-AE1CB3B69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731520" y="4620578"/>
            <a:ext cx="5852160" cy="4320540"/>
          </a:xfrm>
          <a:prstGeom prst="rect">
            <a:avLst/>
          </a:prstGeom>
        </p:spPr>
        <p:txBody>
          <a:bodyPr lIns="96661" tIns="48331" rIns="96661" bIns="48331"/>
          <a:lstStyle/>
          <a:p>
            <a:r>
              <a:rPr lang="pt-BR" dirty="0"/>
              <a:t>Recapitule a jornada completa sem listar tecnologias. O aprendizado principal é o método usado para construir e validar.</a:t>
            </a:r>
          </a:p>
          <a:p>
            <a:r>
              <a:rPr lang="pt-BR" dirty="0"/>
              <a:t>Antecipe que o Módulo 2 aprofundará contexto, prompts, personalização, privacidade e consumo consciente.</a:t>
            </a:r>
          </a:p>
          <a:p>
            <a:endParaRPr lang="pt-BR" dirty="0"/>
          </a:p>
          <a:p>
            <a:r>
              <a:rPr lang="pt-BR" b="1" dirty="0"/>
              <a:t>Links de apoio</a:t>
            </a:r>
          </a:p>
          <a:p>
            <a:r>
              <a:rPr lang="pt-BR" dirty="0"/>
              <a:t>Documentação do GitHub Copilot — </a:t>
            </a:r>
            <a:r>
              <a:rPr lang="pt-BR" dirty="0">
                <a:hlinkClick r:id="rId3"/>
              </a:rPr>
              <a:t>https://docs.github.com/en/copilot</a:t>
            </a:r>
            <a:r>
              <a:rPr lang="pt-BR" dirty="0"/>
              <a:t> </a:t>
            </a:r>
          </a:p>
          <a:p>
            <a:r>
              <a:rPr lang="pt-BR" dirty="0"/>
              <a:t>GitHub Copilot Fundamentals — Parte 1 — </a:t>
            </a:r>
            <a:r>
              <a:rPr lang="pt-BR" dirty="0">
                <a:hlinkClick r:id="rId4"/>
              </a:rPr>
              <a:t>https://learn.microsoft.com/en-us/training/paths/copilot/</a:t>
            </a:r>
            <a:r>
              <a:rPr lang="pt-BR" dirty="0"/>
              <a:t> </a:t>
            </a:r>
          </a:p>
          <a:p>
            <a:r>
              <a:rPr lang="pt-BR" dirty="0"/>
              <a:t>Spec-Driven Development — </a:t>
            </a:r>
            <a:r>
              <a:rPr lang="pt-BR" dirty="0">
                <a:hlinkClick r:id="rId5"/>
              </a:rPr>
              <a:t>https://developer.microsoft.com/blog/spec-driven-development-ai-native-engineering/</a:t>
            </a:r>
            <a:r>
              <a:rPr lang="pt-BR" dirty="0"/>
              <a:t> </a:t>
            </a:r>
          </a:p>
        </p:txBody>
      </p:sp>
      <p:sp>
        <p:nvSpPr>
          <p:cNvPr id="3" name="Espaço Reservado para Imagem de Slide 2">
            <a:extLst>
              <a:ext uri="{FF2B5EF4-FFF2-40B4-BE49-F238E27FC236}">
                <a16:creationId xmlns:a16="http://schemas.microsoft.com/office/drawing/2014/main" id="{0299C633-2BF1-A286-AD36-003455225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2517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A2642196-7198-0EF5-F2F7-5B8F2AE5EE3B}"/>
              </a:ext>
            </a:extLst>
          </p:cNvPr>
          <p:cNvSpPr/>
          <p:nvPr userDrawn="1"/>
        </p:nvSpPr>
        <p:spPr>
          <a:xfrm rot="10800000" flipV="1">
            <a:off x="-1" y="5520267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6">
                  <a:lumMod val="5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26256C-BA24-8D66-B910-9DEA53303425}"/>
              </a:ext>
            </a:extLst>
          </p:cNvPr>
          <p:cNvSpPr/>
          <p:nvPr userDrawn="1"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1875E4-4A42-2C6B-C742-9019C3453B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>
          <a:xfrm>
            <a:off x="6235309" y="173789"/>
            <a:ext cx="5956691" cy="6510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05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9903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59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591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82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1067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419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383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815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72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89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60707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898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956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90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8998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6537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92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65666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a San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a San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9999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2863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2475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472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75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35622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480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21B5F96D-B746-4C45-8FD3-2505F490213F}" type="datetimeFigureOut">
              <a:rPr lang="LID4096" smtClean="0"/>
              <a:t>08/31/2026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84B7334-161E-4E3B-A81F-37D3F59501F7}" type="slidenum">
              <a:rPr lang="LID4096" smtClean="0"/>
              <a:t>‹nº›</a:t>
            </a:fld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2C43D761-4191-D0FA-B603-6A6EEB97C9B7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alphaModFix amt="5000"/>
          </a:blip>
          <a:stretch>
            <a:fillRect/>
          </a:stretch>
        </p:blipFill>
        <p:spPr>
          <a:xfrm>
            <a:off x="5433451" y="173789"/>
            <a:ext cx="8223690" cy="651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015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pacta-ghcp-eng-moderna/01-desenvolvimento-assistid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9CAA-476F-B9C4-0D9A-C492A563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" b="1" dirty="0">
                <a:latin typeface="Mona Sans" pitchFamily="2" charset="0"/>
              </a:rPr>
              <a:t>Módulo 1 — Do requisito à aplicação: desenvolvimento assistido pelo Copilot</a:t>
            </a:r>
            <a:endParaRPr lang="LID4096" dirty="0">
              <a:latin typeface="Mona Sans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41730-526A-8504-22C8-E35E5D494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" b="1" dirty="0">
                <a:latin typeface="Mona Sans" pitchFamily="2" charset="0"/>
              </a:rPr>
              <a:t>GitHub Copilot para Engenharia de Software Moderna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5E65B51-6706-F579-7A56-41FCC0805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987" y="2958888"/>
            <a:ext cx="4074693" cy="32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0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3E26E03-A1C0-C587-D598-ECBB69E1F6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23053"/>
          <a:stretch>
            <a:fillRect/>
          </a:stretch>
        </p:blipFill>
        <p:spPr>
          <a:xfrm>
            <a:off x="-1" y="94565"/>
            <a:ext cx="6327873" cy="6510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3AEF1-74A1-4C8A-A466-FF260AB9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 anchor="b">
            <a:normAutofit/>
          </a:bodyPr>
          <a:lstStyle/>
          <a:p>
            <a:r>
              <a:rPr lang="LID4096"/>
              <a:t>Agenda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A91ED72-D8FB-A284-2BC8-B613531611B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8452264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7952232" y="1983490"/>
          <a:ext cx="3404277" cy="2070066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563954">
                  <a:extLst>
                    <a:ext uri="{9D8B030D-6E8A-4147-A177-3AD203B41FA5}">
                      <a16:colId xmlns:a16="http://schemas.microsoft.com/office/drawing/2014/main" val="2070971450"/>
                    </a:ext>
                  </a:extLst>
                </a:gridCol>
                <a:gridCol w="1840323">
                  <a:extLst>
                    <a:ext uri="{9D8B030D-6E8A-4147-A177-3AD203B41FA5}">
                      <a16:colId xmlns:a16="http://schemas.microsoft.com/office/drawing/2014/main" val="4023232663"/>
                    </a:ext>
                  </a:extLst>
                </a:gridCol>
              </a:tblGrid>
              <a:tr h="690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24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500" b="0" cap="none" spc="0" dirty="0">
                          <a:solidFill>
                            <a:schemeClr val="tx1"/>
                          </a:solidFill>
                        </a:rPr>
                        <a:t>Repositório e Codespace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197211"/>
                  </a:ext>
                </a:extLst>
              </a:tr>
              <a:tr h="690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24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500" b="0" cap="none" spc="0" dirty="0">
                          <a:solidFill>
                            <a:schemeClr val="tx1"/>
                          </a:solidFill>
                        </a:rPr>
                        <a:t>Walkthrough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824452"/>
                  </a:ext>
                </a:extLst>
              </a:tr>
              <a:tr h="690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24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" sz="1500" b="0" cap="none" spc="0" dirty="0">
                          <a:solidFill>
                            <a:schemeClr val="tx1"/>
                          </a:solidFill>
                        </a:rPr>
                        <a:t>Questões de Fixação</a:t>
                      </a:r>
                    </a:p>
                  </a:txBody>
                  <a:tcPr marL="102818" marR="102818" marT="102818" marB="1028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744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337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EEB8-0C36-73FD-39C5-BCDBB19B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 dirty="0"/>
              <a:t>Como esta aula funciona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470B-3487-F980-CBFA-1906691D3D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b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" sz="2000" dirty="0"/>
              <a:t>Copie o repositório template e abra o Codespace</a:t>
            </a:r>
            <a:br>
              <a:rPr lang="" sz="2000" dirty="0"/>
            </a:br>
            <a:r>
              <a:rPr lang="pt-BR" sz="2000" dirty="0">
                <a:latin typeface="Aptos" panose="020B0004020202020204" pitchFamily="34" charset="0"/>
                <a:hlinkClick r:id="rId3"/>
              </a:rPr>
              <a:t>https://github.com/impacta-ghcp-eng-moderna/01-desenvolvimento-assistido</a:t>
            </a:r>
            <a:endParaRPr lang="" sz="2000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" sz="2000" dirty="0"/>
              <a:t>Acompanhe se quiser; observar também é válido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" sz="2000" dirty="0"/>
              <a:t>Compare critérios e tire dúvidas a qualquer momento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1ABE5-E122-C475-D85E-982F0D34794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" sz="1600" dirty="0"/>
              <a:t>Participando no seu ritmo, sem ansiedade para manter tudo sincronizado.</a:t>
            </a:r>
            <a:endParaRPr lang="LID4096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75F60E-B729-0256-0634-47FE13481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361" y="2514472"/>
            <a:ext cx="9507277" cy="1829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643A84-72EC-E0D6-3B12-4AA0792FF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795" y="4859215"/>
            <a:ext cx="1681452" cy="168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2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74155-D35D-CD71-FA0F-3B7CB796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2DBB-6B0A-23CF-CA26-C2FE74F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O cenário: catálogo de treinamentos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2110B-FB2E-CD74-E49C-51273DEE81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99999"/>
            <a:ext cx="6500000" cy="4345405"/>
          </a:xfrm>
        </p:spPr>
        <p:txBody>
          <a:bodyPr anchor="ctr">
            <a:normAutofit/>
          </a:bodyPr>
          <a:lstStyle/>
          <a:p>
            <a:pPr lvl="0"/>
            <a:r>
              <a:rPr lang="en-US" sz="2000" dirty="0" err="1"/>
              <a:t>Precisamos</a:t>
            </a:r>
            <a:r>
              <a:rPr lang="en-US" sz="2000" dirty="0"/>
              <a:t> </a:t>
            </a:r>
            <a:r>
              <a:rPr lang="en-US" sz="2000" dirty="0" err="1"/>
              <a:t>administrar</a:t>
            </a:r>
            <a:r>
              <a:rPr lang="en-US" sz="2000" dirty="0"/>
              <a:t> </a:t>
            </a:r>
            <a:r>
              <a:rPr lang="en-US" sz="2000" dirty="0" err="1"/>
              <a:t>treinamentos</a:t>
            </a:r>
            <a:r>
              <a:rPr lang="en-US" sz="2000" dirty="0"/>
              <a:t> </a:t>
            </a:r>
            <a:r>
              <a:rPr lang="en-US" sz="2000" dirty="0" err="1"/>
              <a:t>internos</a:t>
            </a:r>
            <a:r>
              <a:rPr lang="en-US" sz="20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Cadastrar</a:t>
            </a:r>
            <a:r>
              <a:rPr lang="en-US" sz="2000" dirty="0"/>
              <a:t> e </a:t>
            </a:r>
            <a:r>
              <a:rPr lang="en-US" sz="2000" dirty="0" err="1"/>
              <a:t>consultar</a:t>
            </a:r>
            <a:r>
              <a:rPr lang="en-US" sz="2000" dirty="0"/>
              <a:t> </a:t>
            </a:r>
            <a:r>
              <a:rPr lang="en-US" sz="2000" dirty="0" err="1"/>
              <a:t>treinamentos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Alterar</a:t>
            </a:r>
            <a:r>
              <a:rPr lang="en-US" sz="2000" dirty="0"/>
              <a:t> </a:t>
            </a:r>
            <a:r>
              <a:rPr lang="en-US" sz="2000" dirty="0" err="1"/>
              <a:t>informações</a:t>
            </a:r>
            <a:r>
              <a:rPr lang="en-US" sz="2000" dirty="0"/>
              <a:t> e </a:t>
            </a:r>
            <a:r>
              <a:rPr lang="en-US" sz="2000" dirty="0" err="1"/>
              <a:t>excluir</a:t>
            </a:r>
            <a:r>
              <a:rPr lang="en-US" sz="2000" dirty="0"/>
              <a:t> </a:t>
            </a:r>
            <a:r>
              <a:rPr lang="en-US" sz="2000" dirty="0" err="1"/>
              <a:t>registros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Disponibilizar</a:t>
            </a:r>
            <a:r>
              <a:rPr lang="en-US" sz="2000" dirty="0"/>
              <a:t> API, interface e </a:t>
            </a:r>
            <a:r>
              <a:rPr lang="en-US" sz="2000" dirty="0" err="1"/>
              <a:t>entrega</a:t>
            </a:r>
            <a:r>
              <a:rPr lang="en-US" sz="2000" dirty="0"/>
              <a:t> </a:t>
            </a:r>
            <a:r>
              <a:rPr lang="en-US" sz="2000" dirty="0" err="1"/>
              <a:t>automatizada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7BFF8-018E-2713-8C15-1455629B158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Uma necessidade simples de entender e completa para atravessar o SDLC</a:t>
            </a:r>
            <a:endParaRPr lang="LID4096" sz="1600" dirty="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2902051"/>
            <a:ext cx="4600000" cy="285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72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FE11-908D-4FCA-A510-0F0739BF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9CBE-591D-4B1F-836E-D126D1FB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Intenção e exemplos no prompt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E067C-085B-4250-833F-6B36AC187C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100000"/>
            <a:ext cx="6500000" cy="42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Zero-shot: explore quando ainda faltam respostas</a:t>
            </a:r>
          </a:p>
          <a:p>
            <a:r>
              <a:rPr lang="en-US" sz="2000"/>
              <a:t>Few-shot: forneça exemplos quando o padrão importa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E042BA-C469-4EF7-B795-025ED9CA3DB9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O prompt não substitui requisitos; sua forma depende da necessidade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3073576"/>
            <a:ext cx="4600000" cy="255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38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39F3-0AC0-4E2D-8B8E-76E9F8C9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4E23-F9A9-4763-8989-FA404EB8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Dinâmica: especifique a fatia vertical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AF4FF-5454-46EC-BC04-94BC7FD494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549999"/>
            <a:ext cx="6500000" cy="36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3 min: </a:t>
            </a:r>
            <a:r>
              <a:rPr lang="en-US" sz="2000" dirty="0" err="1"/>
              <a:t>escreva</a:t>
            </a:r>
            <a:r>
              <a:rPr lang="en-US" sz="2000" dirty="0"/>
              <a:t> </a:t>
            </a:r>
            <a:r>
              <a:rPr lang="en-US" sz="2000" dirty="0" err="1"/>
              <a:t>critérios</a:t>
            </a:r>
            <a:r>
              <a:rPr lang="en-US" sz="2000" dirty="0"/>
              <a:t> e </a:t>
            </a:r>
            <a:r>
              <a:rPr lang="en-US" sz="2000" dirty="0" err="1"/>
              <a:t>evidências</a:t>
            </a:r>
            <a:endParaRPr lang="en-US" sz="2000" dirty="0"/>
          </a:p>
          <a:p>
            <a:r>
              <a:rPr lang="en-US" sz="2000" dirty="0"/>
              <a:t>2 min: </a:t>
            </a:r>
            <a:r>
              <a:rPr lang="en-US" sz="2000" dirty="0" err="1"/>
              <a:t>identifique</a:t>
            </a:r>
            <a:r>
              <a:rPr lang="en-US" sz="2000" dirty="0"/>
              <a:t> lacunas com o Copilot</a:t>
            </a:r>
          </a:p>
          <a:p>
            <a:r>
              <a:rPr lang="en-US" sz="2000" dirty="0"/>
              <a:t>3 min: compare, </a:t>
            </a:r>
            <a:r>
              <a:rPr lang="en-US" sz="2000" dirty="0" err="1"/>
              <a:t>decida</a:t>
            </a:r>
            <a:r>
              <a:rPr lang="en-US" sz="2000" dirty="0"/>
              <a:t> e </a:t>
            </a:r>
            <a:r>
              <a:rPr lang="en-US" sz="2000" dirty="0" err="1"/>
              <a:t>versione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FB72EE-B168-4408-A6B5-2E529E1FDB97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Transformando intenção e decisões em uma especificação versionada antes do código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78138" y="2901339"/>
            <a:ext cx="4544220" cy="289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89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B69F-1411-4E5C-BE01-498452991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70D2-99D2-4E35-8DBA-53A84C63F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Repository instructions: contexto durável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43D314-9ACB-4D07-A339-B662DDE63DEA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O papel de .github/copilot-instructions.md antes de criá-lo no walkthrough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3164966"/>
            <a:ext cx="4600000" cy="2370066"/>
          </a:xfrm>
          <a:prstGeom prst="rect">
            <a:avLst/>
          </a:prstGeom>
        </p:spPr>
      </p:pic>
      <p:graphicFrame>
        <p:nvGraphicFramePr>
          <p:cNvPr id="20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822919"/>
              </p:ext>
            </p:extLst>
          </p:nvPr>
        </p:nvGraphicFramePr>
        <p:xfrm>
          <a:off x="301752" y="2829999"/>
          <a:ext cx="6099999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Especificação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Repository instructions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Prompt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chemeClr val="tx1"/>
                          </a:solidFill>
                        </a:rPr>
                        <a:t>O que deve ser atendido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chemeClr val="tx1"/>
                          </a:solidFill>
                        </a:rPr>
                        <a:t>Como trabalhar neste repositório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chemeClr val="tx1"/>
                          </a:solidFill>
                        </a:rPr>
                        <a:t>O que fazer agora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chemeClr val="tx1"/>
                          </a:solidFill>
                        </a:rPr>
                        <a:t>Fonte versionada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chemeClr val="tx1"/>
                          </a:solidFill>
                        </a:rPr>
                        <a:t>Incluídas automaticamente no Chat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chemeClr val="tx1"/>
                          </a:solidFill>
                        </a:rPr>
                        <a:t>Enviado ou invocado manualmente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 gridSpan="3"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chemeClr val="tx1"/>
                          </a:solidFill>
                        </a:rPr>
                        <a:t>.github/copilot-instructions.md: regras curtas, duráveis e válidas para todo o repositório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 sz="1400"/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 sz="1400"/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89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B9A3-E7C3-4EEE-97E3-66CF738E8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CB72-DE4B-4A94-B77C-E46D63F2C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Escolha a superfície e o agente</a:t>
            </a:r>
            <a:endParaRPr lang="LID4096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4D5BE6-0D99-45AD-A0C5-DBFF555DC053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Escolhendo ferramentas e autonomia proporcionais à tarefa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2906026"/>
            <a:ext cx="4600000" cy="2887946"/>
          </a:xfrm>
          <a:prstGeom prst="rect">
            <a:avLst/>
          </a:prstGeom>
        </p:spPr>
      </p:pic>
      <p:graphicFrame>
        <p:nvGraphicFramePr>
          <p:cNvPr id="20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221305"/>
              </p:ext>
            </p:extLst>
          </p:nvPr>
        </p:nvGraphicFramePr>
        <p:xfrm>
          <a:off x="301752" y="2829999"/>
          <a:ext cx="6500000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chemeClr val="tx1"/>
                          </a:solidFill>
                        </a:rPr>
                        <a:t>Inline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chemeClr val="tx1"/>
                          </a:solidFill>
                        </a:rPr>
                        <a:t>Ask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Sugerir ou alterar localmente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Explorar e explicar sem alterar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chemeClr val="tx1"/>
                          </a:solidFill>
                        </a:rPr>
                        <a:t>Plan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chemeClr val="tx1"/>
                          </a:solidFill>
                        </a:rPr>
                        <a:t>Agent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Pesquisar e propor um plano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Editar, executar e iterar</a:t>
                      </a:r>
                    </a:p>
                  </a:txBody>
                  <a:tcPr anchor="ctr">
                    <a:lnL w="6350">
                      <a:solidFill>
                        <a:schemeClr val="tx1">
                          <a:alpha val="30000"/>
                        </a:schemeClr>
                      </a:solidFill>
                    </a:lnL>
                    <a:lnR w="6350">
                      <a:solidFill>
                        <a:schemeClr val="tx1">
                          <a:alpha val="30000"/>
                        </a:schemeClr>
                      </a:solidFill>
                    </a:lnR>
                    <a:lnT w="6350">
                      <a:solidFill>
                        <a:schemeClr val="tx1">
                          <a:alpha val="30000"/>
                        </a:schemeClr>
                      </a:solidFill>
                    </a:lnT>
                    <a:lnB w="6350">
                      <a:solidFill>
                        <a:schemeClr val="tx1">
                          <a:alpha val="3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051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9462-1D82-43DD-9919-CB2663A3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BAD0D-4FCD-4C01-B8F0-499B5B00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Uma fatia vertical, não sete projetos isolados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E24A6-CCDF-401F-9CB8-C3B83F9837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4182140"/>
            <a:ext cx="6500000" cy="2117860"/>
          </a:xfrm>
        </p:spPr>
        <p:txBody>
          <a:bodyPr anchor="ctr">
            <a:normAutofit/>
          </a:bodyPr>
          <a:lstStyle/>
          <a:p>
            <a:pPr lvl="0"/>
            <a:r>
              <a:rPr lang="en-US" sz="2000" dirty="0"/>
              <a:t>Um </a:t>
            </a:r>
            <a:r>
              <a:rPr lang="en-US" sz="2000" dirty="0" err="1"/>
              <a:t>cadastro</a:t>
            </a:r>
            <a:r>
              <a:rPr lang="en-US" sz="2000" dirty="0"/>
              <a:t> </a:t>
            </a:r>
            <a:r>
              <a:rPr lang="en-US" sz="2000" dirty="0" err="1"/>
              <a:t>atravessa</a:t>
            </a:r>
            <a:r>
              <a:rPr lang="en-US" sz="2000" dirty="0"/>
              <a:t> UI, API e banco</a:t>
            </a:r>
          </a:p>
          <a:p>
            <a:pPr lvl="0"/>
            <a:r>
              <a:rPr lang="en-US" sz="2000" dirty="0"/>
              <a:t>Um </a:t>
            </a:r>
            <a:r>
              <a:rPr lang="en-US" sz="2000" dirty="0" err="1"/>
              <a:t>contrato</a:t>
            </a:r>
            <a:r>
              <a:rPr lang="en-US" sz="2000" dirty="0"/>
              <a:t> </a:t>
            </a:r>
            <a:r>
              <a:rPr lang="en-US" sz="2000" dirty="0" err="1"/>
              <a:t>mantém</a:t>
            </a:r>
            <a:r>
              <a:rPr lang="en-US" sz="2000" dirty="0"/>
              <a:t> as </a:t>
            </a:r>
            <a:r>
              <a:rPr lang="en-US" sz="2000" dirty="0" err="1"/>
              <a:t>camadas</a:t>
            </a:r>
            <a:r>
              <a:rPr lang="en-US" sz="2000" dirty="0"/>
              <a:t> </a:t>
            </a:r>
            <a:r>
              <a:rPr lang="en-US" sz="2000" dirty="0" err="1"/>
              <a:t>alinhadas</a:t>
            </a:r>
            <a:endParaRPr lang="en-US" sz="2000" dirty="0"/>
          </a:p>
          <a:p>
            <a:pPr lvl="0"/>
            <a:r>
              <a:rPr lang="en-US" sz="2000" dirty="0" err="1"/>
              <a:t>Evidências</a:t>
            </a:r>
            <a:r>
              <a:rPr lang="en-US" sz="2000" dirty="0"/>
              <a:t> </a:t>
            </a:r>
            <a:r>
              <a:rPr lang="en-US" sz="2000" dirty="0" err="1"/>
              <a:t>validam</a:t>
            </a:r>
            <a:r>
              <a:rPr lang="en-US" sz="2000" dirty="0"/>
              <a:t> o </a:t>
            </a:r>
            <a:r>
              <a:rPr lang="en-US" sz="2000" dirty="0" err="1"/>
              <a:t>fluxo</a:t>
            </a:r>
            <a:r>
              <a:rPr lang="en-US" sz="2000" dirty="0"/>
              <a:t> </a:t>
            </a:r>
            <a:r>
              <a:rPr lang="en-US" sz="2000" dirty="0" err="1"/>
              <a:t>completo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B7C0A1-156A-4DF0-B871-32F1FC6A75C9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Enxergando o incremento que conecta todas as camadas</a:t>
            </a:r>
            <a:endParaRPr lang="LID4096" sz="16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8246EB5-EF7F-F77E-488C-055860DE7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18" y="2675860"/>
            <a:ext cx="11483163" cy="100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03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4D26-71FF-4C5A-BFA7-2C907E623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0810-C08E-420D-BD21-E6DA7810F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Criando a base da solução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0F21-B052-4452-A722-79464C2E5F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549999"/>
            <a:ext cx="6500000" cy="3600000"/>
          </a:xfrm>
        </p:spPr>
        <p:txBody>
          <a:bodyPr anchor="ctr">
            <a:normAutofit/>
          </a:bodyPr>
          <a:lstStyle/>
          <a:p>
            <a:pPr lvl="0"/>
            <a:r>
              <a:rPr lang="en-US" sz="2000" dirty="0"/>
              <a:t>O </a:t>
            </a:r>
            <a:r>
              <a:rPr lang="en-US" sz="2000" dirty="0" err="1"/>
              <a:t>contexto</a:t>
            </a:r>
            <a:r>
              <a:rPr lang="en-US" sz="2000" dirty="0"/>
              <a:t> </a:t>
            </a:r>
            <a:r>
              <a:rPr lang="en-US" sz="2000" dirty="0" err="1"/>
              <a:t>fornecido</a:t>
            </a:r>
            <a:r>
              <a:rPr lang="en-US" sz="2000" dirty="0"/>
              <a:t> antes da </a:t>
            </a:r>
            <a:r>
              <a:rPr lang="en-US" sz="2000" dirty="0" err="1"/>
              <a:t>ação</a:t>
            </a:r>
            <a:endParaRPr lang="en-US" sz="2000" dirty="0"/>
          </a:p>
          <a:p>
            <a:pPr lvl="0"/>
            <a:r>
              <a:rPr lang="en-US" sz="2000" dirty="0"/>
              <a:t>O plano </a:t>
            </a:r>
            <a:r>
              <a:rPr lang="en-US" sz="2000" dirty="0" err="1"/>
              <a:t>proposto</a:t>
            </a:r>
            <a:r>
              <a:rPr lang="en-US" sz="2000" dirty="0"/>
              <a:t> e </a:t>
            </a:r>
            <a:r>
              <a:rPr lang="en-US" sz="2000" dirty="0" err="1"/>
              <a:t>suas</a:t>
            </a:r>
            <a:r>
              <a:rPr lang="en-US" sz="2000" dirty="0"/>
              <a:t> </a:t>
            </a:r>
            <a:r>
              <a:rPr lang="en-US" sz="2000" dirty="0" err="1"/>
              <a:t>suposições</a:t>
            </a:r>
            <a:endParaRPr lang="en-US" sz="2000" dirty="0"/>
          </a:p>
          <a:p>
            <a:pPr lvl="0"/>
            <a:r>
              <a:rPr lang="en-US" sz="2000" dirty="0"/>
              <a:t>A </a:t>
            </a:r>
            <a:r>
              <a:rPr lang="en-US" sz="2000" dirty="0" err="1"/>
              <a:t>revisão</a:t>
            </a:r>
            <a:r>
              <a:rPr lang="en-US" sz="2000" dirty="0"/>
              <a:t> dos </a:t>
            </a:r>
            <a:r>
              <a:rPr lang="en-US" sz="2000" dirty="0" err="1"/>
              <a:t>arquivos</a:t>
            </a:r>
            <a:r>
              <a:rPr lang="en-US" sz="2000" dirty="0"/>
              <a:t> e </a:t>
            </a:r>
            <a:r>
              <a:rPr lang="en-US" sz="2000" dirty="0" err="1"/>
              <a:t>comandos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FF2A0A-FB43-4450-A6C0-29DA82E8062B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Observando contexto, plano, suposições, arquivos e comandos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2988278"/>
            <a:ext cx="4600000" cy="272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870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7182B-434F-48EE-B83D-8715C6897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C818-9F72-404C-81AE-F5E7B83B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O contrato do cadastro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795E6-8B57-4869-BA16-7F4655A3C0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100000"/>
            <a:ext cx="6500000" cy="4200000"/>
          </a:xfrm>
        </p:spPr>
        <p:txBody>
          <a:bodyPr anchor="ctr">
            <a:normAutofit/>
          </a:bodyPr>
          <a:lstStyle/>
          <a:p>
            <a:pPr lvl="0"/>
            <a:r>
              <a:rPr lang="en-US" sz="2000" dirty="0"/>
              <a:t>Entrada: </a:t>
            </a:r>
            <a:r>
              <a:rPr lang="en-US" sz="2000" dirty="0" err="1"/>
              <a:t>título</a:t>
            </a:r>
            <a:r>
              <a:rPr lang="en-US" sz="2000" dirty="0"/>
              <a:t>, </a:t>
            </a:r>
            <a:r>
              <a:rPr lang="en-US" sz="2000" dirty="0" err="1"/>
              <a:t>descrição</a:t>
            </a:r>
            <a:r>
              <a:rPr lang="en-US" sz="2000" dirty="0"/>
              <a:t>, data e carga </a:t>
            </a:r>
            <a:r>
              <a:rPr lang="en-US" sz="2000" dirty="0" err="1"/>
              <a:t>horária</a:t>
            </a:r>
            <a:endParaRPr lang="en-US" sz="2000" dirty="0"/>
          </a:p>
          <a:p>
            <a:pPr lvl="0"/>
            <a:r>
              <a:rPr lang="en-US" sz="2000" dirty="0"/>
              <a:t>Sucesso: 201 Created e </a:t>
            </a:r>
            <a:r>
              <a:rPr lang="en-US" sz="2000" dirty="0" err="1"/>
              <a:t>recurso</a:t>
            </a:r>
            <a:r>
              <a:rPr lang="en-US" sz="2000" dirty="0"/>
              <a:t> </a:t>
            </a:r>
            <a:r>
              <a:rPr lang="en-US" sz="2000" dirty="0" err="1"/>
              <a:t>identificável</a:t>
            </a:r>
            <a:endParaRPr lang="en-US" sz="2000" dirty="0"/>
          </a:p>
          <a:p>
            <a:pPr lvl="0"/>
            <a:r>
              <a:rPr lang="en-US" sz="2000" dirty="0"/>
              <a:t>Falha: 400 Bad Request com </a:t>
            </a:r>
            <a:r>
              <a:rPr lang="en-US" sz="2000" dirty="0" err="1"/>
              <a:t>erro</a:t>
            </a:r>
            <a:r>
              <a:rPr lang="en-US" sz="2000" dirty="0"/>
              <a:t> </a:t>
            </a:r>
            <a:r>
              <a:rPr lang="en-US" sz="2000" dirty="0" err="1"/>
              <a:t>útil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FD3E92-48BB-4DA4-89F0-21359933CE1B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Definindo limites claros antes de pedir o endpoint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3216755"/>
            <a:ext cx="4600000" cy="226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73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223D-FB52-46CE-A015-DBBE14BE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F3C3-1A40-4063-9624-3232088D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Implementando o primeiro endpoint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C6F6F-F7B0-4875-A048-B453D68D8E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100000"/>
            <a:ext cx="6500000" cy="4200000"/>
          </a:xfrm>
        </p:spPr>
        <p:txBody>
          <a:bodyPr anchor="ctr">
            <a:normAutofit/>
          </a:bodyPr>
          <a:lstStyle/>
          <a:p>
            <a:pPr lvl="0"/>
            <a:r>
              <a:rPr lang="en-US" sz="2000"/>
              <a:t>Quais arquivos o agente pretende alterar</a:t>
            </a:r>
          </a:p>
          <a:p>
            <a:pPr lvl="0"/>
            <a:r>
              <a:rPr lang="en-US" sz="2000"/>
              <a:t>Como validação e erros atendem ao contrato</a:t>
            </a:r>
          </a:p>
          <a:p>
            <a:pPr lvl="0"/>
            <a:r>
              <a:rPr lang="en-US" sz="2000"/>
              <a:t>Como a Swagger UI torna o contrato executável</a:t>
            </a:r>
          </a:p>
          <a:p>
            <a:pPr lvl="0"/>
            <a:r>
              <a:rPr lang="en-US" sz="2000"/>
              <a:t>Quais evidências confirmam o comportamento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141B34-0C0B-4680-85FA-D421F803E061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Gerando, inspecionando e validando uma mudança delimitada pelo navegador</a:t>
            </a:r>
            <a:endParaRPr lang="LID4096" sz="1600"/>
          </a:p>
        </p:txBody>
      </p:sp>
      <p:pic>
        <p:nvPicPr>
          <p:cNvPr id="30" name="Ilustraca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38693" y="2750000"/>
            <a:ext cx="4423108" cy="2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09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E0F6-A957-4AB3-867B-E89D20B90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F2F0F-3086-49A0-A889-E6CCD7BE0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“Não foi isso que eu pedi”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9BE13-5232-4DF8-8DDD-ADB2432943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Comportamento inesperado nem sempre é defeito</a:t>
            </a:r>
          </a:p>
          <a:p>
            <a:r>
              <a:rPr lang="en-US" sz="2000"/>
              <a:t>Torne a nova regra explícita antes de editar</a:t>
            </a:r>
          </a:p>
          <a:p>
            <a:r>
              <a:rPr lang="en-US" sz="2000"/>
              <a:t>Atualize especificação → teste → implementação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E37D0-7FDD-400E-84B2-CB445BBEFA39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Nem todo comportamento inesperado é defeito: explicite o requisito antes de alterar o código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3390336"/>
            <a:ext cx="4350000" cy="101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79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5ADA2C-3345-4211-B46B-38B5F0E29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A528-6E6D-4249-AE01-0FC5B0B1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Intervalo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E8861-23A3-41C0-81E5-E68E50818F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Intervalo — 5 minutos</a:t>
            </a:r>
          </a:p>
          <a:p>
            <a:r>
              <a:rPr lang="en-US" sz="2000"/>
              <a:t>Salve seu progresso</a:t>
            </a:r>
          </a:p>
          <a:p>
            <a:r>
              <a:rPr lang="en-US" sz="2000"/>
              <a:t>Consulte o checkpoint se necessário</a:t>
            </a:r>
          </a:p>
          <a:p>
            <a:r>
              <a:rPr lang="en-US" sz="2000"/>
              <a:t>Voltamos para transformar o fluxo em tarefa reutilizável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6B345F-A0BE-45F7-95CC-7708EF5972DB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Cinco minutinhos para esticar as pernas e recuperar o ambiente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3232500"/>
            <a:ext cx="4350000" cy="13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14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BE1D-A1B4-4814-BCC9-6056089E1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EECE-05D7-4647-A5DE-9552A757A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Do acerto pontual ao prompt reutilizável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0049B-4754-4BA1-BC80-62A4EE00B3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Repita a tarefa; varie operação e contrato</a:t>
            </a:r>
          </a:p>
          <a:p>
            <a:r>
              <a:rPr lang="en-US" sz="2000"/>
              <a:t>Salve em .github/prompts/*.prompt.md</a:t>
            </a:r>
          </a:p>
          <a:p>
            <a:r>
              <a:rPr lang="en-US" sz="2000"/>
              <a:t>Invoque manualmente com /nome-do-prompt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002763-4D0C-4D0B-8129-C22FCFADC89D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Reconhecendo quando um fluxo validado merece virar um prompt file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3295424"/>
            <a:ext cx="4350000" cy="120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18D6-0489-4B11-A64E-B86B20B38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8CDA3-916D-4DC9-AAEC-2ADC3A4D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Criando e reutilizando um prompt file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CF9E-F624-4DAE-BA9E-62E3DF78CE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O que permanece fixo e o que vira entrada</a:t>
            </a:r>
          </a:p>
          <a:p>
            <a:r>
              <a:rPr lang="en-US" sz="2000"/>
              <a:t>Como o prompt file é revisado antes do uso</a:t>
            </a:r>
          </a:p>
          <a:p>
            <a:r>
              <a:rPr lang="en-US" sz="2000"/>
              <a:t>Como cada endpoint continua exigindo validação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48490F-60F2-4FC8-9D11-C2C992B68F39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Transformando o primeiro endpoint em uma tarefa parametrizada e reutilizável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2544371"/>
            <a:ext cx="4600000" cy="271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454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C8417-A17E-479C-859D-0989E7CFC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37BC-C2DB-4D8B-966B-DE9C63E06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Pare antes de avançar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76987-C9F7-464F-9003-357710D7E9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Compila?</a:t>
            </a:r>
          </a:p>
          <a:p>
            <a:r>
              <a:rPr lang="en-US" sz="2000"/>
              <a:t>Atende ao contrato?</a:t>
            </a:r>
          </a:p>
          <a:p>
            <a:r>
              <a:rPr lang="en-US" sz="2000"/>
              <a:t>Há evidência suficiente?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FA0467-B259-49D4-A8BD-ED9A7D0F236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Validando antes que “parece funcionar” vire “está pronto”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00183" y="2450028"/>
            <a:ext cx="4100130" cy="289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61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A2063-ECEC-4A1D-A846-3A0376417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F22C-A2F4-4F07-B757-26FA43BE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Checkpoint é recuperação, não resultado esperado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6355F-B2CB-4DE9-BDE2-6777BFA6B3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Continue com o código ao vivo se ele estiver funcional</a:t>
            </a:r>
          </a:p>
          <a:p>
            <a:r>
              <a:rPr lang="en-US" sz="2000"/>
              <a:t>Use o checkpoint quando a continuidade estiver em risco</a:t>
            </a:r>
          </a:p>
          <a:p>
            <a:r>
              <a:rPr lang="en-US" sz="2000"/>
              <a:t>Compare contratos antes de trocar de base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C9516D-CD30-41A7-B0C7-F944E134A0F6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Definindo o uso correto dos estados preparados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2863979"/>
            <a:ext cx="4350000" cy="207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94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5DE2-2CAF-4AE9-AF50-739C085E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E08F-D3FC-4FE4-B173-8CA05FA6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Diferente não significa incorreto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2A6DE-F7CB-4B91-9E7F-2F28D6AB31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Estruturas diferentes podem atender ao mesmo contrato</a:t>
            </a:r>
          </a:p>
          <a:p>
            <a:r>
              <a:rPr lang="en-US" sz="2000"/>
              <a:t>Linguagens mudam a expressão, não a responsabilidade</a:t>
            </a:r>
          </a:p>
          <a:p>
            <a:r>
              <a:rPr lang="en-US" sz="2000"/>
              <a:t>Critérios e evidências sustentam a comparação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6D87FC-2076-48B3-AAA0-BAE10AA44A0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Resultados diferentes podem atender aos mesmos critérios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3254670"/>
            <a:ext cx="4350000" cy="12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92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BCD18-3966-48FB-B310-DE733281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6A8C-1FAA-4C29-BB3B-80783F92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Persistir não é apenas “salvar”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56454-C878-4860-BCA7-A73222C16E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Modelo e banco precisam representar o mesmo domínio</a:t>
            </a:r>
          </a:p>
          <a:p>
            <a:r>
              <a:rPr lang="en-US" sz="2000"/>
              <a:t>Migrations tornam mudanças de esquema explícitas</a:t>
            </a:r>
          </a:p>
          <a:p>
            <a:r>
              <a:rPr lang="en-US" sz="2000"/>
              <a:t>Uma nova fase pede contexto intencional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7EBFE6-9ADF-42B5-BAE0-FC5D1C57D2EA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Antecipando decisões que precisam ser revisadas na geração da camada de dados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3407050"/>
            <a:ext cx="4350000" cy="98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87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C8F67-20E9-4894-9D36-064754088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FA55-F740-44D8-99BE-23474011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Conectando API e banco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E348-A5C6-43AC-8CF3-C4D8427569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Entidade, contexto e configuração</a:t>
            </a:r>
          </a:p>
          <a:p>
            <a:r>
              <a:rPr lang="en-US" sz="2000"/>
              <a:t>Migration antes de sua aplicação</a:t>
            </a:r>
          </a:p>
          <a:p>
            <a:r>
              <a:rPr lang="en-US" sz="2000"/>
              <a:t>Todos os endpoints usando a mesma persistência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EA114E-3DEB-40C9-A34B-1E191FB1E95C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Executando uma alteração transversal com validação incremental</a:t>
            </a:r>
            <a:endParaRPr lang="LID4096" sz="1600"/>
          </a:p>
        </p:txBody>
      </p:sp>
      <p:pic>
        <p:nvPicPr>
          <p:cNvPr id="30" name="Ilustraca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3341375"/>
            <a:ext cx="4350000" cy="111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62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C71C-8E92-4548-B07E-F309FED5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C187-D8CD-49C4-A440-53BE8947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Evidências da persistência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A2AAE-C296-4DBC-99C1-A9DD04B206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Migration revisada e aplicada</a:t>
            </a:r>
          </a:p>
          <a:p>
            <a:r>
              <a:rPr lang="en-US" sz="2000"/>
              <a:t>CRUD consultável após reiniciar a API</a:t>
            </a:r>
          </a:p>
          <a:p>
            <a:r>
              <a:rPr lang="en-US" sz="2000"/>
              <a:t>Contratos HTTP preservados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C17F19-EE37-419C-A75C-3593958D5920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Implementação aparente não é comportamento comprovado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2498675"/>
            <a:ext cx="4600000" cy="280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05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D2803B-6741-487F-B6D2-B30D795E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DD7B-B0FA-409E-8815-CF7046FA3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Intervalo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56956-A08C-4CB0-A8FB-C2759A58CB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Intervalo — 10 minutos</a:t>
            </a:r>
          </a:p>
          <a:p>
            <a:r>
              <a:rPr lang="en-US" sz="2000"/>
              <a:t>Salve o progresso da API</a:t>
            </a:r>
          </a:p>
          <a:p>
            <a:r>
              <a:rPr lang="en-US" sz="2000"/>
              <a:t>Use o checkpoint somente se necessário</a:t>
            </a:r>
          </a:p>
          <a:p>
            <a:r>
              <a:rPr lang="en-US" sz="2000"/>
              <a:t>Retornaremos com interface, testes e CI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A1F59E-510C-483F-9C14-4FB513E437FD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Dez minutos para respirar antes de chegar à interface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3269462"/>
            <a:ext cx="4350000" cy="126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16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2AFF5-2C7F-4884-8B48-E88EA1BC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B9D70-3675-40DB-BB26-8FC86E37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A interface também tem contratos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9CEE-237B-4918-822C-05253516FE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 err="1"/>
              <a:t>Carregando</a:t>
            </a:r>
            <a:r>
              <a:rPr lang="en-US" sz="2000" dirty="0"/>
              <a:t>: o </a:t>
            </a:r>
            <a:r>
              <a:rPr lang="en-US" sz="2000" dirty="0" err="1"/>
              <a:t>usuário</a:t>
            </a:r>
            <a:r>
              <a:rPr lang="en-US" sz="2000" dirty="0"/>
              <a:t> sabe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há</a:t>
            </a:r>
            <a:r>
              <a:rPr lang="en-US" sz="2000" dirty="0"/>
              <a:t> </a:t>
            </a:r>
            <a:r>
              <a:rPr lang="en-US" sz="2000" dirty="0" err="1"/>
              <a:t>trabalho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andamento</a:t>
            </a:r>
            <a:endParaRPr lang="en-US" sz="2000" dirty="0"/>
          </a:p>
          <a:p>
            <a:r>
              <a:rPr lang="en-US" sz="2000" dirty="0"/>
              <a:t>Sucesso: </a:t>
            </a:r>
            <a:r>
              <a:rPr lang="en-US" sz="2000" dirty="0" err="1"/>
              <a:t>confirmação</a:t>
            </a:r>
            <a:r>
              <a:rPr lang="en-US" sz="2000" dirty="0"/>
              <a:t> e </a:t>
            </a:r>
            <a:r>
              <a:rPr lang="en-US" sz="2000" dirty="0" err="1"/>
              <a:t>lista</a:t>
            </a:r>
            <a:r>
              <a:rPr lang="en-US" sz="2000" dirty="0"/>
              <a:t> </a:t>
            </a:r>
            <a:r>
              <a:rPr lang="en-US" sz="2000" dirty="0" err="1"/>
              <a:t>atualizada</a:t>
            </a:r>
            <a:endParaRPr lang="en-US" sz="2000" dirty="0"/>
          </a:p>
          <a:p>
            <a:r>
              <a:rPr lang="en-US" sz="2000" dirty="0"/>
              <a:t>Erro: </a:t>
            </a:r>
            <a:r>
              <a:rPr lang="en-US" sz="2000" dirty="0" err="1"/>
              <a:t>mensagem</a:t>
            </a:r>
            <a:r>
              <a:rPr lang="en-US" sz="2000" dirty="0"/>
              <a:t> </a:t>
            </a:r>
            <a:r>
              <a:rPr lang="en-US" sz="2000" dirty="0" err="1"/>
              <a:t>útil</a:t>
            </a:r>
            <a:r>
              <a:rPr lang="en-US" sz="2000" dirty="0"/>
              <a:t> </a:t>
            </a:r>
            <a:r>
              <a:rPr lang="en-US" sz="2000" dirty="0" err="1"/>
              <a:t>sem</a:t>
            </a:r>
            <a:r>
              <a:rPr lang="en-US" sz="2000" dirty="0"/>
              <a:t> </a:t>
            </a:r>
            <a:r>
              <a:rPr lang="en-US" sz="2000" dirty="0" err="1"/>
              <a:t>perder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dados </a:t>
            </a:r>
            <a:r>
              <a:rPr lang="en-US" sz="2000" dirty="0" err="1"/>
              <a:t>informados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E82685-7F24-4347-9C07-377826A1EF45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Definindo estados observáveis antes de gerar o componente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2781986"/>
            <a:ext cx="4600000" cy="223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00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BA22-F3CF-4601-92FF-31316456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D7AF9-EB4F-447E-BDB2-43EB0080D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Fechando a fatia vertical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ECBCC-302E-47B2-9CC7-E4EBB2A4DC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O contrato compartilhado com a API</a:t>
            </a:r>
          </a:p>
          <a:p>
            <a:r>
              <a:rPr lang="en-US" sz="2000"/>
              <a:t>Os estados de carregamento, sucesso e erro</a:t>
            </a:r>
          </a:p>
          <a:p>
            <a:r>
              <a:rPr lang="en-US" sz="2000"/>
              <a:t>A validação do fluxo pelo navegador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5B2EDC-6A1F-4224-86DE-75D0CC226AA1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Conectando a interface ao comportamento já validado</a:t>
            </a:r>
            <a:endParaRPr lang="LID4096" sz="1600"/>
          </a:p>
        </p:txBody>
      </p:sp>
      <p:pic>
        <p:nvPicPr>
          <p:cNvPr id="30" name="Ilustraca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50248" y="2912980"/>
            <a:ext cx="4600000" cy="197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00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19AFA-9C78-4912-A1F1-C3C0C77D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2CCE-3BB6-4B5A-A459-2AE31A1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A fatia está realmente completa?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BA946-80BC-4A1F-A61A-53F9822578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4078419"/>
            <a:ext cx="9830017" cy="2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Dados </a:t>
            </a:r>
            <a:r>
              <a:rPr lang="en-US" sz="2000" dirty="0" err="1"/>
              <a:t>inválidos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rejeitados</a:t>
            </a:r>
            <a:endParaRPr lang="en-US" sz="2000" dirty="0"/>
          </a:p>
          <a:p>
            <a:r>
              <a:rPr lang="en-US" sz="2000" dirty="0"/>
              <a:t>Dados </a:t>
            </a:r>
            <a:r>
              <a:rPr lang="en-US" sz="2000" dirty="0" err="1"/>
              <a:t>válidos</a:t>
            </a:r>
            <a:r>
              <a:rPr lang="en-US" sz="2000" dirty="0"/>
              <a:t> </a:t>
            </a:r>
            <a:r>
              <a:rPr lang="en-US" sz="2000" dirty="0" err="1"/>
              <a:t>chegam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banco</a:t>
            </a:r>
          </a:p>
          <a:p>
            <a:r>
              <a:rPr lang="en-US" sz="2000" dirty="0"/>
              <a:t>A interface </a:t>
            </a:r>
            <a:r>
              <a:rPr lang="en-US" sz="2000" dirty="0" err="1"/>
              <a:t>comunica</a:t>
            </a:r>
            <a:r>
              <a:rPr lang="en-US" sz="2000" dirty="0"/>
              <a:t> o </a:t>
            </a:r>
            <a:r>
              <a:rPr lang="en-US" sz="2000" dirty="0" err="1"/>
              <a:t>resultado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008631-FBD2-4A11-AE8B-40CEA34D1FCD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Validando de ponta a ponta antes de acrescentar novos recursos</a:t>
            </a:r>
            <a:endParaRPr lang="LID4096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F9537-BAC2-9FD2-BED7-529409170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0391" y="1938413"/>
            <a:ext cx="13171093" cy="244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21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BB4C5-0D1E-4098-9ADA-736304C14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3D5A-C475-4AAE-AF90-ACC0B3EF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Qualidade faz parte da entrega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585A-4153-4311-A1FA-9A9AE1289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4332360"/>
            <a:ext cx="9830017" cy="188556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Teste protege o </a:t>
            </a:r>
            <a:r>
              <a:rPr lang="en-US" sz="2000" dirty="0" err="1"/>
              <a:t>critério</a:t>
            </a:r>
            <a:r>
              <a:rPr lang="en-US" sz="2000" dirty="0"/>
              <a:t> principal</a:t>
            </a:r>
          </a:p>
          <a:p>
            <a:r>
              <a:rPr lang="en-US" sz="2000" dirty="0" err="1"/>
              <a:t>OpenAPI</a:t>
            </a:r>
            <a:r>
              <a:rPr lang="en-US" sz="2000" dirty="0"/>
              <a:t> e README </a:t>
            </a:r>
            <a:r>
              <a:rPr lang="en-US" sz="2000" dirty="0" err="1"/>
              <a:t>tornam</a:t>
            </a:r>
            <a:r>
              <a:rPr lang="en-US" sz="2000" dirty="0"/>
              <a:t> a </a:t>
            </a:r>
            <a:r>
              <a:rPr lang="en-US" sz="2000" dirty="0" err="1"/>
              <a:t>entrega</a:t>
            </a:r>
            <a:r>
              <a:rPr lang="en-US" sz="2000" dirty="0"/>
              <a:t> </a:t>
            </a:r>
            <a:r>
              <a:rPr lang="en-US" sz="2000" dirty="0" err="1"/>
              <a:t>compreensível</a:t>
            </a:r>
            <a:endParaRPr lang="en-US" sz="2000" dirty="0"/>
          </a:p>
          <a:p>
            <a:r>
              <a:rPr lang="en-US" sz="2000" dirty="0"/>
              <a:t>CI </a:t>
            </a:r>
            <a:r>
              <a:rPr lang="en-US" sz="2000" dirty="0" err="1"/>
              <a:t>repete</a:t>
            </a:r>
            <a:r>
              <a:rPr lang="en-US" sz="2000" dirty="0"/>
              <a:t> build e testes fora da </a:t>
            </a:r>
            <a:r>
              <a:rPr lang="en-US" sz="2000" dirty="0" err="1"/>
              <a:t>estação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D359FB-3083-49DD-9CA1-C60BA4BDD75D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Testes, documentação e CI comprovando o mesmo comportamento</a:t>
            </a:r>
            <a:endParaRPr lang="LID4096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90CC73-DA9B-501F-F5BA-2F457BC11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6874"/>
            <a:ext cx="12192000" cy="388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89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459240-8747-4AA5-AC89-4D7058B2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50BE-698B-49FA-8E33-9939A12F6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Intervalo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2CAFB-0045-4655-914F-112CA3E917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Intervalo — 5 minutos</a:t>
            </a:r>
          </a:p>
          <a:p>
            <a:r>
              <a:rPr lang="en-US" sz="2000"/>
              <a:t>Salve o estado funcional da aplicação</a:t>
            </a:r>
          </a:p>
          <a:p>
            <a:r>
              <a:rPr lang="en-US" sz="2000"/>
              <a:t>Anote uma decisão que exigiu validação humana</a:t>
            </a:r>
          </a:p>
          <a:p>
            <a:r>
              <a:rPr lang="en-US" sz="2000"/>
              <a:t>CI e revisão especializada começam no retorno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0E657-9241-4ED0-86D4-51385F346DED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Cinco minutinhos antes de automatizar e revisar a entrega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2906250"/>
            <a:ext cx="4350000" cy="19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873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DDA09-1E6C-49A1-B7F5-810118CA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A509-2423-486C-A12A-CAC0736E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Automatizando build e testes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AC0F2-BDE0-484D-B668-0AEDD71A13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CI reproduz validações; não inventa qualidade</a:t>
            </a:r>
          </a:p>
          <a:p>
            <a:r>
              <a:rPr lang="en-US" sz="2000"/>
              <a:t>Menor permissão e comandos explícitos</a:t>
            </a:r>
          </a:p>
          <a:p>
            <a:r>
              <a:rPr lang="en-US" sz="2000"/>
              <a:t>Falhas precisam ser visíveis e reproduzíveis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215397-4998-495F-AB6B-5386DC05988A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Levando as mesmas validações do Codespace para o GitHub Actions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3581542"/>
            <a:ext cx="4350000" cy="63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9018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87D2-95E8-46A5-91A6-2BC8CBFD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4CCE-B342-49D3-A459-4F9FB0B4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Teste, OpenAPI e CI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E3CE4-4975-4CAF-937D-9284AE5C44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9830017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Um teste derivado do critério</a:t>
            </a:r>
          </a:p>
          <a:p>
            <a:r>
              <a:rPr lang="en-US" sz="2400"/>
              <a:t>O contrato OpenAPI gerado pela API em execução</a:t>
            </a:r>
          </a:p>
          <a:p>
            <a:r>
              <a:rPr lang="en-US" sz="2400"/>
              <a:t>O workflow recém-criado executando build e testes</a:t>
            </a:r>
            <a:endParaRPr lang="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8E63F4-2B78-4AC1-8C3F-5F38CDCD2C87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Encerrando o walkthrough com evidências reproduzíveis</a:t>
            </a:r>
            <a:endParaRPr lang="LID4096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0EB7684-4635-C6EB-9D50-6073AA603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130" y="2080795"/>
            <a:ext cx="2437245" cy="363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34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0D603-528D-459C-B779-26E4ECBF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799E-94C5-4900-842A-C96E1AEE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O método por trás do resultado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C7B03-C5E4-4723-ACE1-70C6D780CA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Intenção e critérios</a:t>
            </a:r>
          </a:p>
          <a:p>
            <a:r>
              <a:rPr lang="en-US" sz="2000"/>
              <a:t>Entrega em pequenos incrementos</a:t>
            </a:r>
          </a:p>
          <a:p>
            <a:r>
              <a:rPr lang="en-US" sz="2000"/>
              <a:t>Revisão e evidências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A8370D-B23A-4F4C-9870-749B82233E1E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Consolidando o fio condutor antes das questões de fixação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6647" y="2450000"/>
            <a:ext cx="3967201" cy="2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87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5B9F3-E281-463F-BE6E-0460BE80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325A-9D10-49D4-9E8F-A93F78AE0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 dirty="0"/>
              <a:t>Questionário de fixação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FA1F-05B4-4310-8965-B3C91D6981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 err="1"/>
              <a:t>Responda</a:t>
            </a:r>
            <a:r>
              <a:rPr lang="en-US" sz="2000" dirty="0"/>
              <a:t> no Microsoft Forms</a:t>
            </a:r>
            <a:br>
              <a:rPr lang="en-US" sz="2000" dirty="0"/>
            </a:br>
            <a:r>
              <a:rPr lang="en-US" sz="2000" dirty="0"/>
              <a:t>(O </a:t>
            </a:r>
            <a:r>
              <a:rPr lang="en-US" sz="2000" dirty="0" err="1"/>
              <a:t>instrutor</a:t>
            </a:r>
            <a:r>
              <a:rPr lang="en-US" sz="2000" dirty="0"/>
              <a:t> </a:t>
            </a:r>
            <a:r>
              <a:rPr lang="en-US" sz="2000" dirty="0" err="1"/>
              <a:t>vai</a:t>
            </a:r>
            <a:r>
              <a:rPr lang="en-US" sz="2000" dirty="0"/>
              <a:t> </a:t>
            </a:r>
            <a:r>
              <a:rPr lang="en-US" sz="2000" dirty="0" err="1"/>
              <a:t>compartilhar</a:t>
            </a:r>
            <a:r>
              <a:rPr lang="en-US" sz="2000" dirty="0"/>
              <a:t> o link)</a:t>
            </a:r>
          </a:p>
          <a:p>
            <a:r>
              <a:rPr lang="en-US" sz="2000" dirty="0"/>
              <a:t>Cinco </a:t>
            </a:r>
            <a:r>
              <a:rPr lang="en-US" sz="2000" dirty="0" err="1"/>
              <a:t>questões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</a:t>
            </a:r>
            <a:r>
              <a:rPr lang="en-US" sz="2000" dirty="0" err="1"/>
              <a:t>decisões</a:t>
            </a:r>
            <a:r>
              <a:rPr lang="en-US" sz="2000" dirty="0"/>
              <a:t> da aula</a:t>
            </a:r>
          </a:p>
          <a:p>
            <a:r>
              <a:rPr lang="en-US" sz="2000" dirty="0"/>
              <a:t>Cinco </a:t>
            </a:r>
            <a:r>
              <a:rPr lang="en-US" sz="2000" dirty="0" err="1"/>
              <a:t>questões</a:t>
            </a:r>
            <a:r>
              <a:rPr lang="en-US" sz="2000" dirty="0"/>
              <a:t> </a:t>
            </a:r>
            <a:r>
              <a:rPr lang="en-US" sz="2000" dirty="0" err="1"/>
              <a:t>técnicas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antecipam</a:t>
            </a:r>
            <a:r>
              <a:rPr lang="en-US" sz="2000" dirty="0"/>
              <a:t> </a:t>
            </a:r>
            <a:r>
              <a:rPr lang="en-US" sz="2000" dirty="0" err="1"/>
              <a:t>customizações</a:t>
            </a:r>
            <a:endParaRPr lang="en-US" sz="2000" dirty="0"/>
          </a:p>
          <a:p>
            <a:r>
              <a:rPr lang="en-US" sz="2000" dirty="0" err="1"/>
              <a:t>Responda</a:t>
            </a:r>
            <a:r>
              <a:rPr lang="en-US" sz="2000" dirty="0"/>
              <a:t> </a:t>
            </a:r>
            <a:r>
              <a:rPr lang="en-US" sz="2000" dirty="0" err="1"/>
              <a:t>individualmente</a:t>
            </a:r>
            <a:r>
              <a:rPr lang="en-US" sz="2000" dirty="0"/>
              <a:t>; as </a:t>
            </a:r>
            <a:r>
              <a:rPr lang="en-US" sz="2000" dirty="0" err="1"/>
              <a:t>avançadas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diagnósticas</a:t>
            </a:r>
            <a:endParaRPr lang="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5ED734-1E16-43B1-9F12-1F2D0D01112F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Dez </a:t>
            </a:r>
            <a:r>
              <a:rPr lang="en-US" sz="1600" dirty="0" err="1"/>
              <a:t>questões</a:t>
            </a:r>
            <a:r>
              <a:rPr lang="en-US" sz="1600" dirty="0"/>
              <a:t>: </a:t>
            </a:r>
            <a:r>
              <a:rPr lang="en-US" sz="1600" dirty="0" err="1"/>
              <a:t>consolidando</a:t>
            </a:r>
            <a:r>
              <a:rPr lang="en-US" sz="1600" dirty="0"/>
              <a:t> a aula e </a:t>
            </a:r>
            <a:r>
              <a:rPr lang="en-US" sz="1600" dirty="0" err="1"/>
              <a:t>antecipando</a:t>
            </a:r>
            <a:r>
              <a:rPr lang="en-US" sz="1600" dirty="0"/>
              <a:t> as </a:t>
            </a:r>
            <a:r>
              <a:rPr lang="en-US" sz="1600" dirty="0" err="1"/>
              <a:t>próximas</a:t>
            </a:r>
            <a:endParaRPr lang="LID4096" sz="16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4A80133-4400-F3B0-B573-8BB00D4400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1441224">
            <a:off x="7885352" y="2542549"/>
            <a:ext cx="2905371" cy="287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68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04A1-D1BF-4084-86A1-8D90CEE18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40FA-53B3-4124-915E-CD966E8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Correção comentada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07FF9-FCBB-425A-AF6F-750C9B7FC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25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Compare a resposta majoritária com o gabarito</a:t>
            </a:r>
          </a:p>
          <a:p>
            <a:r>
              <a:rPr lang="en-US" sz="2000"/>
              <a:t>Explique por que cada alternativa parece plausível</a:t>
            </a:r>
          </a:p>
          <a:p>
            <a:r>
              <a:rPr lang="en-US" sz="2000"/>
              <a:t>Relacione a decisão ao walkthrough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867FD9-9AB3-492D-8FFF-8B3E07E7A7C0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Usando as respostas como diagnóstico, não como placar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5248" y="2902411"/>
            <a:ext cx="4350000" cy="199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32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09CD8-963E-4A84-8641-B20D941E6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C0BF3-34E7-4ECF-B2FA-5E39773A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640079"/>
            <a:ext cx="9830017" cy="731520"/>
          </a:xfrm>
        </p:spPr>
        <p:txBody>
          <a:bodyPr/>
          <a:lstStyle/>
          <a:p>
            <a:r>
              <a:rPr lang="pt-BR" b="1"/>
              <a:t>Você continua no controle</a:t>
            </a:r>
            <a:endParaRPr lang="LID4096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BBA9-8BA0-4B39-9B38-D93594623B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900000"/>
            <a:ext cx="6500000" cy="400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Intenção antes da geração</a:t>
            </a:r>
          </a:p>
          <a:p>
            <a:r>
              <a:rPr lang="en-US" sz="2000"/>
              <a:t>Incrementos pequenos e verificáveis</a:t>
            </a:r>
          </a:p>
          <a:p>
            <a:r>
              <a:rPr lang="en-US" sz="2000"/>
              <a:t>Evidências antes da aceitação</a:t>
            </a:r>
            <a:endParaRPr lang="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9FF79-02C1-4A83-B258-EDA38A5B028F}"/>
              </a:ext>
            </a:extLst>
          </p:cNvPr>
          <p:cNvSpPr txBox="1">
            <a:spLocks/>
          </p:cNvSpPr>
          <p:nvPr/>
        </p:nvSpPr>
        <p:spPr>
          <a:xfrm>
            <a:off x="301752" y="1371599"/>
            <a:ext cx="9830017" cy="3611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No Módulo 2, melhoraremos o contexto; a decisão continua sua</a:t>
            </a:r>
            <a:endParaRPr lang="LID4096" sz="1600"/>
          </a:p>
        </p:txBody>
      </p:sp>
      <p:pic>
        <p:nvPicPr>
          <p:cNvPr id="7" name="Ilustracao catalog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5033" y="2450000"/>
            <a:ext cx="2750429" cy="2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65709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Mona Sans"/>
        <a:ea typeface=""/>
        <a:cs typeface=""/>
      </a:majorFont>
      <a:minorFont>
        <a:latin typeface="Mon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ona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a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0</TotalTime>
  <Words>6147</Words>
  <Application>Microsoft Office PowerPoint</Application>
  <PresentationFormat>Widescreen</PresentationFormat>
  <Paragraphs>396</Paragraphs>
  <Slides>34</Slides>
  <Notes>34</Notes>
  <HiddenSlides>3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Aptos</vt:lpstr>
      <vt:lpstr>Arial</vt:lpstr>
      <vt:lpstr>Mona Sans</vt:lpstr>
      <vt:lpstr>Dark Gradient</vt:lpstr>
      <vt:lpstr>Módulo 1 — Do requisito à aplicação: desenvolvimento assistido pelo Copilot</vt:lpstr>
      <vt:lpstr>Agenda</vt:lpstr>
      <vt:lpstr>Como esta aula funciona</vt:lpstr>
      <vt:lpstr>O cenário: catálogo de treinamentos</vt:lpstr>
      <vt:lpstr>Intenção e exemplos no prompt</vt:lpstr>
      <vt:lpstr>Dinâmica: especifique a fatia vertical</vt:lpstr>
      <vt:lpstr>Repository instructions: contexto durável</vt:lpstr>
      <vt:lpstr>Escolha a superfície e o agente</vt:lpstr>
      <vt:lpstr>Uma fatia vertical, não sete projetos isolados</vt:lpstr>
      <vt:lpstr>Criando a base da solução</vt:lpstr>
      <vt:lpstr>O contrato do cadastro</vt:lpstr>
      <vt:lpstr>Implementando o primeiro endpoint</vt:lpstr>
      <vt:lpstr>“Não foi isso que eu pedi”</vt:lpstr>
      <vt:lpstr>Intervalo</vt:lpstr>
      <vt:lpstr>Do acerto pontual ao prompt reutilizável</vt:lpstr>
      <vt:lpstr>Criando e reutilizando um prompt file</vt:lpstr>
      <vt:lpstr>Pare antes de avançar</vt:lpstr>
      <vt:lpstr>Checkpoint é recuperação, não resultado esperado</vt:lpstr>
      <vt:lpstr>Diferente não significa incorreto</vt:lpstr>
      <vt:lpstr>Persistir não é apenas “salvar”</vt:lpstr>
      <vt:lpstr>Conectando API e banco</vt:lpstr>
      <vt:lpstr>Evidências da persistência</vt:lpstr>
      <vt:lpstr>Intervalo</vt:lpstr>
      <vt:lpstr>A interface também tem contratos</vt:lpstr>
      <vt:lpstr>Fechando a fatia vertical</vt:lpstr>
      <vt:lpstr>A fatia está realmente completa?</vt:lpstr>
      <vt:lpstr>Qualidade faz parte da entrega</vt:lpstr>
      <vt:lpstr>Intervalo</vt:lpstr>
      <vt:lpstr>Automatizando build e testes</vt:lpstr>
      <vt:lpstr>Teste, OpenAPI e CI</vt:lpstr>
      <vt:lpstr>O método por trás do resultado</vt:lpstr>
      <vt:lpstr>Questionário de fixação</vt:lpstr>
      <vt:lpstr>Correção comentada</vt:lpstr>
      <vt:lpstr>Você continua no controle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Robson Rocha de Araújo</dc:creator>
  <cp:lastModifiedBy>Robson Rocha de Araújo</cp:lastModifiedBy>
  <cp:revision>1</cp:revision>
  <cp:lastPrinted>2026-08-19T14:31:04Z</cp:lastPrinted>
  <dcterms:created xsi:type="dcterms:W3CDTF">2026-08-16T23:08:48Z</dcterms:created>
  <dcterms:modified xsi:type="dcterms:W3CDTF">2026-08-31T16:42:50Z</dcterms:modified>
</cp:coreProperties>
</file>